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3" userDrawn="1">
          <p15:clr>
            <a:srgbClr val="A4A3A4"/>
          </p15:clr>
        </p15:guide>
        <p15:guide id="2" pos="21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63"/>
        <p:guide pos="21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chemeClr val="bg1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chemeClr val="bg1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1039" y="1365250"/>
            <a:ext cx="3459221" cy="47244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A2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052762" y="1147762"/>
            <a:ext cx="6086475" cy="4562475"/>
          </a:xfrm>
          <a:custGeom>
            <a:avLst/>
            <a:gdLst/>
            <a:ahLst/>
            <a:cxnLst/>
            <a:rect l="l" t="t" r="r" b="b"/>
            <a:pathLst>
              <a:path w="6086475" h="4562475">
                <a:moveTo>
                  <a:pt x="6019726" y="4562474"/>
                </a:moveTo>
                <a:lnTo>
                  <a:pt x="66746" y="4562474"/>
                </a:lnTo>
                <a:lnTo>
                  <a:pt x="62101" y="4562016"/>
                </a:lnTo>
                <a:lnTo>
                  <a:pt x="24240" y="4544867"/>
                </a:lnTo>
                <a:lnTo>
                  <a:pt x="2287" y="4509574"/>
                </a:lnTo>
                <a:lnTo>
                  <a:pt x="0" y="4495728"/>
                </a:lnTo>
                <a:lnTo>
                  <a:pt x="0" y="4491037"/>
                </a:lnTo>
                <a:lnTo>
                  <a:pt x="0" y="66746"/>
                </a:lnTo>
                <a:lnTo>
                  <a:pt x="14645" y="27848"/>
                </a:lnTo>
                <a:lnTo>
                  <a:pt x="48432" y="3642"/>
                </a:lnTo>
                <a:lnTo>
                  <a:pt x="66746" y="0"/>
                </a:lnTo>
                <a:lnTo>
                  <a:pt x="6019726" y="0"/>
                </a:lnTo>
                <a:lnTo>
                  <a:pt x="6058625" y="14645"/>
                </a:lnTo>
                <a:lnTo>
                  <a:pt x="6082830" y="48433"/>
                </a:lnTo>
                <a:lnTo>
                  <a:pt x="6086474" y="66746"/>
                </a:lnTo>
                <a:lnTo>
                  <a:pt x="6086474" y="4495728"/>
                </a:lnTo>
                <a:lnTo>
                  <a:pt x="6071828" y="4534625"/>
                </a:lnTo>
                <a:lnTo>
                  <a:pt x="6038040" y="4558830"/>
                </a:lnTo>
                <a:lnTo>
                  <a:pt x="6024372" y="4562016"/>
                </a:lnTo>
                <a:lnTo>
                  <a:pt x="6019726" y="4562474"/>
                </a:lnTo>
                <a:close/>
              </a:path>
            </a:pathLst>
          </a:custGeom>
          <a:solidFill>
            <a:srgbClr val="2333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052762" y="1147762"/>
            <a:ext cx="6086475" cy="4562475"/>
          </a:xfrm>
          <a:custGeom>
            <a:avLst/>
            <a:gdLst/>
            <a:ahLst/>
            <a:cxnLst/>
            <a:rect l="l" t="t" r="r" b="b"/>
            <a:pathLst>
              <a:path w="6086475" h="4562475">
                <a:moveTo>
                  <a:pt x="0" y="449103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372" y="57500"/>
                </a:lnTo>
                <a:lnTo>
                  <a:pt x="2287" y="52900"/>
                </a:lnTo>
                <a:lnTo>
                  <a:pt x="3642" y="48433"/>
                </a:lnTo>
                <a:lnTo>
                  <a:pt x="5437" y="44099"/>
                </a:lnTo>
                <a:lnTo>
                  <a:pt x="7232" y="39765"/>
                </a:lnTo>
                <a:lnTo>
                  <a:pt x="9432" y="35648"/>
                </a:lnTo>
                <a:lnTo>
                  <a:pt x="12039" y="31748"/>
                </a:lnTo>
                <a:lnTo>
                  <a:pt x="14645" y="27848"/>
                </a:lnTo>
                <a:lnTo>
                  <a:pt x="31748" y="12039"/>
                </a:lnTo>
                <a:lnTo>
                  <a:pt x="35648" y="9433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6" y="0"/>
                </a:lnTo>
                <a:lnTo>
                  <a:pt x="6024372" y="457"/>
                </a:lnTo>
                <a:lnTo>
                  <a:pt x="6028972" y="1372"/>
                </a:lnTo>
                <a:lnTo>
                  <a:pt x="6033573" y="2287"/>
                </a:lnTo>
                <a:lnTo>
                  <a:pt x="6038040" y="3642"/>
                </a:lnTo>
                <a:lnTo>
                  <a:pt x="6042373" y="5437"/>
                </a:lnTo>
                <a:lnTo>
                  <a:pt x="6046707" y="7232"/>
                </a:lnTo>
                <a:lnTo>
                  <a:pt x="6050824" y="9433"/>
                </a:lnTo>
                <a:lnTo>
                  <a:pt x="6054724" y="12039"/>
                </a:lnTo>
                <a:lnTo>
                  <a:pt x="6058625" y="14645"/>
                </a:lnTo>
                <a:lnTo>
                  <a:pt x="6062234" y="17606"/>
                </a:lnTo>
                <a:lnTo>
                  <a:pt x="6065550" y="20923"/>
                </a:lnTo>
                <a:lnTo>
                  <a:pt x="6068867" y="24240"/>
                </a:lnTo>
                <a:lnTo>
                  <a:pt x="6085101" y="57500"/>
                </a:lnTo>
                <a:lnTo>
                  <a:pt x="6086017" y="62101"/>
                </a:lnTo>
                <a:lnTo>
                  <a:pt x="6086474" y="66746"/>
                </a:lnTo>
                <a:lnTo>
                  <a:pt x="6086474" y="71437"/>
                </a:lnTo>
                <a:lnTo>
                  <a:pt x="6086474" y="4491037"/>
                </a:lnTo>
                <a:lnTo>
                  <a:pt x="6086474" y="4495728"/>
                </a:lnTo>
                <a:lnTo>
                  <a:pt x="6086017" y="4500373"/>
                </a:lnTo>
                <a:lnTo>
                  <a:pt x="6085101" y="4504974"/>
                </a:lnTo>
                <a:lnTo>
                  <a:pt x="6084185" y="4509574"/>
                </a:lnTo>
                <a:lnTo>
                  <a:pt x="6065550" y="4541550"/>
                </a:lnTo>
                <a:lnTo>
                  <a:pt x="6062234" y="4544867"/>
                </a:lnTo>
                <a:lnTo>
                  <a:pt x="6058625" y="4547828"/>
                </a:lnTo>
                <a:lnTo>
                  <a:pt x="6054724" y="4550434"/>
                </a:lnTo>
                <a:lnTo>
                  <a:pt x="6050824" y="4553040"/>
                </a:lnTo>
                <a:lnTo>
                  <a:pt x="6015037" y="4562474"/>
                </a:lnTo>
                <a:lnTo>
                  <a:pt x="71437" y="4562474"/>
                </a:lnTo>
                <a:lnTo>
                  <a:pt x="31748" y="4550434"/>
                </a:lnTo>
                <a:lnTo>
                  <a:pt x="27848" y="4547828"/>
                </a:lnTo>
                <a:lnTo>
                  <a:pt x="12039" y="4530725"/>
                </a:lnTo>
                <a:lnTo>
                  <a:pt x="9432" y="4526825"/>
                </a:lnTo>
                <a:lnTo>
                  <a:pt x="0" y="4495728"/>
                </a:lnTo>
                <a:lnTo>
                  <a:pt x="0" y="4491037"/>
                </a:lnTo>
                <a:close/>
              </a:path>
            </a:pathLst>
          </a:custGeom>
          <a:ln w="9524">
            <a:solidFill>
              <a:srgbClr val="3A49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41039" y="1365250"/>
            <a:ext cx="3459221" cy="47244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A2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64617" y="456806"/>
            <a:ext cx="8462764" cy="1547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87474" y="1601406"/>
            <a:ext cx="9417050" cy="149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chemeClr val="bg1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24.xml"/><Relationship Id="rId25" Type="http://schemas.openxmlformats.org/officeDocument/2006/relationships/image" Target="../media/image28.png"/><Relationship Id="rId24" Type="http://schemas.openxmlformats.org/officeDocument/2006/relationships/tags" Target="../tags/tag23.xml"/><Relationship Id="rId23" Type="http://schemas.openxmlformats.org/officeDocument/2006/relationships/image" Target="../media/image27.png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412490" marR="5080" indent="-3400425">
              <a:lnSpc>
                <a:spcPts val="5630"/>
              </a:lnSpc>
              <a:spcBef>
                <a:spcPts val="510"/>
              </a:spcBef>
            </a:pPr>
            <a:r>
              <a:rPr spc="-590" dirty="0">
                <a:latin typeface="Malgun Gothic" panose="020B0503020000020004" charset="-127"/>
                <a:cs typeface="Malgun Gothic" panose="020B0503020000020004" charset="-127"/>
              </a:rPr>
              <a:t>解</a:t>
            </a:r>
            <a:r>
              <a:rPr spc="-590" dirty="0"/>
              <a:t>构未来协作</a:t>
            </a:r>
            <a:r>
              <a:rPr spc="-590" dirty="0">
                <a:latin typeface="Malgun Gothic" panose="020B0503020000020004" charset="-127"/>
                <a:cs typeface="Malgun Gothic" panose="020B0503020000020004" charset="-127"/>
              </a:rPr>
              <a:t>：</a:t>
            </a:r>
            <a:r>
              <a:rPr spc="-590" dirty="0"/>
              <a:t>深入理</a:t>
            </a:r>
            <a:r>
              <a:rPr spc="-590" dirty="0">
                <a:latin typeface="Malgun Gothic" panose="020B0503020000020004" charset="-127"/>
                <a:cs typeface="Malgun Gothic" panose="020B0503020000020004" charset="-127"/>
              </a:rPr>
              <a:t>解</a:t>
            </a:r>
            <a:r>
              <a:rPr spc="-590" dirty="0"/>
              <a:t>大模</a:t>
            </a:r>
            <a:r>
              <a:rPr spc="-590" dirty="0">
                <a:latin typeface="Malgun Gothic" panose="020B0503020000020004" charset="-127"/>
                <a:cs typeface="Malgun Gothic" panose="020B0503020000020004" charset="-127"/>
              </a:rPr>
              <a:t>型</a:t>
            </a:r>
            <a:r>
              <a:rPr spc="-590" dirty="0"/>
              <a:t>领</a:t>
            </a:r>
            <a:r>
              <a:rPr spc="-615" dirty="0">
                <a:latin typeface="Malgun Gothic" panose="020B0503020000020004" charset="-127"/>
                <a:cs typeface="Malgun Gothic" panose="020B0503020000020004" charset="-127"/>
              </a:rPr>
              <a:t>域的</a:t>
            </a:r>
            <a:r>
              <a:rPr spc="-640" dirty="0">
                <a:latin typeface="Malgun Gothic" panose="020B0503020000020004" charset="-127"/>
                <a:cs typeface="Malgun Gothic" panose="020B0503020000020004" charset="-127"/>
              </a:rPr>
              <a:t> </a:t>
            </a:r>
            <a:r>
              <a:rPr sz="5200" spc="-560" dirty="0">
                <a:latin typeface="Noto Sans SC" panose="020B0500000000000000" charset="-122"/>
                <a:cs typeface="Noto Sans SC" panose="020B0500000000000000" charset="-122"/>
              </a:rPr>
              <a:t>Subagent</a:t>
            </a:r>
            <a:endParaRPr sz="520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19749" y="3562349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00B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37210" y="3891406"/>
            <a:ext cx="4117975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2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一种提升</a:t>
            </a:r>
            <a:r>
              <a:rPr sz="1950" spc="-85" dirty="0">
                <a:solidFill>
                  <a:srgbClr val="C4CCD4"/>
                </a:solidFill>
                <a:latin typeface="Franklin Gothic Demi" panose="020B0703020102020204"/>
                <a:cs typeface="Franklin Gothic Demi" panose="020B0703020102020204"/>
              </a:rPr>
              <a:t>AI</a:t>
            </a:r>
            <a:r>
              <a:rPr sz="2000" spc="-19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系统能力与效率的革命性架构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4985" y="4713414"/>
            <a:ext cx="42545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90" dirty="0">
                <a:solidFill>
                  <a:srgbClr val="A0AAB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分享人</a:t>
            </a:r>
            <a:endParaRPr sz="11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7370" y="4956111"/>
            <a:ext cx="84137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70" dirty="0">
                <a:solidFill>
                  <a:srgbClr val="C4CCD4"/>
                </a:solidFill>
                <a:latin typeface="Comic Sans MS" panose="030F0702030302020204"/>
                <a:cs typeface="Comic Sans MS" panose="030F0702030302020204"/>
              </a:rPr>
              <a:t>[</a:t>
            </a:r>
            <a:r>
              <a:rPr sz="1500" b="1" spc="-150" dirty="0">
                <a:solidFill>
                  <a:srgbClr val="C4C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你</a:t>
            </a:r>
            <a:r>
              <a:rPr sz="1500" b="1" spc="-150" dirty="0">
                <a:solidFill>
                  <a:srgbClr val="C4CCD4"/>
                </a:solidFill>
                <a:latin typeface="Malgun Gothic" panose="020B0503020000020004" charset="-127"/>
                <a:cs typeface="Malgun Gothic" panose="020B0503020000020004" charset="-127"/>
              </a:rPr>
              <a:t>的</a:t>
            </a:r>
            <a:r>
              <a:rPr sz="1500" b="1" spc="-150" dirty="0">
                <a:solidFill>
                  <a:srgbClr val="C4C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名</a:t>
            </a:r>
            <a:r>
              <a:rPr sz="1500" b="1" spc="-150" dirty="0">
                <a:solidFill>
                  <a:srgbClr val="C4CCD4"/>
                </a:solidFill>
                <a:latin typeface="Malgun Gothic" panose="020B0503020000020004" charset="-127"/>
                <a:cs typeface="Malgun Gothic" panose="020B0503020000020004" charset="-127"/>
              </a:rPr>
              <a:t>字</a:t>
            </a:r>
            <a:r>
              <a:rPr sz="1500" b="1" spc="-50" dirty="0">
                <a:solidFill>
                  <a:srgbClr val="C4CCD4"/>
                </a:solidFill>
                <a:latin typeface="Comic Sans MS" panose="030F0702030302020204"/>
                <a:cs typeface="Comic Sans MS" panose="030F0702030302020204"/>
              </a:rPr>
              <a:t>]</a:t>
            </a:r>
            <a:endParaRPr sz="15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8090" y="4713414"/>
            <a:ext cx="29210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80" dirty="0">
                <a:solidFill>
                  <a:srgbClr val="A0AAB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日期</a:t>
            </a:r>
            <a:endParaRPr sz="11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3799" y="4956111"/>
            <a:ext cx="84137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70" dirty="0">
                <a:solidFill>
                  <a:srgbClr val="C4CCD4"/>
                </a:solidFill>
                <a:latin typeface="Comic Sans MS" panose="030F0702030302020204"/>
                <a:cs typeface="Comic Sans MS" panose="030F0702030302020204"/>
              </a:rPr>
              <a:t>[</a:t>
            </a:r>
            <a:r>
              <a:rPr sz="1500" b="1" spc="-150" dirty="0">
                <a:solidFill>
                  <a:srgbClr val="C4C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</a:t>
            </a:r>
            <a:r>
              <a:rPr sz="1500" b="1" spc="-150" dirty="0">
                <a:solidFill>
                  <a:srgbClr val="C4CCD4"/>
                </a:solidFill>
                <a:latin typeface="Malgun Gothic" panose="020B0503020000020004" charset="-127"/>
                <a:cs typeface="Malgun Gothic" panose="020B0503020000020004" charset="-127"/>
              </a:rPr>
              <a:t>享日期</a:t>
            </a:r>
            <a:r>
              <a:rPr sz="1500" b="1" spc="-50" dirty="0">
                <a:solidFill>
                  <a:srgbClr val="C4CCD4"/>
                </a:solidFill>
                <a:latin typeface="Comic Sans MS" panose="030F0702030302020204"/>
                <a:cs typeface="Comic Sans MS" panose="030F0702030302020204"/>
              </a:rPr>
              <a:t>]</a:t>
            </a:r>
            <a:endParaRPr sz="1500">
              <a:latin typeface="Comic Sans MS" panose="030F0702030302020204"/>
              <a:cs typeface="Comic Sans MS" panose="030F07020303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0269" rIns="0" bIns="0" rtlCol="0">
            <a:spAutoFit/>
          </a:bodyPr>
          <a:lstStyle/>
          <a:p>
            <a:pPr marL="1945005" marR="5080" indent="-1932940">
              <a:lnSpc>
                <a:spcPts val="4200"/>
              </a:lnSpc>
              <a:spcBef>
                <a:spcPts val="270"/>
              </a:spcBef>
            </a:pP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今</a:t>
            </a:r>
            <a:r>
              <a:rPr spc="-370" dirty="0"/>
              <a:t>天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，</a:t>
            </a:r>
            <a:r>
              <a:rPr spc="-370" dirty="0"/>
              <a:t>我们将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一</a:t>
            </a:r>
            <a:r>
              <a:rPr spc="-370" dirty="0"/>
              <a:t>起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探</a:t>
            </a:r>
            <a:r>
              <a:rPr spc="-250" dirty="0"/>
              <a:t>索 </a:t>
            </a:r>
            <a:r>
              <a:rPr sz="3600" spc="-385" dirty="0">
                <a:latin typeface="Noto Sans SC" panose="020B0500000000000000" charset="-122"/>
                <a:cs typeface="Noto Sans SC" panose="020B0500000000000000" charset="-122"/>
              </a:rPr>
              <a:t>Subagent</a:t>
            </a:r>
            <a:r>
              <a:rPr sz="3600" spc="-110" dirty="0"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的世界，</a:t>
            </a:r>
            <a:r>
              <a:rPr spc="-390" dirty="0"/>
              <a:t>内容将</a:t>
            </a:r>
            <a:r>
              <a:rPr spc="-375" dirty="0"/>
              <a:t>围绕以下四个核心问题展开</a:t>
            </a:r>
            <a:endParaRPr sz="36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64346" y="2488692"/>
            <a:ext cx="284480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b="1" spc="-160" dirty="0">
                <a:solidFill>
                  <a:srgbClr val="00BCD4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38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1460" y="2607916"/>
            <a:ext cx="411797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00" spc="-29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什么是 </a:t>
            </a:r>
            <a:r>
              <a:rPr sz="2150" spc="-2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Subagent</a:t>
            </a:r>
            <a:r>
              <a:rPr sz="20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r>
              <a:rPr sz="2150" spc="-13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—— </a:t>
            </a:r>
            <a:r>
              <a:rPr sz="2000" b="1" spc="-20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概</a:t>
            </a:r>
            <a:r>
              <a:rPr sz="2000" b="1" spc="-20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念</a:t>
            </a:r>
            <a:r>
              <a:rPr sz="2000" b="1" spc="-18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与角色解析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4346" y="3422142"/>
            <a:ext cx="284480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b="1" spc="-160" dirty="0">
                <a:solidFill>
                  <a:srgbClr val="00BCD4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38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1460" y="3541366"/>
            <a:ext cx="434657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00" spc="-27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为何需要 </a:t>
            </a:r>
            <a:r>
              <a:rPr sz="2150" spc="-2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Subagent</a:t>
            </a:r>
            <a:r>
              <a:rPr sz="20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r>
              <a:rPr sz="2150" spc="-13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—— </a:t>
            </a:r>
            <a:r>
              <a:rPr sz="2000" b="1" spc="-20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架</a:t>
            </a:r>
            <a:r>
              <a:rPr sz="2000" b="1" spc="-18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构与核心优势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4346" y="4355592"/>
            <a:ext cx="284480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b="1" spc="-160" dirty="0">
                <a:solidFill>
                  <a:srgbClr val="00BCD4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38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51460" y="4474816"/>
            <a:ext cx="548957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spc="-21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Subagent</a:t>
            </a:r>
            <a:r>
              <a:rPr sz="2150" spc="-5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2000" spc="-2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在哪里大显身手？</a:t>
            </a:r>
            <a:r>
              <a:rPr sz="2150" spc="-12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—— </a:t>
            </a:r>
            <a:r>
              <a:rPr sz="2000" b="1" spc="-19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典型应用场景与案例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4346" y="5289042"/>
            <a:ext cx="284480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b="1" spc="-160" dirty="0">
                <a:solidFill>
                  <a:srgbClr val="00BCD4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38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51460" y="5408266"/>
            <a:ext cx="396303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00" spc="-2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未来将走向何方？</a:t>
            </a:r>
            <a:r>
              <a:rPr sz="2150" spc="-13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—— </a:t>
            </a:r>
            <a:r>
              <a:rPr sz="2000" b="1" spc="-19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前沿趋势与挑战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793" rIns="0" bIns="0" rtlCol="0">
            <a:spAutoFit/>
          </a:bodyPr>
          <a:lstStyle/>
          <a:p>
            <a:pPr marL="1564005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从</a:t>
            </a:r>
            <a:r>
              <a:rPr spc="1320" dirty="0">
                <a:latin typeface="Arial" panose="020B0604020202020204"/>
                <a:cs typeface="Arial" panose="020B0604020202020204"/>
              </a:rPr>
              <a:t>“</a:t>
            </a:r>
            <a:r>
              <a:rPr spc="-370" dirty="0"/>
              <a:t>单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兵作</a:t>
            </a:r>
            <a:r>
              <a:rPr spc="-370" dirty="0"/>
              <a:t>战</a:t>
            </a:r>
            <a:r>
              <a:rPr spc="1320" dirty="0">
                <a:latin typeface="Arial" panose="020B0604020202020204"/>
                <a:cs typeface="Arial" panose="020B0604020202020204"/>
              </a:rPr>
              <a:t>”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到</a:t>
            </a:r>
            <a:r>
              <a:rPr spc="1320" dirty="0">
                <a:latin typeface="Arial" panose="020B0604020202020204"/>
                <a:cs typeface="Arial" panose="020B0604020202020204"/>
              </a:rPr>
              <a:t>“</a:t>
            </a:r>
            <a:r>
              <a:rPr spc="-370" dirty="0"/>
              <a:t>团队协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作</a:t>
            </a:r>
            <a:r>
              <a:rPr spc="1270" dirty="0">
                <a:latin typeface="Arial" panose="020B0604020202020204"/>
                <a:cs typeface="Arial" panose="020B0604020202020204"/>
              </a:rPr>
              <a:t>”</a:t>
            </a:r>
            <a:endParaRPr spc="127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49" y="2133599"/>
            <a:ext cx="4572000" cy="3619500"/>
            <a:chOff x="1047749" y="2133599"/>
            <a:chExt cx="4572000" cy="3619500"/>
          </a:xfrm>
        </p:grpSpPr>
        <p:sp>
          <p:nvSpPr>
            <p:cNvPr id="4" name="object 4"/>
            <p:cNvSpPr/>
            <p:nvPr/>
          </p:nvSpPr>
          <p:spPr>
            <a:xfrm>
              <a:off x="1052512" y="2138362"/>
              <a:ext cx="4562475" cy="3609975"/>
            </a:xfrm>
            <a:custGeom>
              <a:avLst/>
              <a:gdLst/>
              <a:ahLst/>
              <a:cxnLst/>
              <a:rect l="l" t="t" r="r" b="b"/>
              <a:pathLst>
                <a:path w="4562475" h="3609975">
                  <a:moveTo>
                    <a:pt x="4460129" y="3609974"/>
                  </a:moveTo>
                  <a:lnTo>
                    <a:pt x="102345" y="3609974"/>
                  </a:lnTo>
                  <a:lnTo>
                    <a:pt x="95221" y="3609272"/>
                  </a:lnTo>
                  <a:lnTo>
                    <a:pt x="54661" y="3595508"/>
                  </a:lnTo>
                  <a:lnTo>
                    <a:pt x="22456" y="3567272"/>
                  </a:lnTo>
                  <a:lnTo>
                    <a:pt x="3507" y="3528859"/>
                  </a:lnTo>
                  <a:lnTo>
                    <a:pt x="0" y="3507629"/>
                  </a:lnTo>
                  <a:lnTo>
                    <a:pt x="0" y="35004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7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4460129" y="0"/>
                  </a:lnTo>
                  <a:lnTo>
                    <a:pt x="4501498" y="11090"/>
                  </a:lnTo>
                  <a:lnTo>
                    <a:pt x="4535477" y="37168"/>
                  </a:lnTo>
                  <a:lnTo>
                    <a:pt x="4556888" y="74263"/>
                  </a:lnTo>
                  <a:lnTo>
                    <a:pt x="4562474" y="102345"/>
                  </a:lnTo>
                  <a:lnTo>
                    <a:pt x="4562474" y="3507629"/>
                  </a:lnTo>
                  <a:lnTo>
                    <a:pt x="4551383" y="3548998"/>
                  </a:lnTo>
                  <a:lnTo>
                    <a:pt x="4525305" y="3582976"/>
                  </a:lnTo>
                  <a:lnTo>
                    <a:pt x="4488209" y="3604387"/>
                  </a:lnTo>
                  <a:lnTo>
                    <a:pt x="4467252" y="3609272"/>
                  </a:lnTo>
                  <a:lnTo>
                    <a:pt x="4460129" y="3609974"/>
                  </a:lnTo>
                  <a:close/>
                </a:path>
              </a:pathLst>
            </a:custGeom>
            <a:solidFill>
              <a:srgbClr val="293F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52512" y="2138362"/>
              <a:ext cx="4562475" cy="3609975"/>
            </a:xfrm>
            <a:custGeom>
              <a:avLst/>
              <a:gdLst/>
              <a:ahLst/>
              <a:cxnLst/>
              <a:rect l="l" t="t" r="r" b="b"/>
              <a:pathLst>
                <a:path w="4562475" h="3609975">
                  <a:moveTo>
                    <a:pt x="0" y="35004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7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4452937" y="0"/>
                  </a:lnTo>
                  <a:lnTo>
                    <a:pt x="4460129" y="0"/>
                  </a:lnTo>
                  <a:lnTo>
                    <a:pt x="4467252" y="701"/>
                  </a:lnTo>
                  <a:lnTo>
                    <a:pt x="4507811" y="14464"/>
                  </a:lnTo>
                  <a:lnTo>
                    <a:pt x="4513792" y="18460"/>
                  </a:lnTo>
                  <a:lnTo>
                    <a:pt x="4519772" y="22456"/>
                  </a:lnTo>
                  <a:lnTo>
                    <a:pt x="4544014" y="48681"/>
                  </a:lnTo>
                  <a:lnTo>
                    <a:pt x="4548009" y="54661"/>
                  </a:lnTo>
                  <a:lnTo>
                    <a:pt x="4560369" y="88167"/>
                  </a:lnTo>
                  <a:lnTo>
                    <a:pt x="4561772" y="95221"/>
                  </a:lnTo>
                  <a:lnTo>
                    <a:pt x="4562474" y="102345"/>
                  </a:lnTo>
                  <a:lnTo>
                    <a:pt x="4562474" y="109537"/>
                  </a:lnTo>
                  <a:lnTo>
                    <a:pt x="4562474" y="3500437"/>
                  </a:lnTo>
                  <a:lnTo>
                    <a:pt x="4562474" y="3507629"/>
                  </a:lnTo>
                  <a:lnTo>
                    <a:pt x="4561772" y="3514752"/>
                  </a:lnTo>
                  <a:lnTo>
                    <a:pt x="4560369" y="3521805"/>
                  </a:lnTo>
                  <a:lnTo>
                    <a:pt x="4558966" y="3528859"/>
                  </a:lnTo>
                  <a:lnTo>
                    <a:pt x="4540018" y="3567272"/>
                  </a:lnTo>
                  <a:lnTo>
                    <a:pt x="4507811" y="3595508"/>
                  </a:lnTo>
                  <a:lnTo>
                    <a:pt x="4474306" y="3607869"/>
                  </a:lnTo>
                  <a:lnTo>
                    <a:pt x="4467252" y="3609272"/>
                  </a:lnTo>
                  <a:lnTo>
                    <a:pt x="4460129" y="3609974"/>
                  </a:lnTo>
                  <a:lnTo>
                    <a:pt x="4452937" y="3609974"/>
                  </a:lnTo>
                  <a:lnTo>
                    <a:pt x="109537" y="3609974"/>
                  </a:lnTo>
                  <a:lnTo>
                    <a:pt x="67619" y="3601635"/>
                  </a:lnTo>
                  <a:lnTo>
                    <a:pt x="32082" y="3577891"/>
                  </a:lnTo>
                  <a:lnTo>
                    <a:pt x="26996" y="3572805"/>
                  </a:lnTo>
                  <a:lnTo>
                    <a:pt x="5585" y="3535709"/>
                  </a:lnTo>
                  <a:lnTo>
                    <a:pt x="2104" y="3521805"/>
                  </a:lnTo>
                  <a:lnTo>
                    <a:pt x="701" y="3514752"/>
                  </a:lnTo>
                  <a:lnTo>
                    <a:pt x="0" y="3507629"/>
                  </a:lnTo>
                  <a:lnTo>
                    <a:pt x="0" y="3500437"/>
                  </a:lnTo>
                  <a:close/>
                </a:path>
              </a:pathLst>
            </a:custGeom>
            <a:ln w="9524">
              <a:solidFill>
                <a:srgbClr val="3A54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711449" y="3157601"/>
            <a:ext cx="124460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b="1" spc="-32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单</a:t>
            </a:r>
            <a:r>
              <a:rPr sz="2700" b="1" spc="-32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兵作</a:t>
            </a:r>
            <a:r>
              <a:rPr sz="2700" b="1" spc="-37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战</a:t>
            </a:r>
            <a:endParaRPr sz="27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1299" y="3687952"/>
            <a:ext cx="3644900" cy="164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25000"/>
              </a:lnSpc>
              <a:spcBef>
                <a:spcPts val="100"/>
              </a:spcBef>
            </a:pP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想象一下，一个超级英雄虽然强大，但面对</a:t>
            </a:r>
            <a:r>
              <a:rPr sz="1700" spc="-20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一个需要同时在不同地点解决的复杂危机</a:t>
            </a:r>
            <a:r>
              <a:rPr sz="17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时，也会分身乏术。同样，单个大模型在处</a:t>
            </a:r>
            <a:r>
              <a:rPr sz="1700" spc="-20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理复杂、多步骤的任务时也会遇到能力瓶</a:t>
            </a:r>
            <a:r>
              <a:rPr sz="17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spc="-13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颈。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72249" y="2133599"/>
            <a:ext cx="4572000" cy="3619500"/>
            <a:chOff x="6572249" y="2133599"/>
            <a:chExt cx="4572000" cy="3619500"/>
          </a:xfrm>
        </p:grpSpPr>
        <p:sp>
          <p:nvSpPr>
            <p:cNvPr id="9" name="object 9"/>
            <p:cNvSpPr/>
            <p:nvPr/>
          </p:nvSpPr>
          <p:spPr>
            <a:xfrm>
              <a:off x="6577011" y="2138362"/>
              <a:ext cx="4562475" cy="3609975"/>
            </a:xfrm>
            <a:custGeom>
              <a:avLst/>
              <a:gdLst/>
              <a:ahLst/>
              <a:cxnLst/>
              <a:rect l="l" t="t" r="r" b="b"/>
              <a:pathLst>
                <a:path w="4562475" h="3609975">
                  <a:moveTo>
                    <a:pt x="4460130" y="3609974"/>
                  </a:moveTo>
                  <a:lnTo>
                    <a:pt x="102345" y="3609974"/>
                  </a:lnTo>
                  <a:lnTo>
                    <a:pt x="95222" y="3609272"/>
                  </a:lnTo>
                  <a:lnTo>
                    <a:pt x="54661" y="3595508"/>
                  </a:lnTo>
                  <a:lnTo>
                    <a:pt x="22455" y="3567272"/>
                  </a:lnTo>
                  <a:lnTo>
                    <a:pt x="3507" y="3528859"/>
                  </a:lnTo>
                  <a:lnTo>
                    <a:pt x="0" y="3507629"/>
                  </a:lnTo>
                  <a:lnTo>
                    <a:pt x="0" y="35004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7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4460130" y="0"/>
                  </a:lnTo>
                  <a:lnTo>
                    <a:pt x="4501501" y="11090"/>
                  </a:lnTo>
                  <a:lnTo>
                    <a:pt x="4535476" y="37168"/>
                  </a:lnTo>
                  <a:lnTo>
                    <a:pt x="4556888" y="74263"/>
                  </a:lnTo>
                  <a:lnTo>
                    <a:pt x="4562475" y="102345"/>
                  </a:lnTo>
                  <a:lnTo>
                    <a:pt x="4562475" y="3507629"/>
                  </a:lnTo>
                  <a:lnTo>
                    <a:pt x="4551384" y="3548998"/>
                  </a:lnTo>
                  <a:lnTo>
                    <a:pt x="4525305" y="3582976"/>
                  </a:lnTo>
                  <a:lnTo>
                    <a:pt x="4488211" y="3604387"/>
                  </a:lnTo>
                  <a:lnTo>
                    <a:pt x="4467253" y="3609272"/>
                  </a:lnTo>
                  <a:lnTo>
                    <a:pt x="4460130" y="3609974"/>
                  </a:lnTo>
                  <a:close/>
                </a:path>
              </a:pathLst>
            </a:custGeom>
            <a:solidFill>
              <a:srgbClr val="00BCD4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577011" y="2138362"/>
              <a:ext cx="4562475" cy="3609975"/>
            </a:xfrm>
            <a:custGeom>
              <a:avLst/>
              <a:gdLst/>
              <a:ahLst/>
              <a:cxnLst/>
              <a:rect l="l" t="t" r="r" b="b"/>
              <a:pathLst>
                <a:path w="4562475" h="3609975">
                  <a:moveTo>
                    <a:pt x="0" y="35004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7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4452937" y="0"/>
                  </a:lnTo>
                  <a:lnTo>
                    <a:pt x="4460130" y="0"/>
                  </a:lnTo>
                  <a:lnTo>
                    <a:pt x="4467253" y="701"/>
                  </a:lnTo>
                  <a:lnTo>
                    <a:pt x="4474307" y="2104"/>
                  </a:lnTo>
                  <a:lnTo>
                    <a:pt x="4481361" y="3507"/>
                  </a:lnTo>
                  <a:lnTo>
                    <a:pt x="4488211" y="5585"/>
                  </a:lnTo>
                  <a:lnTo>
                    <a:pt x="4494856" y="8337"/>
                  </a:lnTo>
                  <a:lnTo>
                    <a:pt x="4501501" y="11090"/>
                  </a:lnTo>
                  <a:lnTo>
                    <a:pt x="4507813" y="14464"/>
                  </a:lnTo>
                  <a:lnTo>
                    <a:pt x="4513793" y="18460"/>
                  </a:lnTo>
                  <a:lnTo>
                    <a:pt x="4519773" y="22456"/>
                  </a:lnTo>
                  <a:lnTo>
                    <a:pt x="4548009" y="54661"/>
                  </a:lnTo>
                  <a:lnTo>
                    <a:pt x="4561772" y="95221"/>
                  </a:lnTo>
                  <a:lnTo>
                    <a:pt x="4562475" y="102345"/>
                  </a:lnTo>
                  <a:lnTo>
                    <a:pt x="4562475" y="109537"/>
                  </a:lnTo>
                  <a:lnTo>
                    <a:pt x="4562475" y="3500437"/>
                  </a:lnTo>
                  <a:lnTo>
                    <a:pt x="4562475" y="3507629"/>
                  </a:lnTo>
                  <a:lnTo>
                    <a:pt x="4561772" y="3514752"/>
                  </a:lnTo>
                  <a:lnTo>
                    <a:pt x="4560369" y="3521805"/>
                  </a:lnTo>
                  <a:lnTo>
                    <a:pt x="4558966" y="3528859"/>
                  </a:lnTo>
                  <a:lnTo>
                    <a:pt x="4540017" y="3567272"/>
                  </a:lnTo>
                  <a:lnTo>
                    <a:pt x="4507813" y="3595508"/>
                  </a:lnTo>
                  <a:lnTo>
                    <a:pt x="4474307" y="3607869"/>
                  </a:lnTo>
                  <a:lnTo>
                    <a:pt x="4467253" y="3609272"/>
                  </a:lnTo>
                  <a:lnTo>
                    <a:pt x="4460130" y="3609974"/>
                  </a:lnTo>
                  <a:lnTo>
                    <a:pt x="4452937" y="3609974"/>
                  </a:lnTo>
                  <a:lnTo>
                    <a:pt x="109538" y="3609974"/>
                  </a:lnTo>
                  <a:lnTo>
                    <a:pt x="102345" y="3609974"/>
                  </a:lnTo>
                  <a:lnTo>
                    <a:pt x="95222" y="3609272"/>
                  </a:lnTo>
                  <a:lnTo>
                    <a:pt x="88167" y="3607869"/>
                  </a:lnTo>
                  <a:lnTo>
                    <a:pt x="81113" y="3606465"/>
                  </a:lnTo>
                  <a:lnTo>
                    <a:pt x="42701" y="3587517"/>
                  </a:lnTo>
                  <a:lnTo>
                    <a:pt x="32082" y="3577891"/>
                  </a:lnTo>
                  <a:lnTo>
                    <a:pt x="26996" y="3572805"/>
                  </a:lnTo>
                  <a:lnTo>
                    <a:pt x="22455" y="3567272"/>
                  </a:lnTo>
                  <a:lnTo>
                    <a:pt x="18459" y="3561291"/>
                  </a:lnTo>
                  <a:lnTo>
                    <a:pt x="14464" y="3555311"/>
                  </a:lnTo>
                  <a:lnTo>
                    <a:pt x="11090" y="3548998"/>
                  </a:lnTo>
                  <a:lnTo>
                    <a:pt x="8337" y="3542354"/>
                  </a:lnTo>
                  <a:lnTo>
                    <a:pt x="5585" y="3535709"/>
                  </a:lnTo>
                  <a:lnTo>
                    <a:pt x="3507" y="3528859"/>
                  </a:lnTo>
                  <a:lnTo>
                    <a:pt x="2104" y="3521805"/>
                  </a:lnTo>
                  <a:lnTo>
                    <a:pt x="701" y="3514752"/>
                  </a:lnTo>
                  <a:lnTo>
                    <a:pt x="0" y="3507629"/>
                  </a:lnTo>
                  <a:lnTo>
                    <a:pt x="0" y="3500437"/>
                  </a:lnTo>
                  <a:close/>
                </a:path>
              </a:pathLst>
            </a:custGeom>
            <a:ln w="9524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235950" y="3471925"/>
            <a:ext cx="124460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b="1" spc="-32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团队协</a:t>
            </a:r>
            <a:r>
              <a:rPr sz="2700" b="1" spc="-37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作</a:t>
            </a:r>
            <a:endParaRPr sz="27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71357" y="4005055"/>
            <a:ext cx="3773804" cy="99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835" marR="5080" indent="-64770" algn="just">
              <a:lnSpc>
                <a:spcPct val="118000"/>
              </a:lnSpc>
              <a:spcBef>
                <a:spcPts val="95"/>
              </a:spcBef>
            </a:pPr>
            <a:r>
              <a:rPr sz="1800" spc="-210" dirty="0">
                <a:solidFill>
                  <a:srgbClr val="DFE7EC"/>
                </a:solidFill>
                <a:latin typeface="Noto Sans SC" panose="020B0500000000000000" charset="-122"/>
                <a:cs typeface="Noto Sans SC" panose="020B0500000000000000" charset="-122"/>
              </a:rPr>
              <a:t>Subagent</a:t>
            </a:r>
            <a:r>
              <a:rPr sz="1800" spc="110" dirty="0">
                <a:solidFill>
                  <a:srgbClr val="DFE7EC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700" spc="-204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架构的出现，就是为了解决这个问</a:t>
            </a:r>
            <a:r>
              <a:rPr sz="1700" spc="-21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题。它的核心思想是：从</a:t>
            </a:r>
            <a:r>
              <a:rPr sz="1800" spc="-310" dirty="0">
                <a:solidFill>
                  <a:srgbClr val="DFE7EC"/>
                </a:solidFill>
                <a:latin typeface="Noto Sans SC" panose="020B0500000000000000" charset="-122"/>
                <a:cs typeface="Noto Sans SC" panose="020B0500000000000000" charset="-122"/>
              </a:rPr>
              <a:t>“</a:t>
            </a:r>
            <a:r>
              <a:rPr sz="1700" spc="-21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一个人</a:t>
            </a:r>
            <a:r>
              <a:rPr sz="1800" spc="-310" dirty="0">
                <a:solidFill>
                  <a:srgbClr val="DFE7EC"/>
                </a:solidFill>
                <a:latin typeface="Noto Sans SC" panose="020B0500000000000000" charset="-122"/>
                <a:cs typeface="Noto Sans SC" panose="020B0500000000000000" charset="-122"/>
              </a:rPr>
              <a:t>”</a:t>
            </a:r>
            <a:r>
              <a:rPr sz="1700" spc="-16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的单兵</a:t>
            </a:r>
            <a:r>
              <a:rPr sz="1700" spc="-21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作战，进化为</a:t>
            </a:r>
            <a:r>
              <a:rPr sz="1800" spc="-310" dirty="0">
                <a:solidFill>
                  <a:srgbClr val="DFE7EC"/>
                </a:solidFill>
                <a:latin typeface="Noto Sans SC" panose="020B0500000000000000" charset="-122"/>
                <a:cs typeface="Noto Sans SC" panose="020B0500000000000000" charset="-122"/>
              </a:rPr>
              <a:t>“</a:t>
            </a:r>
            <a:r>
              <a:rPr sz="1700" spc="-21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一个团队</a:t>
            </a:r>
            <a:r>
              <a:rPr sz="1800" spc="-310" dirty="0">
                <a:solidFill>
                  <a:srgbClr val="DFE7EC"/>
                </a:solidFill>
                <a:latin typeface="Noto Sans SC" panose="020B0500000000000000" charset="-122"/>
                <a:cs typeface="Noto Sans SC" panose="020B0500000000000000" charset="-122"/>
              </a:rPr>
              <a:t>”</a:t>
            </a:r>
            <a:r>
              <a:rPr sz="1700" spc="-185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的协同工作。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50474" y="2552104"/>
            <a:ext cx="367030" cy="391795"/>
            <a:chOff x="3150474" y="2552104"/>
            <a:chExt cx="367030" cy="391795"/>
          </a:xfrm>
        </p:grpSpPr>
        <p:pic>
          <p:nvPicPr>
            <p:cNvPr id="14" name="object 1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42815" y="2552104"/>
              <a:ext cx="181867" cy="19585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64464" y="2789931"/>
              <a:ext cx="339090" cy="140335"/>
            </a:xfrm>
            <a:custGeom>
              <a:avLst/>
              <a:gdLst/>
              <a:ahLst/>
              <a:cxnLst/>
              <a:rect l="l" t="t" r="r" b="b"/>
              <a:pathLst>
                <a:path w="339089" h="140335">
                  <a:moveTo>
                    <a:pt x="169285" y="0"/>
                  </a:moveTo>
                  <a:lnTo>
                    <a:pt x="124020" y="4998"/>
                  </a:lnTo>
                  <a:lnTo>
                    <a:pt x="81556" y="19843"/>
                  </a:lnTo>
                  <a:lnTo>
                    <a:pt x="44968" y="44307"/>
                  </a:lnTo>
                  <a:lnTo>
                    <a:pt x="17332" y="78164"/>
                  </a:lnTo>
                  <a:lnTo>
                    <a:pt x="1722" y="121187"/>
                  </a:lnTo>
                  <a:lnTo>
                    <a:pt x="0" y="130735"/>
                  </a:lnTo>
                  <a:lnTo>
                    <a:pt x="5403" y="139898"/>
                  </a:lnTo>
                  <a:lnTo>
                    <a:pt x="15397" y="139898"/>
                  </a:lnTo>
                  <a:lnTo>
                    <a:pt x="323174" y="139898"/>
                  </a:lnTo>
                  <a:lnTo>
                    <a:pt x="333176" y="139898"/>
                  </a:lnTo>
                  <a:lnTo>
                    <a:pt x="338580" y="130735"/>
                  </a:lnTo>
                  <a:lnTo>
                    <a:pt x="321243" y="78164"/>
                  </a:lnTo>
                  <a:lnTo>
                    <a:pt x="293604" y="44307"/>
                  </a:lnTo>
                  <a:lnTo>
                    <a:pt x="257016" y="19843"/>
                  </a:lnTo>
                  <a:lnTo>
                    <a:pt x="214551" y="4998"/>
                  </a:lnTo>
                  <a:lnTo>
                    <a:pt x="169285" y="0"/>
                  </a:lnTo>
                  <a:close/>
                </a:path>
              </a:pathLst>
            </a:custGeom>
            <a:ln w="27979">
              <a:solidFill>
                <a:srgbClr val="A0AA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5921870" y="3782615"/>
            <a:ext cx="348615" cy="321945"/>
          </a:xfrm>
          <a:custGeom>
            <a:avLst/>
            <a:gdLst/>
            <a:ahLst/>
            <a:cxnLst/>
            <a:rect l="l" t="t" r="r" b="b"/>
            <a:pathLst>
              <a:path w="348614" h="321945">
                <a:moveTo>
                  <a:pt x="187523" y="0"/>
                </a:moveTo>
                <a:lnTo>
                  <a:pt x="348257" y="160734"/>
                </a:lnTo>
                <a:lnTo>
                  <a:pt x="187523" y="321468"/>
                </a:lnTo>
              </a:path>
              <a:path w="348614" h="321945">
                <a:moveTo>
                  <a:pt x="325933" y="160734"/>
                </a:moveTo>
                <a:lnTo>
                  <a:pt x="0" y="160734"/>
                </a:lnTo>
              </a:path>
            </a:pathLst>
          </a:custGeom>
          <a:ln w="53578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8501294" y="2643187"/>
            <a:ext cx="714375" cy="523875"/>
            <a:chOff x="8501294" y="2643187"/>
            <a:chExt cx="714375" cy="523875"/>
          </a:xfrm>
        </p:grpSpPr>
        <p:sp>
          <p:nvSpPr>
            <p:cNvPr id="18" name="object 18"/>
            <p:cNvSpPr/>
            <p:nvPr/>
          </p:nvSpPr>
          <p:spPr>
            <a:xfrm>
              <a:off x="8879085" y="2666999"/>
              <a:ext cx="196850" cy="214629"/>
            </a:xfrm>
            <a:custGeom>
              <a:avLst/>
              <a:gdLst/>
              <a:ahLst/>
              <a:cxnLst/>
              <a:rect l="l" t="t" r="r" b="b"/>
              <a:pathLst>
                <a:path w="196850" h="214630">
                  <a:moveTo>
                    <a:pt x="196453" y="107156"/>
                  </a:moveTo>
                  <a:lnTo>
                    <a:pt x="186151" y="149434"/>
                  </a:lnTo>
                  <a:lnTo>
                    <a:pt x="164066" y="183432"/>
                  </a:lnTo>
                  <a:lnTo>
                    <a:pt x="133618" y="206081"/>
                  </a:lnTo>
                  <a:lnTo>
                    <a:pt x="98226" y="214312"/>
                  </a:lnTo>
                  <a:lnTo>
                    <a:pt x="62824" y="206083"/>
                  </a:lnTo>
                  <a:lnTo>
                    <a:pt x="32358" y="183438"/>
                  </a:lnTo>
                  <a:lnTo>
                    <a:pt x="10270" y="149441"/>
                  </a:lnTo>
                  <a:lnTo>
                    <a:pt x="0" y="107156"/>
                  </a:lnTo>
                  <a:lnTo>
                    <a:pt x="5170" y="63847"/>
                  </a:lnTo>
                  <a:lnTo>
                    <a:pt x="25321" y="29964"/>
                  </a:lnTo>
                  <a:lnTo>
                    <a:pt x="57368" y="7888"/>
                  </a:lnTo>
                  <a:lnTo>
                    <a:pt x="98226" y="0"/>
                  </a:lnTo>
                  <a:lnTo>
                    <a:pt x="139084" y="8049"/>
                  </a:lnTo>
                  <a:lnTo>
                    <a:pt x="171131" y="30394"/>
                  </a:lnTo>
                  <a:lnTo>
                    <a:pt x="191282" y="64331"/>
                  </a:lnTo>
                  <a:lnTo>
                    <a:pt x="196453" y="107156"/>
                  </a:lnTo>
                  <a:close/>
                </a:path>
              </a:pathLst>
            </a:custGeom>
            <a:ln w="47624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763309" y="2976562"/>
              <a:ext cx="428625" cy="167005"/>
            </a:xfrm>
            <a:custGeom>
              <a:avLst/>
              <a:gdLst/>
              <a:ahLst/>
              <a:cxnLst/>
              <a:rect l="l" t="t" r="r" b="b"/>
              <a:pathLst>
                <a:path w="428625" h="167005">
                  <a:moveTo>
                    <a:pt x="214002" y="0"/>
                  </a:moveTo>
                  <a:lnTo>
                    <a:pt x="166122" y="4002"/>
                  </a:lnTo>
                  <a:lnTo>
                    <a:pt x="120702" y="15964"/>
                  </a:lnTo>
                  <a:lnTo>
                    <a:pt x="79578" y="35815"/>
                  </a:lnTo>
                  <a:lnTo>
                    <a:pt x="44590" y="63484"/>
                  </a:lnTo>
                  <a:lnTo>
                    <a:pt x="17576" y="98901"/>
                  </a:lnTo>
                  <a:lnTo>
                    <a:pt x="374" y="141996"/>
                  </a:lnTo>
                  <a:lnTo>
                    <a:pt x="0" y="151091"/>
                  </a:lnTo>
                  <a:lnTo>
                    <a:pt x="3151" y="158996"/>
                  </a:lnTo>
                  <a:lnTo>
                    <a:pt x="9275" y="164575"/>
                  </a:lnTo>
                  <a:lnTo>
                    <a:pt x="17816" y="166687"/>
                  </a:lnTo>
                  <a:lnTo>
                    <a:pt x="410202" y="166687"/>
                  </a:lnTo>
                  <a:lnTo>
                    <a:pt x="418737" y="164575"/>
                  </a:lnTo>
                  <a:lnTo>
                    <a:pt x="424850" y="158996"/>
                  </a:lnTo>
                  <a:lnTo>
                    <a:pt x="428000" y="151091"/>
                  </a:lnTo>
                  <a:lnTo>
                    <a:pt x="427644" y="141996"/>
                  </a:lnTo>
                  <a:lnTo>
                    <a:pt x="410442" y="98379"/>
                  </a:lnTo>
                  <a:lnTo>
                    <a:pt x="383427" y="62816"/>
                  </a:lnTo>
                  <a:lnTo>
                    <a:pt x="348438" y="35251"/>
                  </a:lnTo>
                  <a:lnTo>
                    <a:pt x="307312" y="15630"/>
                  </a:lnTo>
                  <a:lnTo>
                    <a:pt x="261887" y="3898"/>
                  </a:lnTo>
                  <a:lnTo>
                    <a:pt x="214002" y="0"/>
                  </a:lnTo>
                  <a:close/>
                </a:path>
              </a:pathLst>
            </a:custGeom>
            <a:ln w="47624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3335" y="2690812"/>
              <a:ext cx="205382" cy="22026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525106" y="2962498"/>
              <a:ext cx="259079" cy="133350"/>
            </a:xfrm>
            <a:custGeom>
              <a:avLst/>
              <a:gdLst/>
              <a:ahLst/>
              <a:cxnLst/>
              <a:rect l="l" t="t" r="r" b="b"/>
              <a:pathLst>
                <a:path w="259079" h="133350">
                  <a:moveTo>
                    <a:pt x="258728" y="17040"/>
                  </a:moveTo>
                  <a:lnTo>
                    <a:pt x="238085" y="9185"/>
                  </a:lnTo>
                  <a:lnTo>
                    <a:pt x="216509" y="3904"/>
                  </a:lnTo>
                  <a:lnTo>
                    <a:pt x="194091" y="931"/>
                  </a:lnTo>
                  <a:lnTo>
                    <a:pt x="170920" y="0"/>
                  </a:lnTo>
                  <a:lnTo>
                    <a:pt x="125249" y="4600"/>
                  </a:lnTo>
                  <a:lnTo>
                    <a:pt x="82804" y="18338"/>
                  </a:lnTo>
                  <a:lnTo>
                    <a:pt x="46131" y="41115"/>
                  </a:lnTo>
                  <a:lnTo>
                    <a:pt x="17777" y="72837"/>
                  </a:lnTo>
                  <a:lnTo>
                    <a:pt x="288" y="113407"/>
                  </a:lnTo>
                  <a:lnTo>
                    <a:pt x="0" y="120669"/>
                  </a:lnTo>
                  <a:lnTo>
                    <a:pt x="2522" y="126983"/>
                  </a:lnTo>
                  <a:lnTo>
                    <a:pt x="7414" y="131439"/>
                  </a:lnTo>
                  <a:lnTo>
                    <a:pt x="14233" y="133126"/>
                  </a:lnTo>
                  <a:lnTo>
                    <a:pt x="181337" y="133126"/>
                  </a:lnTo>
                </a:path>
              </a:pathLst>
            </a:custGeom>
            <a:ln w="47624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18872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核心定义</a:t>
            </a:r>
            <a:r>
              <a:rPr spc="-235" dirty="0">
                <a:latin typeface="Malgun Gothic" panose="020B0503020000020004" charset="-127"/>
                <a:cs typeface="Malgun Gothic" panose="020B0503020000020004" charset="-127"/>
              </a:rPr>
              <a:t>：</a:t>
            </a:r>
            <a:r>
              <a:rPr sz="3300" spc="-235" dirty="0">
                <a:latin typeface="Noto Sans SC" panose="020B0500000000000000" charset="-122"/>
                <a:cs typeface="Noto Sans SC" panose="020B0500000000000000" charset="-122"/>
              </a:rPr>
              <a:t>AI</a:t>
            </a:r>
            <a:r>
              <a:rPr spc="-370" dirty="0"/>
              <a:t>世界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里的</a:t>
            </a:r>
            <a:r>
              <a:rPr sz="3300" spc="-330" dirty="0">
                <a:latin typeface="Noto Sans SC" panose="020B0500000000000000" charset="-122"/>
                <a:cs typeface="Noto Sans SC" panose="020B0500000000000000" charset="-122"/>
              </a:rPr>
              <a:t>“</a:t>
            </a:r>
            <a:r>
              <a:rPr spc="-370" dirty="0"/>
              <a:t>专家团队</a:t>
            </a:r>
            <a:r>
              <a:rPr sz="3300" spc="-380" dirty="0">
                <a:latin typeface="Noto Sans SC" panose="020B0500000000000000" charset="-122"/>
                <a:cs typeface="Noto Sans SC" panose="020B0500000000000000" charset="-122"/>
              </a:rPr>
              <a:t>”</a:t>
            </a:r>
            <a:endParaRPr sz="3300">
              <a:latin typeface="Noto Sans SC" panose="020B0500000000000000" charset="-122"/>
              <a:cs typeface="Noto Sans SC" panose="020B0500000000000000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1504949"/>
            <a:ext cx="4762499" cy="4876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30524" y="2733929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-27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主智能体</a:t>
            </a:r>
            <a:endParaRPr sz="235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8924" y="3402202"/>
            <a:ext cx="3835400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25000"/>
              </a:lnSpc>
              <a:spcBef>
                <a:spcPts val="100"/>
              </a:spcBef>
            </a:pP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如同团队的</a:t>
            </a:r>
            <a:r>
              <a:rPr sz="1700" spc="91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项目经理</a:t>
            </a:r>
            <a:r>
              <a:rPr sz="1700" spc="91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700" spc="-19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。负责理解最终目</a:t>
            </a:r>
            <a:r>
              <a:rPr sz="17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标，将复杂任务分解成多个小任务，并分配给最合适的</a:t>
            </a:r>
            <a:r>
              <a:rPr sz="1700" spc="91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专家</a:t>
            </a:r>
            <a:r>
              <a:rPr sz="1700" spc="91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7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34124" y="1504949"/>
            <a:ext cx="4762500" cy="4876800"/>
            <a:chOff x="6334124" y="1504949"/>
            <a:chExt cx="4762500" cy="4876800"/>
          </a:xfrm>
        </p:grpSpPr>
        <p:sp>
          <p:nvSpPr>
            <p:cNvPr id="7" name="object 7"/>
            <p:cNvSpPr/>
            <p:nvPr/>
          </p:nvSpPr>
          <p:spPr>
            <a:xfrm>
              <a:off x="6338887" y="1509712"/>
              <a:ext cx="4752975" cy="4867275"/>
            </a:xfrm>
            <a:custGeom>
              <a:avLst/>
              <a:gdLst/>
              <a:ahLst/>
              <a:cxnLst/>
              <a:rect l="l" t="t" r="r" b="b"/>
              <a:pathLst>
                <a:path w="4752975" h="4867275">
                  <a:moveTo>
                    <a:pt x="4650628" y="4867274"/>
                  </a:moveTo>
                  <a:lnTo>
                    <a:pt x="102344" y="4867274"/>
                  </a:lnTo>
                  <a:lnTo>
                    <a:pt x="95221" y="4866572"/>
                  </a:lnTo>
                  <a:lnTo>
                    <a:pt x="54661" y="4852809"/>
                  </a:lnTo>
                  <a:lnTo>
                    <a:pt x="22455" y="4824572"/>
                  </a:lnTo>
                  <a:lnTo>
                    <a:pt x="3507" y="4786160"/>
                  </a:lnTo>
                  <a:lnTo>
                    <a:pt x="0" y="4764929"/>
                  </a:lnTo>
                  <a:lnTo>
                    <a:pt x="0" y="47577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7" y="26996"/>
                  </a:lnTo>
                  <a:lnTo>
                    <a:pt x="74262" y="5585"/>
                  </a:lnTo>
                  <a:lnTo>
                    <a:pt x="102344" y="0"/>
                  </a:lnTo>
                  <a:lnTo>
                    <a:pt x="4650628" y="0"/>
                  </a:lnTo>
                  <a:lnTo>
                    <a:pt x="4691999" y="11090"/>
                  </a:lnTo>
                  <a:lnTo>
                    <a:pt x="4725975" y="37168"/>
                  </a:lnTo>
                  <a:lnTo>
                    <a:pt x="4747386" y="74263"/>
                  </a:lnTo>
                  <a:lnTo>
                    <a:pt x="4752974" y="102345"/>
                  </a:lnTo>
                  <a:lnTo>
                    <a:pt x="4752974" y="4764929"/>
                  </a:lnTo>
                  <a:lnTo>
                    <a:pt x="4741882" y="4806299"/>
                  </a:lnTo>
                  <a:lnTo>
                    <a:pt x="4715804" y="4840276"/>
                  </a:lnTo>
                  <a:lnTo>
                    <a:pt x="4678709" y="4861688"/>
                  </a:lnTo>
                  <a:lnTo>
                    <a:pt x="4657752" y="4866572"/>
                  </a:lnTo>
                  <a:lnTo>
                    <a:pt x="4650628" y="4867274"/>
                  </a:lnTo>
                  <a:close/>
                </a:path>
              </a:pathLst>
            </a:custGeom>
            <a:solidFill>
              <a:srgbClr val="00BCD4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38887" y="1509712"/>
              <a:ext cx="4752975" cy="4867275"/>
            </a:xfrm>
            <a:custGeom>
              <a:avLst/>
              <a:gdLst/>
              <a:ahLst/>
              <a:cxnLst/>
              <a:rect l="l" t="t" r="r" b="b"/>
              <a:pathLst>
                <a:path w="4752975" h="4867275">
                  <a:moveTo>
                    <a:pt x="0" y="47577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42700" y="22456"/>
                  </a:lnTo>
                  <a:lnTo>
                    <a:pt x="81112" y="3507"/>
                  </a:lnTo>
                  <a:lnTo>
                    <a:pt x="102344" y="0"/>
                  </a:lnTo>
                  <a:lnTo>
                    <a:pt x="109537" y="0"/>
                  </a:lnTo>
                  <a:lnTo>
                    <a:pt x="4643437" y="0"/>
                  </a:lnTo>
                  <a:lnTo>
                    <a:pt x="4650628" y="0"/>
                  </a:lnTo>
                  <a:lnTo>
                    <a:pt x="4657752" y="701"/>
                  </a:lnTo>
                  <a:lnTo>
                    <a:pt x="4664806" y="2104"/>
                  </a:lnTo>
                  <a:lnTo>
                    <a:pt x="4671860" y="3507"/>
                  </a:lnTo>
                  <a:lnTo>
                    <a:pt x="4710271" y="22456"/>
                  </a:lnTo>
                  <a:lnTo>
                    <a:pt x="4738508" y="54661"/>
                  </a:lnTo>
                  <a:lnTo>
                    <a:pt x="4750868" y="88167"/>
                  </a:lnTo>
                  <a:lnTo>
                    <a:pt x="4752272" y="95221"/>
                  </a:lnTo>
                  <a:lnTo>
                    <a:pt x="4752974" y="102345"/>
                  </a:lnTo>
                  <a:lnTo>
                    <a:pt x="4752974" y="109537"/>
                  </a:lnTo>
                  <a:lnTo>
                    <a:pt x="4752974" y="4757737"/>
                  </a:lnTo>
                  <a:lnTo>
                    <a:pt x="4752974" y="4764929"/>
                  </a:lnTo>
                  <a:lnTo>
                    <a:pt x="4752272" y="4772052"/>
                  </a:lnTo>
                  <a:lnTo>
                    <a:pt x="4750868" y="4779106"/>
                  </a:lnTo>
                  <a:lnTo>
                    <a:pt x="4749465" y="4786160"/>
                  </a:lnTo>
                  <a:lnTo>
                    <a:pt x="4747386" y="4793010"/>
                  </a:lnTo>
                  <a:lnTo>
                    <a:pt x="4744634" y="4799654"/>
                  </a:lnTo>
                  <a:lnTo>
                    <a:pt x="4741882" y="4806299"/>
                  </a:lnTo>
                  <a:lnTo>
                    <a:pt x="4715804" y="4840276"/>
                  </a:lnTo>
                  <a:lnTo>
                    <a:pt x="4685354" y="4858935"/>
                  </a:lnTo>
                  <a:lnTo>
                    <a:pt x="4678709" y="4861688"/>
                  </a:lnTo>
                  <a:lnTo>
                    <a:pt x="4671860" y="4863766"/>
                  </a:lnTo>
                  <a:lnTo>
                    <a:pt x="4664806" y="4865169"/>
                  </a:lnTo>
                  <a:lnTo>
                    <a:pt x="4657752" y="4866572"/>
                  </a:lnTo>
                  <a:lnTo>
                    <a:pt x="4650628" y="4867274"/>
                  </a:lnTo>
                  <a:lnTo>
                    <a:pt x="4643437" y="4867274"/>
                  </a:lnTo>
                  <a:lnTo>
                    <a:pt x="109537" y="4867274"/>
                  </a:lnTo>
                  <a:lnTo>
                    <a:pt x="102344" y="4867274"/>
                  </a:lnTo>
                  <a:lnTo>
                    <a:pt x="95221" y="4866572"/>
                  </a:lnTo>
                  <a:lnTo>
                    <a:pt x="88166" y="4865169"/>
                  </a:lnTo>
                  <a:lnTo>
                    <a:pt x="81112" y="4863766"/>
                  </a:lnTo>
                  <a:lnTo>
                    <a:pt x="74262" y="4861688"/>
                  </a:lnTo>
                  <a:lnTo>
                    <a:pt x="67618" y="4858935"/>
                  </a:lnTo>
                  <a:lnTo>
                    <a:pt x="60974" y="4856182"/>
                  </a:lnTo>
                  <a:lnTo>
                    <a:pt x="32082" y="4835191"/>
                  </a:lnTo>
                  <a:lnTo>
                    <a:pt x="26996" y="4830105"/>
                  </a:lnTo>
                  <a:lnTo>
                    <a:pt x="22455" y="4824572"/>
                  </a:lnTo>
                  <a:lnTo>
                    <a:pt x="18459" y="4818592"/>
                  </a:lnTo>
                  <a:lnTo>
                    <a:pt x="14464" y="4812611"/>
                  </a:lnTo>
                  <a:lnTo>
                    <a:pt x="11090" y="4806299"/>
                  </a:lnTo>
                  <a:lnTo>
                    <a:pt x="8337" y="4799654"/>
                  </a:lnTo>
                  <a:lnTo>
                    <a:pt x="5585" y="4793010"/>
                  </a:lnTo>
                  <a:lnTo>
                    <a:pt x="3507" y="4786160"/>
                  </a:lnTo>
                  <a:lnTo>
                    <a:pt x="2104" y="4779106"/>
                  </a:lnTo>
                  <a:lnTo>
                    <a:pt x="701" y="4772052"/>
                  </a:lnTo>
                  <a:lnTo>
                    <a:pt x="0" y="4764929"/>
                  </a:lnTo>
                  <a:lnTo>
                    <a:pt x="0" y="4757737"/>
                  </a:lnTo>
                  <a:close/>
                </a:path>
              </a:pathLst>
            </a:custGeom>
            <a:ln w="9524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169275" y="2733929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-27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子智能体</a:t>
            </a:r>
            <a:endParaRPr sz="235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97675" y="3402202"/>
            <a:ext cx="3835400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1700" spc="-21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如同团队里拥有特定技能的</a:t>
            </a:r>
            <a:r>
              <a:rPr sz="1700" spc="919" dirty="0">
                <a:solidFill>
                  <a:srgbClr val="DFE7EC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700" spc="-21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专家成员</a:t>
            </a:r>
            <a:r>
              <a:rPr sz="1700" spc="355" dirty="0">
                <a:solidFill>
                  <a:srgbClr val="DFE7EC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700" spc="10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，例</a:t>
            </a:r>
            <a:r>
              <a:rPr sz="1700" spc="-21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如数据分析师、信息搜集员、代码程序员等。它们接收并专注于完成自己被分配的子任务。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02835" y="2062162"/>
            <a:ext cx="625475" cy="333375"/>
            <a:chOff x="8402835" y="2062162"/>
            <a:chExt cx="625475" cy="3333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0865" y="2194340"/>
              <a:ext cx="69019" cy="690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8067" y="2194340"/>
              <a:ext cx="69019" cy="690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63663" y="2194340"/>
              <a:ext cx="69019" cy="6901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423671" y="2082998"/>
              <a:ext cx="583565" cy="292100"/>
            </a:xfrm>
            <a:custGeom>
              <a:avLst/>
              <a:gdLst/>
              <a:ahLst/>
              <a:cxnLst/>
              <a:rect l="l" t="t" r="r" b="b"/>
              <a:pathLst>
                <a:path w="583565" h="292100">
                  <a:moveTo>
                    <a:pt x="166687" y="291703"/>
                  </a:moveTo>
                  <a:lnTo>
                    <a:pt x="0" y="145851"/>
                  </a:lnTo>
                  <a:lnTo>
                    <a:pt x="166687" y="0"/>
                  </a:lnTo>
                </a:path>
                <a:path w="583565" h="292100">
                  <a:moveTo>
                    <a:pt x="416718" y="291703"/>
                  </a:moveTo>
                  <a:lnTo>
                    <a:pt x="583406" y="145851"/>
                  </a:lnTo>
                  <a:lnTo>
                    <a:pt x="416718" y="0"/>
                  </a:lnTo>
                </a:path>
              </a:pathLst>
            </a:custGeom>
            <a:ln w="41671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7255" y="471169"/>
            <a:ext cx="4357370" cy="5422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工作模式：管理者</a:t>
            </a:r>
            <a:r>
              <a:rPr spc="-13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pc="-370" dirty="0"/>
              <a:t>执</a:t>
            </a:r>
            <a:r>
              <a:rPr spc="-395" dirty="0">
                <a:latin typeface="Malgun Gothic" panose="020B0503020000020004" charset="-127"/>
                <a:cs typeface="Malgun Gothic" panose="020B0503020000020004" charset="-127"/>
              </a:rPr>
              <a:t>行者</a:t>
            </a:r>
            <a:endParaRPr spc="-395" dirty="0">
              <a:latin typeface="Malgun Gothic" panose="020B0503020000020004" charset="-127"/>
              <a:cs typeface="Malgun Gothic" panose="020B0503020000020004" charset="-127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1999" y="1409699"/>
            <a:ext cx="2095500" cy="4972050"/>
            <a:chOff x="761999" y="1409699"/>
            <a:chExt cx="2095500" cy="4972050"/>
          </a:xfrm>
        </p:grpSpPr>
        <p:sp>
          <p:nvSpPr>
            <p:cNvPr id="4" name="object 4"/>
            <p:cNvSpPr/>
            <p:nvPr/>
          </p:nvSpPr>
          <p:spPr>
            <a:xfrm>
              <a:off x="766762" y="1414462"/>
              <a:ext cx="2085975" cy="4962525"/>
            </a:xfrm>
            <a:custGeom>
              <a:avLst/>
              <a:gdLst/>
              <a:ahLst/>
              <a:cxnLst/>
              <a:rect l="l" t="t" r="r" b="b"/>
              <a:pathLst>
                <a:path w="2085975" h="4962525">
                  <a:moveTo>
                    <a:pt x="1983629" y="4962524"/>
                  </a:moveTo>
                  <a:lnTo>
                    <a:pt x="102345" y="4962524"/>
                  </a:lnTo>
                  <a:lnTo>
                    <a:pt x="95221" y="4961822"/>
                  </a:lnTo>
                  <a:lnTo>
                    <a:pt x="54661" y="4948059"/>
                  </a:lnTo>
                  <a:lnTo>
                    <a:pt x="22456" y="4919822"/>
                  </a:lnTo>
                  <a:lnTo>
                    <a:pt x="3507" y="4881410"/>
                  </a:lnTo>
                  <a:lnTo>
                    <a:pt x="0" y="4860179"/>
                  </a:lnTo>
                  <a:lnTo>
                    <a:pt x="0" y="485298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1983629" y="0"/>
                  </a:lnTo>
                  <a:lnTo>
                    <a:pt x="2024999" y="11090"/>
                  </a:lnTo>
                  <a:lnTo>
                    <a:pt x="2058977" y="37168"/>
                  </a:lnTo>
                  <a:lnTo>
                    <a:pt x="2080388" y="74263"/>
                  </a:lnTo>
                  <a:lnTo>
                    <a:pt x="2085974" y="102345"/>
                  </a:lnTo>
                  <a:lnTo>
                    <a:pt x="2085974" y="4860179"/>
                  </a:lnTo>
                  <a:lnTo>
                    <a:pt x="2074883" y="4901549"/>
                  </a:lnTo>
                  <a:lnTo>
                    <a:pt x="2048806" y="4935526"/>
                  </a:lnTo>
                  <a:lnTo>
                    <a:pt x="2011710" y="4956938"/>
                  </a:lnTo>
                  <a:lnTo>
                    <a:pt x="1990752" y="4961822"/>
                  </a:lnTo>
                  <a:lnTo>
                    <a:pt x="1983629" y="4962524"/>
                  </a:lnTo>
                  <a:close/>
                </a:path>
              </a:pathLst>
            </a:custGeom>
            <a:solidFill>
              <a:srgbClr val="293F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6762" y="1414462"/>
              <a:ext cx="2085975" cy="4962525"/>
            </a:xfrm>
            <a:custGeom>
              <a:avLst/>
              <a:gdLst/>
              <a:ahLst/>
              <a:cxnLst/>
              <a:rect l="l" t="t" r="r" b="b"/>
              <a:pathLst>
                <a:path w="2085975" h="4962525">
                  <a:moveTo>
                    <a:pt x="0" y="48529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976437" y="0"/>
                  </a:lnTo>
                  <a:lnTo>
                    <a:pt x="1983629" y="0"/>
                  </a:lnTo>
                  <a:lnTo>
                    <a:pt x="1990752" y="701"/>
                  </a:lnTo>
                  <a:lnTo>
                    <a:pt x="1997806" y="2104"/>
                  </a:lnTo>
                  <a:lnTo>
                    <a:pt x="2004860" y="3507"/>
                  </a:lnTo>
                  <a:lnTo>
                    <a:pt x="2043273" y="22456"/>
                  </a:lnTo>
                  <a:lnTo>
                    <a:pt x="2067513" y="48681"/>
                  </a:lnTo>
                  <a:lnTo>
                    <a:pt x="2071509" y="54661"/>
                  </a:lnTo>
                  <a:lnTo>
                    <a:pt x="2074883" y="60974"/>
                  </a:lnTo>
                  <a:lnTo>
                    <a:pt x="2077636" y="67619"/>
                  </a:lnTo>
                  <a:lnTo>
                    <a:pt x="2080388" y="74263"/>
                  </a:lnTo>
                  <a:lnTo>
                    <a:pt x="2082466" y="81113"/>
                  </a:lnTo>
                  <a:lnTo>
                    <a:pt x="2083869" y="88167"/>
                  </a:lnTo>
                  <a:lnTo>
                    <a:pt x="2085273" y="95221"/>
                  </a:lnTo>
                  <a:lnTo>
                    <a:pt x="2085974" y="102345"/>
                  </a:lnTo>
                  <a:lnTo>
                    <a:pt x="2085974" y="109537"/>
                  </a:lnTo>
                  <a:lnTo>
                    <a:pt x="2085974" y="4852987"/>
                  </a:lnTo>
                  <a:lnTo>
                    <a:pt x="2085974" y="4860179"/>
                  </a:lnTo>
                  <a:lnTo>
                    <a:pt x="2085273" y="4867302"/>
                  </a:lnTo>
                  <a:lnTo>
                    <a:pt x="2083869" y="4874356"/>
                  </a:lnTo>
                  <a:lnTo>
                    <a:pt x="2082466" y="4881410"/>
                  </a:lnTo>
                  <a:lnTo>
                    <a:pt x="2080388" y="4888259"/>
                  </a:lnTo>
                  <a:lnTo>
                    <a:pt x="2077636" y="4894904"/>
                  </a:lnTo>
                  <a:lnTo>
                    <a:pt x="2074883" y="4901549"/>
                  </a:lnTo>
                  <a:lnTo>
                    <a:pt x="2071509" y="4907861"/>
                  </a:lnTo>
                  <a:lnTo>
                    <a:pt x="2067513" y="4913842"/>
                  </a:lnTo>
                  <a:lnTo>
                    <a:pt x="2063518" y="4919822"/>
                  </a:lnTo>
                  <a:lnTo>
                    <a:pt x="2031312" y="4948059"/>
                  </a:lnTo>
                  <a:lnTo>
                    <a:pt x="1997806" y="4960419"/>
                  </a:lnTo>
                  <a:lnTo>
                    <a:pt x="1990752" y="4961822"/>
                  </a:lnTo>
                  <a:lnTo>
                    <a:pt x="1983629" y="4962524"/>
                  </a:lnTo>
                  <a:lnTo>
                    <a:pt x="1976437" y="4962524"/>
                  </a:lnTo>
                  <a:lnTo>
                    <a:pt x="109537" y="4962524"/>
                  </a:lnTo>
                  <a:lnTo>
                    <a:pt x="102345" y="4962524"/>
                  </a:lnTo>
                  <a:lnTo>
                    <a:pt x="95221" y="4961822"/>
                  </a:lnTo>
                  <a:lnTo>
                    <a:pt x="88167" y="4960419"/>
                  </a:lnTo>
                  <a:lnTo>
                    <a:pt x="81113" y="4959016"/>
                  </a:lnTo>
                  <a:lnTo>
                    <a:pt x="74264" y="4956938"/>
                  </a:lnTo>
                  <a:lnTo>
                    <a:pt x="67619" y="4954185"/>
                  </a:lnTo>
                  <a:lnTo>
                    <a:pt x="60974" y="4951432"/>
                  </a:lnTo>
                  <a:lnTo>
                    <a:pt x="32082" y="4930441"/>
                  </a:lnTo>
                  <a:lnTo>
                    <a:pt x="26996" y="4925355"/>
                  </a:lnTo>
                  <a:lnTo>
                    <a:pt x="8337" y="4894904"/>
                  </a:lnTo>
                  <a:lnTo>
                    <a:pt x="5585" y="4888259"/>
                  </a:lnTo>
                  <a:lnTo>
                    <a:pt x="3507" y="4881410"/>
                  </a:lnTo>
                  <a:lnTo>
                    <a:pt x="2104" y="4874356"/>
                  </a:lnTo>
                  <a:lnTo>
                    <a:pt x="701" y="4867302"/>
                  </a:lnTo>
                  <a:lnTo>
                    <a:pt x="0" y="4860179"/>
                  </a:lnTo>
                  <a:lnTo>
                    <a:pt x="0" y="4852987"/>
                  </a:lnTo>
                  <a:close/>
                </a:path>
              </a:pathLst>
            </a:custGeom>
            <a:ln w="9524">
              <a:solidFill>
                <a:srgbClr val="3A54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39849" y="2395982"/>
            <a:ext cx="939800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19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任务分解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1056" y="2841051"/>
            <a:ext cx="115760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-150" dirty="0">
                <a:solidFill>
                  <a:srgbClr val="A0AAB0"/>
                </a:solidFill>
                <a:latin typeface="Noto Sans SC" panose="020B0500000000000000" charset="-122"/>
                <a:cs typeface="Noto Sans SC" panose="020B0500000000000000" charset="-122"/>
              </a:rPr>
              <a:t>Decomposition</a:t>
            </a:r>
            <a:endParaRPr sz="145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5525" y="3188347"/>
            <a:ext cx="1654175" cy="1130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95"/>
              </a:spcBef>
            </a:pP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经理</a:t>
            </a:r>
            <a:r>
              <a:rPr sz="150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主智能体</a:t>
            </a:r>
            <a:r>
              <a:rPr sz="1500" spc="-19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500" spc="-14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接收到用户的高层指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令，如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13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为下季度市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场活动策划方案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19249" y="122872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5" y="296336"/>
                </a:lnTo>
                <a:lnTo>
                  <a:pt x="11130" y="254667"/>
                </a:lnTo>
                <a:lnTo>
                  <a:pt x="915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200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200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7"/>
                </a:lnTo>
                <a:lnTo>
                  <a:pt x="325203" y="325203"/>
                </a:lnTo>
                <a:lnTo>
                  <a:pt x="288427" y="353904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B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746448" y="1291198"/>
            <a:ext cx="12700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-50" dirty="0">
                <a:solidFill>
                  <a:srgbClr val="1A2933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15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46039" y="1782365"/>
            <a:ext cx="327660" cy="417195"/>
            <a:chOff x="1646039" y="1782365"/>
            <a:chExt cx="327660" cy="417195"/>
          </a:xfrm>
        </p:grpSpPr>
        <p:sp>
          <p:nvSpPr>
            <p:cNvPr id="12" name="object 12"/>
            <p:cNvSpPr/>
            <p:nvPr/>
          </p:nvSpPr>
          <p:spPr>
            <a:xfrm>
              <a:off x="1660921" y="1797248"/>
              <a:ext cx="297815" cy="387350"/>
            </a:xfrm>
            <a:custGeom>
              <a:avLst/>
              <a:gdLst/>
              <a:ahLst/>
              <a:cxnLst/>
              <a:rect l="l" t="t" r="r" b="b"/>
              <a:pathLst>
                <a:path w="297814" h="387350">
                  <a:moveTo>
                    <a:pt x="297656" y="161152"/>
                  </a:moveTo>
                  <a:lnTo>
                    <a:pt x="297656" y="342304"/>
                  </a:lnTo>
                  <a:lnTo>
                    <a:pt x="297656" y="348225"/>
                  </a:lnTo>
                  <a:lnTo>
                    <a:pt x="275564" y="381288"/>
                  </a:lnTo>
                  <a:lnTo>
                    <a:pt x="270093" y="383554"/>
                  </a:lnTo>
                  <a:lnTo>
                    <a:pt x="264623" y="385820"/>
                  </a:lnTo>
                  <a:lnTo>
                    <a:pt x="258928" y="386953"/>
                  </a:lnTo>
                  <a:lnTo>
                    <a:pt x="253007" y="386953"/>
                  </a:lnTo>
                  <a:lnTo>
                    <a:pt x="44648" y="386953"/>
                  </a:lnTo>
                  <a:lnTo>
                    <a:pt x="8890" y="369689"/>
                  </a:lnTo>
                  <a:lnTo>
                    <a:pt x="3398" y="359390"/>
                  </a:lnTo>
                  <a:lnTo>
                    <a:pt x="1132" y="353920"/>
                  </a:lnTo>
                  <a:lnTo>
                    <a:pt x="0" y="348225"/>
                  </a:lnTo>
                  <a:lnTo>
                    <a:pt x="0" y="342304"/>
                  </a:lnTo>
                  <a:lnTo>
                    <a:pt x="0" y="44648"/>
                  </a:lnTo>
                  <a:lnTo>
                    <a:pt x="0" y="38727"/>
                  </a:lnTo>
                  <a:lnTo>
                    <a:pt x="1132" y="33032"/>
                  </a:lnTo>
                  <a:lnTo>
                    <a:pt x="27562" y="3398"/>
                  </a:lnTo>
                  <a:lnTo>
                    <a:pt x="33032" y="1132"/>
                  </a:lnTo>
                  <a:lnTo>
                    <a:pt x="38727" y="0"/>
                  </a:lnTo>
                  <a:lnTo>
                    <a:pt x="44648" y="0"/>
                  </a:lnTo>
                  <a:lnTo>
                    <a:pt x="136503" y="0"/>
                  </a:lnTo>
                  <a:lnTo>
                    <a:pt x="288940" y="140112"/>
                  </a:lnTo>
                  <a:lnTo>
                    <a:pt x="297656" y="161152"/>
                  </a:lnTo>
                  <a:close/>
                </a:path>
              </a:pathLst>
            </a:custGeom>
            <a:ln w="2976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794867" y="1789807"/>
              <a:ext cx="171152" cy="1711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35335" y="2020490"/>
              <a:ext cx="149225" cy="74930"/>
            </a:xfrm>
            <a:custGeom>
              <a:avLst/>
              <a:gdLst/>
              <a:ahLst/>
              <a:cxnLst/>
              <a:rect l="l" t="t" r="r" b="b"/>
              <a:pathLst>
                <a:path w="149225" h="74930">
                  <a:moveTo>
                    <a:pt x="0" y="0"/>
                  </a:moveTo>
                  <a:lnTo>
                    <a:pt x="148828" y="0"/>
                  </a:lnTo>
                </a:path>
                <a:path w="149225" h="74930">
                  <a:moveTo>
                    <a:pt x="0" y="74414"/>
                  </a:moveTo>
                  <a:lnTo>
                    <a:pt x="148828" y="74414"/>
                  </a:lnTo>
                </a:path>
              </a:pathLst>
            </a:custGeom>
            <a:ln w="2976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619499" y="1409699"/>
            <a:ext cx="2095500" cy="4972050"/>
            <a:chOff x="3619499" y="1409699"/>
            <a:chExt cx="2095500" cy="4972050"/>
          </a:xfrm>
        </p:grpSpPr>
        <p:sp>
          <p:nvSpPr>
            <p:cNvPr id="16" name="object 16"/>
            <p:cNvSpPr/>
            <p:nvPr/>
          </p:nvSpPr>
          <p:spPr>
            <a:xfrm>
              <a:off x="3624262" y="1414462"/>
              <a:ext cx="2085975" cy="4962525"/>
            </a:xfrm>
            <a:custGeom>
              <a:avLst/>
              <a:gdLst/>
              <a:ahLst/>
              <a:cxnLst/>
              <a:rect l="l" t="t" r="r" b="b"/>
              <a:pathLst>
                <a:path w="2085975" h="4962525">
                  <a:moveTo>
                    <a:pt x="1983629" y="4962524"/>
                  </a:moveTo>
                  <a:lnTo>
                    <a:pt x="102345" y="4962524"/>
                  </a:lnTo>
                  <a:lnTo>
                    <a:pt x="95221" y="4961822"/>
                  </a:lnTo>
                  <a:lnTo>
                    <a:pt x="54661" y="4948059"/>
                  </a:lnTo>
                  <a:lnTo>
                    <a:pt x="22456" y="4919822"/>
                  </a:lnTo>
                  <a:lnTo>
                    <a:pt x="3507" y="4881410"/>
                  </a:lnTo>
                  <a:lnTo>
                    <a:pt x="0" y="4860179"/>
                  </a:lnTo>
                  <a:lnTo>
                    <a:pt x="0" y="485298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1983629" y="0"/>
                  </a:lnTo>
                  <a:lnTo>
                    <a:pt x="2025000" y="11090"/>
                  </a:lnTo>
                  <a:lnTo>
                    <a:pt x="2058977" y="37168"/>
                  </a:lnTo>
                  <a:lnTo>
                    <a:pt x="2080388" y="74263"/>
                  </a:lnTo>
                  <a:lnTo>
                    <a:pt x="2085974" y="102345"/>
                  </a:lnTo>
                  <a:lnTo>
                    <a:pt x="2085974" y="4860179"/>
                  </a:lnTo>
                  <a:lnTo>
                    <a:pt x="2074883" y="4901549"/>
                  </a:lnTo>
                  <a:lnTo>
                    <a:pt x="2048805" y="4935526"/>
                  </a:lnTo>
                  <a:lnTo>
                    <a:pt x="2011711" y="4956938"/>
                  </a:lnTo>
                  <a:lnTo>
                    <a:pt x="1990753" y="4961822"/>
                  </a:lnTo>
                  <a:lnTo>
                    <a:pt x="1983629" y="4962524"/>
                  </a:lnTo>
                  <a:close/>
                </a:path>
              </a:pathLst>
            </a:custGeom>
            <a:solidFill>
              <a:srgbClr val="293F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624262" y="1414462"/>
              <a:ext cx="2085975" cy="4962525"/>
            </a:xfrm>
            <a:custGeom>
              <a:avLst/>
              <a:gdLst/>
              <a:ahLst/>
              <a:cxnLst/>
              <a:rect l="l" t="t" r="r" b="b"/>
              <a:pathLst>
                <a:path w="2085975" h="4962525">
                  <a:moveTo>
                    <a:pt x="0" y="48529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976437" y="0"/>
                  </a:lnTo>
                  <a:lnTo>
                    <a:pt x="1983629" y="0"/>
                  </a:lnTo>
                  <a:lnTo>
                    <a:pt x="1990753" y="701"/>
                  </a:lnTo>
                  <a:lnTo>
                    <a:pt x="1997807" y="2104"/>
                  </a:lnTo>
                  <a:lnTo>
                    <a:pt x="2004861" y="3507"/>
                  </a:lnTo>
                  <a:lnTo>
                    <a:pt x="2011711" y="5585"/>
                  </a:lnTo>
                  <a:lnTo>
                    <a:pt x="2018355" y="8337"/>
                  </a:lnTo>
                  <a:lnTo>
                    <a:pt x="2025000" y="11090"/>
                  </a:lnTo>
                  <a:lnTo>
                    <a:pt x="2031312" y="14464"/>
                  </a:lnTo>
                  <a:lnTo>
                    <a:pt x="2037292" y="18460"/>
                  </a:lnTo>
                  <a:lnTo>
                    <a:pt x="2043273" y="22456"/>
                  </a:lnTo>
                  <a:lnTo>
                    <a:pt x="2067514" y="48681"/>
                  </a:lnTo>
                  <a:lnTo>
                    <a:pt x="2071509" y="54661"/>
                  </a:lnTo>
                  <a:lnTo>
                    <a:pt x="2085272" y="95221"/>
                  </a:lnTo>
                  <a:lnTo>
                    <a:pt x="2085975" y="109537"/>
                  </a:lnTo>
                  <a:lnTo>
                    <a:pt x="2085975" y="4852987"/>
                  </a:lnTo>
                  <a:lnTo>
                    <a:pt x="2077636" y="4894904"/>
                  </a:lnTo>
                  <a:lnTo>
                    <a:pt x="2053892" y="4930441"/>
                  </a:lnTo>
                  <a:lnTo>
                    <a:pt x="2018355" y="4954185"/>
                  </a:lnTo>
                  <a:lnTo>
                    <a:pt x="2011711" y="4956938"/>
                  </a:lnTo>
                  <a:lnTo>
                    <a:pt x="2004861" y="4959016"/>
                  </a:lnTo>
                  <a:lnTo>
                    <a:pt x="1997807" y="4960419"/>
                  </a:lnTo>
                  <a:lnTo>
                    <a:pt x="1990753" y="4961822"/>
                  </a:lnTo>
                  <a:lnTo>
                    <a:pt x="1983629" y="4962524"/>
                  </a:lnTo>
                  <a:lnTo>
                    <a:pt x="1976437" y="4962524"/>
                  </a:lnTo>
                  <a:lnTo>
                    <a:pt x="109537" y="4962524"/>
                  </a:lnTo>
                  <a:lnTo>
                    <a:pt x="102345" y="4962524"/>
                  </a:lnTo>
                  <a:lnTo>
                    <a:pt x="95221" y="4961822"/>
                  </a:lnTo>
                  <a:lnTo>
                    <a:pt x="88167" y="4960419"/>
                  </a:lnTo>
                  <a:lnTo>
                    <a:pt x="81113" y="4959016"/>
                  </a:lnTo>
                  <a:lnTo>
                    <a:pt x="42701" y="4940067"/>
                  </a:lnTo>
                  <a:lnTo>
                    <a:pt x="32082" y="4930441"/>
                  </a:lnTo>
                  <a:lnTo>
                    <a:pt x="26997" y="4925355"/>
                  </a:lnTo>
                  <a:lnTo>
                    <a:pt x="22456" y="4919822"/>
                  </a:lnTo>
                  <a:lnTo>
                    <a:pt x="18460" y="4913842"/>
                  </a:lnTo>
                  <a:lnTo>
                    <a:pt x="14464" y="4907861"/>
                  </a:lnTo>
                  <a:lnTo>
                    <a:pt x="11090" y="4901549"/>
                  </a:lnTo>
                  <a:lnTo>
                    <a:pt x="8337" y="4894904"/>
                  </a:lnTo>
                  <a:lnTo>
                    <a:pt x="5585" y="4888259"/>
                  </a:lnTo>
                  <a:lnTo>
                    <a:pt x="3507" y="4881410"/>
                  </a:lnTo>
                  <a:lnTo>
                    <a:pt x="2104" y="4874356"/>
                  </a:lnTo>
                  <a:lnTo>
                    <a:pt x="701" y="4867302"/>
                  </a:lnTo>
                  <a:lnTo>
                    <a:pt x="0" y="4860179"/>
                  </a:lnTo>
                  <a:lnTo>
                    <a:pt x="0" y="4852987"/>
                  </a:lnTo>
                  <a:close/>
                </a:path>
              </a:pathLst>
            </a:custGeom>
            <a:ln w="9524">
              <a:solidFill>
                <a:srgbClr val="3A54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197350" y="2395982"/>
            <a:ext cx="939800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20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任务分</a:t>
            </a:r>
            <a:r>
              <a:rPr sz="2000" b="1" spc="-15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配</a:t>
            </a:r>
            <a:endParaRPr sz="20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76228" y="2841051"/>
            <a:ext cx="7823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-135" dirty="0">
                <a:solidFill>
                  <a:srgbClr val="A0AAB0"/>
                </a:solidFill>
                <a:latin typeface="Noto Sans SC" panose="020B0500000000000000" charset="-122"/>
                <a:cs typeface="Noto Sans SC" panose="020B0500000000000000" charset="-122"/>
              </a:rPr>
              <a:t>Allocation</a:t>
            </a:r>
            <a:endParaRPr sz="145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83025" y="3188347"/>
            <a:ext cx="1568450" cy="139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algn="ctr">
              <a:lnSpc>
                <a:spcPct val="120000"/>
              </a:lnSpc>
              <a:spcBef>
                <a:spcPts val="110"/>
              </a:spcBef>
            </a:pP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经理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16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将任务拆解</a:t>
            </a:r>
            <a:r>
              <a:rPr sz="1500" spc="1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为：</a:t>
            </a:r>
            <a:r>
              <a:rPr sz="1500" spc="3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13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调研竞品动</a:t>
            </a:r>
            <a:r>
              <a:rPr sz="15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态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16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分析用户数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据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16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等，并派发给对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应的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专家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76750" y="1228724"/>
            <a:ext cx="381000" cy="970915"/>
            <a:chOff x="4476750" y="1228724"/>
            <a:chExt cx="381000" cy="970915"/>
          </a:xfrm>
        </p:grpSpPr>
        <p:sp>
          <p:nvSpPr>
            <p:cNvPr id="22" name="object 22"/>
            <p:cNvSpPr/>
            <p:nvPr/>
          </p:nvSpPr>
          <p:spPr>
            <a:xfrm>
              <a:off x="4476750" y="12287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6"/>
                  </a:lnTo>
                  <a:lnTo>
                    <a:pt x="11130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200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200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8421" y="1782365"/>
              <a:ext cx="297656" cy="416718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6476998" y="1409699"/>
            <a:ext cx="2095500" cy="4972050"/>
            <a:chOff x="6476998" y="1409699"/>
            <a:chExt cx="2095500" cy="4972050"/>
          </a:xfrm>
        </p:grpSpPr>
        <p:sp>
          <p:nvSpPr>
            <p:cNvPr id="25" name="object 25"/>
            <p:cNvSpPr/>
            <p:nvPr/>
          </p:nvSpPr>
          <p:spPr>
            <a:xfrm>
              <a:off x="6481761" y="1414462"/>
              <a:ext cx="2085975" cy="4962525"/>
            </a:xfrm>
            <a:custGeom>
              <a:avLst/>
              <a:gdLst/>
              <a:ahLst/>
              <a:cxnLst/>
              <a:rect l="l" t="t" r="r" b="b"/>
              <a:pathLst>
                <a:path w="2085975" h="4962525">
                  <a:moveTo>
                    <a:pt x="1983629" y="4962524"/>
                  </a:moveTo>
                  <a:lnTo>
                    <a:pt x="102345" y="4962524"/>
                  </a:lnTo>
                  <a:lnTo>
                    <a:pt x="95222" y="4961822"/>
                  </a:lnTo>
                  <a:lnTo>
                    <a:pt x="54661" y="4948059"/>
                  </a:lnTo>
                  <a:lnTo>
                    <a:pt x="22455" y="4919822"/>
                  </a:lnTo>
                  <a:lnTo>
                    <a:pt x="3507" y="4881410"/>
                  </a:lnTo>
                  <a:lnTo>
                    <a:pt x="0" y="4860179"/>
                  </a:lnTo>
                  <a:lnTo>
                    <a:pt x="0" y="485298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1983629" y="0"/>
                  </a:lnTo>
                  <a:lnTo>
                    <a:pt x="2025000" y="11090"/>
                  </a:lnTo>
                  <a:lnTo>
                    <a:pt x="2058977" y="37168"/>
                  </a:lnTo>
                  <a:lnTo>
                    <a:pt x="2080388" y="74263"/>
                  </a:lnTo>
                  <a:lnTo>
                    <a:pt x="2085974" y="102345"/>
                  </a:lnTo>
                  <a:lnTo>
                    <a:pt x="2085974" y="4860179"/>
                  </a:lnTo>
                  <a:lnTo>
                    <a:pt x="2074883" y="4901549"/>
                  </a:lnTo>
                  <a:lnTo>
                    <a:pt x="2048806" y="4935526"/>
                  </a:lnTo>
                  <a:lnTo>
                    <a:pt x="2011710" y="4956938"/>
                  </a:lnTo>
                  <a:lnTo>
                    <a:pt x="1990753" y="4961822"/>
                  </a:lnTo>
                  <a:lnTo>
                    <a:pt x="1983629" y="4962524"/>
                  </a:lnTo>
                  <a:close/>
                </a:path>
              </a:pathLst>
            </a:custGeom>
            <a:solidFill>
              <a:srgbClr val="293F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481761" y="1414462"/>
              <a:ext cx="2085975" cy="4962525"/>
            </a:xfrm>
            <a:custGeom>
              <a:avLst/>
              <a:gdLst/>
              <a:ahLst/>
              <a:cxnLst/>
              <a:rect l="l" t="t" r="r" b="b"/>
              <a:pathLst>
                <a:path w="2085975" h="4962525">
                  <a:moveTo>
                    <a:pt x="0" y="48529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1976437" y="0"/>
                  </a:lnTo>
                  <a:lnTo>
                    <a:pt x="1983629" y="0"/>
                  </a:lnTo>
                  <a:lnTo>
                    <a:pt x="1990753" y="701"/>
                  </a:lnTo>
                  <a:lnTo>
                    <a:pt x="2031312" y="14464"/>
                  </a:lnTo>
                  <a:lnTo>
                    <a:pt x="2037292" y="18460"/>
                  </a:lnTo>
                  <a:lnTo>
                    <a:pt x="2043272" y="22456"/>
                  </a:lnTo>
                  <a:lnTo>
                    <a:pt x="2067513" y="48681"/>
                  </a:lnTo>
                  <a:lnTo>
                    <a:pt x="2071509" y="54661"/>
                  </a:lnTo>
                  <a:lnTo>
                    <a:pt x="2074883" y="60974"/>
                  </a:lnTo>
                  <a:lnTo>
                    <a:pt x="2077635" y="67619"/>
                  </a:lnTo>
                  <a:lnTo>
                    <a:pt x="2080388" y="74263"/>
                  </a:lnTo>
                  <a:lnTo>
                    <a:pt x="2082466" y="81113"/>
                  </a:lnTo>
                  <a:lnTo>
                    <a:pt x="2083869" y="88167"/>
                  </a:lnTo>
                  <a:lnTo>
                    <a:pt x="2085273" y="95221"/>
                  </a:lnTo>
                  <a:lnTo>
                    <a:pt x="2085974" y="102345"/>
                  </a:lnTo>
                  <a:lnTo>
                    <a:pt x="2085975" y="109537"/>
                  </a:lnTo>
                  <a:lnTo>
                    <a:pt x="2085975" y="4852987"/>
                  </a:lnTo>
                  <a:lnTo>
                    <a:pt x="2077635" y="4894904"/>
                  </a:lnTo>
                  <a:lnTo>
                    <a:pt x="2074883" y="4901549"/>
                  </a:lnTo>
                  <a:lnTo>
                    <a:pt x="2048806" y="4935526"/>
                  </a:lnTo>
                  <a:lnTo>
                    <a:pt x="2018355" y="4954185"/>
                  </a:lnTo>
                  <a:lnTo>
                    <a:pt x="2011710" y="4956938"/>
                  </a:lnTo>
                  <a:lnTo>
                    <a:pt x="2004860" y="4959016"/>
                  </a:lnTo>
                  <a:lnTo>
                    <a:pt x="1997806" y="4960419"/>
                  </a:lnTo>
                  <a:lnTo>
                    <a:pt x="1990753" y="4961822"/>
                  </a:lnTo>
                  <a:lnTo>
                    <a:pt x="1983629" y="4962524"/>
                  </a:lnTo>
                  <a:lnTo>
                    <a:pt x="1976437" y="4962524"/>
                  </a:lnTo>
                  <a:lnTo>
                    <a:pt x="109538" y="4962524"/>
                  </a:lnTo>
                  <a:lnTo>
                    <a:pt x="102345" y="4962524"/>
                  </a:lnTo>
                  <a:lnTo>
                    <a:pt x="95222" y="4961822"/>
                  </a:lnTo>
                  <a:lnTo>
                    <a:pt x="88167" y="4960419"/>
                  </a:lnTo>
                  <a:lnTo>
                    <a:pt x="81113" y="4959016"/>
                  </a:lnTo>
                  <a:lnTo>
                    <a:pt x="74263" y="4956938"/>
                  </a:lnTo>
                  <a:lnTo>
                    <a:pt x="67619" y="4954185"/>
                  </a:lnTo>
                  <a:lnTo>
                    <a:pt x="60974" y="4951432"/>
                  </a:lnTo>
                  <a:lnTo>
                    <a:pt x="32082" y="4930441"/>
                  </a:lnTo>
                  <a:lnTo>
                    <a:pt x="26996" y="4925355"/>
                  </a:lnTo>
                  <a:lnTo>
                    <a:pt x="22455" y="4919822"/>
                  </a:lnTo>
                  <a:lnTo>
                    <a:pt x="18459" y="4913842"/>
                  </a:lnTo>
                  <a:lnTo>
                    <a:pt x="14464" y="4907861"/>
                  </a:lnTo>
                  <a:lnTo>
                    <a:pt x="11090" y="4901549"/>
                  </a:lnTo>
                  <a:lnTo>
                    <a:pt x="8337" y="4894904"/>
                  </a:lnTo>
                  <a:lnTo>
                    <a:pt x="5585" y="4888259"/>
                  </a:lnTo>
                  <a:lnTo>
                    <a:pt x="3507" y="4881410"/>
                  </a:lnTo>
                  <a:lnTo>
                    <a:pt x="2104" y="4874356"/>
                  </a:lnTo>
                  <a:lnTo>
                    <a:pt x="701" y="4867302"/>
                  </a:lnTo>
                  <a:lnTo>
                    <a:pt x="0" y="4860179"/>
                  </a:lnTo>
                  <a:lnTo>
                    <a:pt x="0" y="4852987"/>
                  </a:lnTo>
                  <a:close/>
                </a:path>
              </a:pathLst>
            </a:custGeom>
            <a:ln w="9524">
              <a:solidFill>
                <a:srgbClr val="3A54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054850" y="2395982"/>
            <a:ext cx="939800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19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独立执行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43998" y="2841051"/>
            <a:ext cx="76200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-150" dirty="0">
                <a:solidFill>
                  <a:srgbClr val="A0AAB0"/>
                </a:solidFill>
                <a:latin typeface="Noto Sans SC" panose="020B0500000000000000" charset="-122"/>
                <a:cs typeface="Noto Sans SC" panose="020B0500000000000000" charset="-122"/>
              </a:rPr>
              <a:t>Execution</a:t>
            </a:r>
            <a:endParaRPr sz="145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40525" y="3188347"/>
            <a:ext cx="1568450" cy="139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algn="ctr">
              <a:lnSpc>
                <a:spcPct val="120000"/>
              </a:lnSpc>
              <a:spcBef>
                <a:spcPts val="110"/>
              </a:spcBef>
            </a:pP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每个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专家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17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在自己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办公室</a:t>
            </a:r>
            <a:r>
              <a:rPr sz="150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500" spc="-1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独立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上下文）</a:t>
            </a:r>
            <a:r>
              <a:rPr sz="1500" spc="-16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里工作，互</a:t>
            </a:r>
            <a:r>
              <a:rPr sz="1500" spc="-15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不干扰，高效完成任</a:t>
            </a:r>
            <a:r>
              <a:rPr sz="1500" spc="-1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务。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334250" y="122872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5" y="296336"/>
                </a:lnTo>
                <a:lnTo>
                  <a:pt x="11130" y="254667"/>
                </a:lnTo>
                <a:lnTo>
                  <a:pt x="915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200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200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7"/>
                </a:lnTo>
                <a:lnTo>
                  <a:pt x="325203" y="325203"/>
                </a:lnTo>
                <a:lnTo>
                  <a:pt x="288427" y="353904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B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603948" y="1291198"/>
            <a:ext cx="298450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69565" algn="l"/>
              </a:tabLst>
            </a:pPr>
            <a:r>
              <a:rPr sz="1500" b="1" spc="-50" dirty="0">
                <a:solidFill>
                  <a:srgbClr val="1A2933"/>
                </a:solidFill>
                <a:latin typeface="Trebuchet MS" panose="020B0603020202020204"/>
                <a:cs typeface="Trebuchet MS" panose="020B0603020202020204"/>
              </a:rPr>
              <a:t>2</a:t>
            </a:r>
            <a:r>
              <a:rPr sz="1500" b="1" dirty="0">
                <a:solidFill>
                  <a:srgbClr val="1A2933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1500" b="1" spc="-50" dirty="0">
                <a:solidFill>
                  <a:srgbClr val="1A2933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15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316390" y="1841896"/>
            <a:ext cx="417195" cy="297815"/>
          </a:xfrm>
          <a:custGeom>
            <a:avLst/>
            <a:gdLst/>
            <a:ahLst/>
            <a:cxnLst/>
            <a:rect l="l" t="t" r="r" b="b"/>
            <a:pathLst>
              <a:path w="417195" h="297814">
                <a:moveTo>
                  <a:pt x="119062" y="253007"/>
                </a:moveTo>
                <a:lnTo>
                  <a:pt x="0" y="148828"/>
                </a:lnTo>
                <a:lnTo>
                  <a:pt x="119062" y="44648"/>
                </a:lnTo>
              </a:path>
              <a:path w="417195" h="297814">
                <a:moveTo>
                  <a:pt x="297656" y="253007"/>
                </a:moveTo>
                <a:lnTo>
                  <a:pt x="416718" y="148828"/>
                </a:lnTo>
                <a:lnTo>
                  <a:pt x="297656" y="44648"/>
                </a:lnTo>
              </a:path>
              <a:path w="417195" h="297814">
                <a:moveTo>
                  <a:pt x="253007" y="0"/>
                </a:moveTo>
                <a:lnTo>
                  <a:pt x="163710" y="297656"/>
                </a:lnTo>
              </a:path>
            </a:pathLst>
          </a:custGeom>
          <a:ln w="29765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9334498" y="1409699"/>
            <a:ext cx="2095500" cy="4972050"/>
            <a:chOff x="9334498" y="1409699"/>
            <a:chExt cx="2095500" cy="4972050"/>
          </a:xfrm>
        </p:grpSpPr>
        <p:sp>
          <p:nvSpPr>
            <p:cNvPr id="34" name="object 34"/>
            <p:cNvSpPr/>
            <p:nvPr/>
          </p:nvSpPr>
          <p:spPr>
            <a:xfrm>
              <a:off x="9339260" y="1414462"/>
              <a:ext cx="2085975" cy="4962525"/>
            </a:xfrm>
            <a:custGeom>
              <a:avLst/>
              <a:gdLst/>
              <a:ahLst/>
              <a:cxnLst/>
              <a:rect l="l" t="t" r="r" b="b"/>
              <a:pathLst>
                <a:path w="2085975" h="4962525">
                  <a:moveTo>
                    <a:pt x="1983630" y="4962524"/>
                  </a:moveTo>
                  <a:lnTo>
                    <a:pt x="102344" y="4962524"/>
                  </a:lnTo>
                  <a:lnTo>
                    <a:pt x="95221" y="4961822"/>
                  </a:lnTo>
                  <a:lnTo>
                    <a:pt x="54661" y="4948059"/>
                  </a:lnTo>
                  <a:lnTo>
                    <a:pt x="22454" y="4919822"/>
                  </a:lnTo>
                  <a:lnTo>
                    <a:pt x="3507" y="4881410"/>
                  </a:lnTo>
                  <a:lnTo>
                    <a:pt x="0" y="4860179"/>
                  </a:lnTo>
                  <a:lnTo>
                    <a:pt x="0" y="4852987"/>
                  </a:lnTo>
                  <a:lnTo>
                    <a:pt x="0" y="102345"/>
                  </a:lnTo>
                  <a:lnTo>
                    <a:pt x="11089" y="60974"/>
                  </a:lnTo>
                  <a:lnTo>
                    <a:pt x="37167" y="26996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1983630" y="0"/>
                  </a:lnTo>
                  <a:lnTo>
                    <a:pt x="2024998" y="11090"/>
                  </a:lnTo>
                  <a:lnTo>
                    <a:pt x="2058977" y="37168"/>
                  </a:lnTo>
                  <a:lnTo>
                    <a:pt x="2080388" y="74263"/>
                  </a:lnTo>
                  <a:lnTo>
                    <a:pt x="2085975" y="102345"/>
                  </a:lnTo>
                  <a:lnTo>
                    <a:pt x="2085975" y="4860179"/>
                  </a:lnTo>
                  <a:lnTo>
                    <a:pt x="2074884" y="4901549"/>
                  </a:lnTo>
                  <a:lnTo>
                    <a:pt x="2048805" y="4935526"/>
                  </a:lnTo>
                  <a:lnTo>
                    <a:pt x="2011710" y="4956938"/>
                  </a:lnTo>
                  <a:lnTo>
                    <a:pt x="1990753" y="4961822"/>
                  </a:lnTo>
                  <a:lnTo>
                    <a:pt x="1983630" y="4962524"/>
                  </a:lnTo>
                  <a:close/>
                </a:path>
              </a:pathLst>
            </a:custGeom>
            <a:solidFill>
              <a:srgbClr val="00BCD4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339260" y="1414462"/>
              <a:ext cx="2085975" cy="4962525"/>
            </a:xfrm>
            <a:custGeom>
              <a:avLst/>
              <a:gdLst/>
              <a:ahLst/>
              <a:cxnLst/>
              <a:rect l="l" t="t" r="r" b="b"/>
              <a:pathLst>
                <a:path w="2085975" h="4962525">
                  <a:moveTo>
                    <a:pt x="0" y="48529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89" y="60974"/>
                  </a:lnTo>
                  <a:lnTo>
                    <a:pt x="14463" y="54661"/>
                  </a:lnTo>
                  <a:lnTo>
                    <a:pt x="18458" y="48681"/>
                  </a:lnTo>
                  <a:lnTo>
                    <a:pt x="22454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42700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8" y="0"/>
                  </a:lnTo>
                  <a:lnTo>
                    <a:pt x="1976437" y="0"/>
                  </a:lnTo>
                  <a:lnTo>
                    <a:pt x="1983630" y="0"/>
                  </a:lnTo>
                  <a:lnTo>
                    <a:pt x="1990753" y="701"/>
                  </a:lnTo>
                  <a:lnTo>
                    <a:pt x="1997806" y="2104"/>
                  </a:lnTo>
                  <a:lnTo>
                    <a:pt x="2004860" y="3507"/>
                  </a:lnTo>
                  <a:lnTo>
                    <a:pt x="2043272" y="22456"/>
                  </a:lnTo>
                  <a:lnTo>
                    <a:pt x="2053891" y="32082"/>
                  </a:lnTo>
                  <a:lnTo>
                    <a:pt x="2058977" y="37168"/>
                  </a:lnTo>
                  <a:lnTo>
                    <a:pt x="2063517" y="42701"/>
                  </a:lnTo>
                  <a:lnTo>
                    <a:pt x="2067513" y="48681"/>
                  </a:lnTo>
                  <a:lnTo>
                    <a:pt x="2071509" y="54661"/>
                  </a:lnTo>
                  <a:lnTo>
                    <a:pt x="2074884" y="60974"/>
                  </a:lnTo>
                  <a:lnTo>
                    <a:pt x="2077636" y="67619"/>
                  </a:lnTo>
                  <a:lnTo>
                    <a:pt x="2080388" y="74263"/>
                  </a:lnTo>
                  <a:lnTo>
                    <a:pt x="2082466" y="81113"/>
                  </a:lnTo>
                  <a:lnTo>
                    <a:pt x="2083869" y="88167"/>
                  </a:lnTo>
                  <a:lnTo>
                    <a:pt x="2085273" y="95221"/>
                  </a:lnTo>
                  <a:lnTo>
                    <a:pt x="2085975" y="102345"/>
                  </a:lnTo>
                  <a:lnTo>
                    <a:pt x="2085975" y="109537"/>
                  </a:lnTo>
                  <a:lnTo>
                    <a:pt x="2085975" y="4852987"/>
                  </a:lnTo>
                  <a:lnTo>
                    <a:pt x="2085975" y="4860179"/>
                  </a:lnTo>
                  <a:lnTo>
                    <a:pt x="2085273" y="4867302"/>
                  </a:lnTo>
                  <a:lnTo>
                    <a:pt x="2083869" y="4874356"/>
                  </a:lnTo>
                  <a:lnTo>
                    <a:pt x="2082466" y="4881410"/>
                  </a:lnTo>
                  <a:lnTo>
                    <a:pt x="2080388" y="4888259"/>
                  </a:lnTo>
                  <a:lnTo>
                    <a:pt x="2077636" y="4894904"/>
                  </a:lnTo>
                  <a:lnTo>
                    <a:pt x="2074884" y="4901549"/>
                  </a:lnTo>
                  <a:lnTo>
                    <a:pt x="2053891" y="4930441"/>
                  </a:lnTo>
                  <a:lnTo>
                    <a:pt x="2048805" y="4935526"/>
                  </a:lnTo>
                  <a:lnTo>
                    <a:pt x="2043272" y="4940067"/>
                  </a:lnTo>
                  <a:lnTo>
                    <a:pt x="2037291" y="4944063"/>
                  </a:lnTo>
                  <a:lnTo>
                    <a:pt x="2031311" y="4948059"/>
                  </a:lnTo>
                  <a:lnTo>
                    <a:pt x="1997806" y="4960419"/>
                  </a:lnTo>
                  <a:lnTo>
                    <a:pt x="1990753" y="4961822"/>
                  </a:lnTo>
                  <a:lnTo>
                    <a:pt x="1983630" y="4962524"/>
                  </a:lnTo>
                  <a:lnTo>
                    <a:pt x="1976437" y="4962524"/>
                  </a:lnTo>
                  <a:lnTo>
                    <a:pt x="109538" y="4962524"/>
                  </a:lnTo>
                  <a:lnTo>
                    <a:pt x="102344" y="4962524"/>
                  </a:lnTo>
                  <a:lnTo>
                    <a:pt x="95221" y="4961822"/>
                  </a:lnTo>
                  <a:lnTo>
                    <a:pt x="88167" y="4960419"/>
                  </a:lnTo>
                  <a:lnTo>
                    <a:pt x="81113" y="4959016"/>
                  </a:lnTo>
                  <a:lnTo>
                    <a:pt x="74263" y="4956938"/>
                  </a:lnTo>
                  <a:lnTo>
                    <a:pt x="67619" y="4954185"/>
                  </a:lnTo>
                  <a:lnTo>
                    <a:pt x="60974" y="4951432"/>
                  </a:lnTo>
                  <a:lnTo>
                    <a:pt x="32082" y="4930441"/>
                  </a:lnTo>
                  <a:lnTo>
                    <a:pt x="26996" y="4925355"/>
                  </a:lnTo>
                  <a:lnTo>
                    <a:pt x="22454" y="4919822"/>
                  </a:lnTo>
                  <a:lnTo>
                    <a:pt x="18459" y="4913842"/>
                  </a:lnTo>
                  <a:lnTo>
                    <a:pt x="14463" y="4907861"/>
                  </a:lnTo>
                  <a:lnTo>
                    <a:pt x="11089" y="4901549"/>
                  </a:lnTo>
                  <a:lnTo>
                    <a:pt x="8337" y="4894904"/>
                  </a:lnTo>
                  <a:lnTo>
                    <a:pt x="5585" y="4888259"/>
                  </a:lnTo>
                  <a:lnTo>
                    <a:pt x="3507" y="4881410"/>
                  </a:lnTo>
                  <a:lnTo>
                    <a:pt x="2103" y="4874356"/>
                  </a:lnTo>
                  <a:lnTo>
                    <a:pt x="701" y="4867302"/>
                  </a:lnTo>
                  <a:lnTo>
                    <a:pt x="0" y="4860179"/>
                  </a:lnTo>
                  <a:lnTo>
                    <a:pt x="0" y="4852987"/>
                  </a:lnTo>
                  <a:close/>
                </a:path>
              </a:pathLst>
            </a:custGeom>
            <a:ln w="9524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9912349" y="2395982"/>
            <a:ext cx="939800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20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结果</a:t>
            </a:r>
            <a:r>
              <a:rPr sz="2000" b="1" spc="-20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整</a:t>
            </a:r>
            <a:r>
              <a:rPr sz="2000" b="1" spc="-15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合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951342" y="2841051"/>
            <a:ext cx="861694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-140" dirty="0">
                <a:solidFill>
                  <a:srgbClr val="A0AAB0"/>
                </a:solidFill>
                <a:latin typeface="Noto Sans SC" panose="020B0500000000000000" charset="-122"/>
                <a:cs typeface="Noto Sans SC" panose="020B0500000000000000" charset="-122"/>
              </a:rPr>
              <a:t>Integration</a:t>
            </a:r>
            <a:endParaRPr sz="145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598024" y="3188347"/>
            <a:ext cx="1568450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21000"/>
              </a:lnSpc>
              <a:spcBef>
                <a:spcPts val="95"/>
              </a:spcBef>
            </a:pPr>
            <a:r>
              <a:rPr sz="1500" spc="850" dirty="0">
                <a:solidFill>
                  <a:srgbClr val="DFE7EC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15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专家们</a:t>
            </a:r>
            <a:r>
              <a:rPr sz="1500" spc="850" dirty="0">
                <a:solidFill>
                  <a:srgbClr val="DFE7EC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165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将精炼的</a:t>
            </a:r>
            <a:r>
              <a:rPr sz="1500" spc="-15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成果汇报给</a:t>
            </a:r>
            <a:r>
              <a:rPr sz="1500" spc="850" dirty="0">
                <a:solidFill>
                  <a:srgbClr val="DFE7EC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5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经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065" marR="5080" algn="ctr">
              <a:lnSpc>
                <a:spcPct val="119000"/>
              </a:lnSpc>
              <a:spcBef>
                <a:spcPts val="35"/>
              </a:spcBef>
            </a:pPr>
            <a:r>
              <a:rPr sz="1500" spc="-150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1500" spc="350" dirty="0">
                <a:solidFill>
                  <a:srgbClr val="DFE7EC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95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，由其汇总所有</a:t>
            </a:r>
            <a:r>
              <a:rPr sz="1500" spc="-155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信息，形成完整的最</a:t>
            </a:r>
            <a:r>
              <a:rPr sz="1500" spc="-125" dirty="0">
                <a:solidFill>
                  <a:srgbClr val="DFE7E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终方案。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191749" y="122872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5" y="296336"/>
                </a:lnTo>
                <a:lnTo>
                  <a:pt x="11130" y="254667"/>
                </a:lnTo>
                <a:lnTo>
                  <a:pt x="915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200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200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7"/>
                </a:lnTo>
                <a:lnTo>
                  <a:pt x="325203" y="325203"/>
                </a:lnTo>
                <a:lnTo>
                  <a:pt x="288427" y="353904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B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0318947" y="1291198"/>
            <a:ext cx="12700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-50" dirty="0">
                <a:solidFill>
                  <a:srgbClr val="1A2933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15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0188772" y="1797248"/>
            <a:ext cx="387350" cy="387350"/>
            <a:chOff x="10188772" y="1797248"/>
            <a:chExt cx="387350" cy="387350"/>
          </a:xfrm>
        </p:grpSpPr>
        <p:sp>
          <p:nvSpPr>
            <p:cNvPr id="42" name="object 42"/>
            <p:cNvSpPr/>
            <p:nvPr/>
          </p:nvSpPr>
          <p:spPr>
            <a:xfrm>
              <a:off x="10203655" y="1812131"/>
              <a:ext cx="357505" cy="357505"/>
            </a:xfrm>
            <a:custGeom>
              <a:avLst/>
              <a:gdLst/>
              <a:ahLst/>
              <a:cxnLst/>
              <a:rect l="l" t="t" r="r" b="b"/>
              <a:pathLst>
                <a:path w="357504" h="357505">
                  <a:moveTo>
                    <a:pt x="357187" y="178593"/>
                  </a:moveTo>
                  <a:lnTo>
                    <a:pt x="350805" y="131128"/>
                  </a:lnTo>
                  <a:lnTo>
                    <a:pt x="332796" y="88470"/>
                  </a:lnTo>
                  <a:lnTo>
                    <a:pt x="304865" y="52322"/>
                  </a:lnTo>
                  <a:lnTo>
                    <a:pt x="268717" y="24391"/>
                  </a:lnTo>
                  <a:lnTo>
                    <a:pt x="226058" y="6382"/>
                  </a:lnTo>
                  <a:lnTo>
                    <a:pt x="178593" y="0"/>
                  </a:lnTo>
                  <a:lnTo>
                    <a:pt x="131128" y="6382"/>
                  </a:lnTo>
                  <a:lnTo>
                    <a:pt x="88470" y="24391"/>
                  </a:lnTo>
                  <a:lnTo>
                    <a:pt x="52322" y="52322"/>
                  </a:lnTo>
                  <a:lnTo>
                    <a:pt x="24391" y="88470"/>
                  </a:lnTo>
                  <a:lnTo>
                    <a:pt x="6382" y="131128"/>
                  </a:lnTo>
                  <a:lnTo>
                    <a:pt x="0" y="178593"/>
                  </a:lnTo>
                  <a:lnTo>
                    <a:pt x="6382" y="226058"/>
                  </a:lnTo>
                  <a:lnTo>
                    <a:pt x="24391" y="268717"/>
                  </a:lnTo>
                  <a:lnTo>
                    <a:pt x="52322" y="304865"/>
                  </a:lnTo>
                  <a:lnTo>
                    <a:pt x="88470" y="332796"/>
                  </a:lnTo>
                  <a:lnTo>
                    <a:pt x="131128" y="350805"/>
                  </a:lnTo>
                  <a:lnTo>
                    <a:pt x="178593" y="357187"/>
                  </a:lnTo>
                  <a:lnTo>
                    <a:pt x="226058" y="350805"/>
                  </a:lnTo>
                  <a:lnTo>
                    <a:pt x="268717" y="332796"/>
                  </a:lnTo>
                  <a:lnTo>
                    <a:pt x="304865" y="304865"/>
                  </a:lnTo>
                  <a:lnTo>
                    <a:pt x="332796" y="268717"/>
                  </a:lnTo>
                  <a:lnTo>
                    <a:pt x="350805" y="226058"/>
                  </a:lnTo>
                  <a:lnTo>
                    <a:pt x="357187" y="178593"/>
                  </a:lnTo>
                  <a:close/>
                </a:path>
              </a:pathLst>
            </a:custGeom>
            <a:ln w="2976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0278069" y="1931193"/>
              <a:ext cx="208915" cy="119380"/>
            </a:xfrm>
            <a:custGeom>
              <a:avLst/>
              <a:gdLst/>
              <a:ahLst/>
              <a:cxnLst/>
              <a:rect l="l" t="t" r="r" b="b"/>
              <a:pathLst>
                <a:path w="208915" h="119380">
                  <a:moveTo>
                    <a:pt x="208359" y="0"/>
                  </a:moveTo>
                  <a:lnTo>
                    <a:pt x="104300" y="119062"/>
                  </a:lnTo>
                  <a:lnTo>
                    <a:pt x="59698" y="74414"/>
                  </a:lnTo>
                </a:path>
                <a:path w="208915" h="119380">
                  <a:moveTo>
                    <a:pt x="44601" y="119062"/>
                  </a:moveTo>
                  <a:lnTo>
                    <a:pt x="0" y="74414"/>
                  </a:lnTo>
                </a:path>
                <a:path w="208915" h="119380">
                  <a:moveTo>
                    <a:pt x="150418" y="0"/>
                  </a:moveTo>
                  <a:lnTo>
                    <a:pt x="102468" y="54880"/>
                  </a:lnTo>
                </a:path>
              </a:pathLst>
            </a:custGeom>
            <a:ln w="2976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2933997" y="3799284"/>
            <a:ext cx="209550" cy="193040"/>
          </a:xfrm>
          <a:custGeom>
            <a:avLst/>
            <a:gdLst/>
            <a:ahLst/>
            <a:cxnLst/>
            <a:rect l="l" t="t" r="r" b="b"/>
            <a:pathLst>
              <a:path w="209550" h="193039">
                <a:moveTo>
                  <a:pt x="112514" y="0"/>
                </a:moveTo>
                <a:lnTo>
                  <a:pt x="208954" y="96440"/>
                </a:lnTo>
                <a:lnTo>
                  <a:pt x="112514" y="192881"/>
                </a:lnTo>
              </a:path>
              <a:path w="209550" h="193039">
                <a:moveTo>
                  <a:pt x="195560" y="96440"/>
                </a:moveTo>
                <a:lnTo>
                  <a:pt x="0" y="96440"/>
                </a:lnTo>
              </a:path>
            </a:pathLst>
          </a:custGeom>
          <a:ln w="32146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791497" y="3799284"/>
            <a:ext cx="209550" cy="193040"/>
          </a:xfrm>
          <a:custGeom>
            <a:avLst/>
            <a:gdLst/>
            <a:ahLst/>
            <a:cxnLst/>
            <a:rect l="l" t="t" r="r" b="b"/>
            <a:pathLst>
              <a:path w="209550" h="193039">
                <a:moveTo>
                  <a:pt x="112514" y="0"/>
                </a:moveTo>
                <a:lnTo>
                  <a:pt x="208954" y="96440"/>
                </a:lnTo>
                <a:lnTo>
                  <a:pt x="112514" y="192881"/>
                </a:lnTo>
              </a:path>
              <a:path w="209550" h="193039">
                <a:moveTo>
                  <a:pt x="195560" y="96440"/>
                </a:moveTo>
                <a:lnTo>
                  <a:pt x="0" y="96440"/>
                </a:lnTo>
              </a:path>
            </a:pathLst>
          </a:custGeom>
          <a:ln w="32146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648997" y="3799284"/>
            <a:ext cx="209550" cy="193040"/>
          </a:xfrm>
          <a:custGeom>
            <a:avLst/>
            <a:gdLst/>
            <a:ahLst/>
            <a:cxnLst/>
            <a:rect l="l" t="t" r="r" b="b"/>
            <a:pathLst>
              <a:path w="209550" h="193039">
                <a:moveTo>
                  <a:pt x="112514" y="0"/>
                </a:moveTo>
                <a:lnTo>
                  <a:pt x="208954" y="96440"/>
                </a:lnTo>
                <a:lnTo>
                  <a:pt x="112514" y="192881"/>
                </a:lnTo>
              </a:path>
              <a:path w="209550" h="193039">
                <a:moveTo>
                  <a:pt x="195560" y="96440"/>
                </a:moveTo>
                <a:lnTo>
                  <a:pt x="0" y="96440"/>
                </a:lnTo>
              </a:path>
            </a:pathLst>
          </a:custGeom>
          <a:ln w="32146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041" y="456806"/>
            <a:ext cx="664019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主流架</a:t>
            </a:r>
            <a:r>
              <a:rPr spc="-370" dirty="0"/>
              <a:t>构</a:t>
            </a:r>
            <a:r>
              <a:rPr spc="-320" dirty="0">
                <a:latin typeface="Malgun Gothic" panose="020B0503020000020004" charset="-127"/>
                <a:cs typeface="Malgun Gothic" panose="020B0503020000020004" charset="-127"/>
              </a:rPr>
              <a:t>：</a:t>
            </a:r>
            <a:r>
              <a:rPr sz="3500" spc="-320" dirty="0">
                <a:latin typeface="Noto Sans SC" panose="020B0500000000000000" charset="-122"/>
                <a:cs typeface="Noto Sans SC" panose="020B0500000000000000" charset="-122"/>
              </a:rPr>
              <a:t>Orchestrator-</a:t>
            </a:r>
            <a:r>
              <a:rPr sz="3500" spc="-335" dirty="0">
                <a:latin typeface="Noto Sans SC" panose="020B0500000000000000" charset="-122"/>
                <a:cs typeface="Noto Sans SC" panose="020B0500000000000000" charset="-122"/>
              </a:rPr>
              <a:t>Worker</a:t>
            </a:r>
            <a:r>
              <a:rPr sz="3500" spc="-85" dirty="0"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pc="-370" dirty="0"/>
              <a:t>模</a:t>
            </a:r>
            <a:r>
              <a:rPr spc="-420" dirty="0">
                <a:latin typeface="Malgun Gothic" panose="020B0503020000020004" charset="-127"/>
                <a:cs typeface="Malgun Gothic" panose="020B0503020000020004" charset="-127"/>
              </a:rPr>
              <a:t>式</a:t>
            </a:r>
            <a:endParaRPr sz="35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0071" y="1114690"/>
            <a:ext cx="977201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在技术上，这种主从关系最常见的实现方式被称为</a:t>
            </a:r>
            <a:r>
              <a:rPr sz="1900" spc="-16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“Orchestrator-</a:t>
            </a:r>
            <a:r>
              <a:rPr sz="1900" spc="-17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Worker”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模式，或称为</a:t>
            </a:r>
            <a:r>
              <a:rPr sz="1900" spc="-27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“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主从架构</a:t>
            </a:r>
            <a:r>
              <a:rPr sz="1900" spc="-27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”</a:t>
            </a:r>
            <a:r>
              <a:rPr sz="185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486495" y="1809750"/>
            <a:ext cx="2552507" cy="457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97487" y="2562385"/>
            <a:ext cx="1597025" cy="85471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900" b="1" spc="-17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Worker</a:t>
            </a:r>
            <a:r>
              <a:rPr sz="1900" b="1" spc="-6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1</a:t>
            </a:r>
            <a:endParaRPr sz="1900">
              <a:latin typeface="Noto Sans SC" panose="020B0500000000000000" charset="-122"/>
              <a:cs typeface="Noto Sans SC" panose="020B0500000000000000" charset="-122"/>
            </a:endParaRPr>
          </a:p>
          <a:p>
            <a:pPr marL="12065" marR="5080" algn="ctr">
              <a:lnSpc>
                <a:spcPct val="105000"/>
              </a:lnSpc>
              <a:spcBef>
                <a:spcPts val="395"/>
              </a:spcBef>
            </a:pP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任务的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手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脚</a:t>
            </a:r>
            <a:r>
              <a:rPr sz="1250" spc="265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250" spc="26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250" spc="-11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负责具体执行。</a:t>
            </a:r>
            <a:endParaRPr sz="12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20249" y="3143249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499" y="1904999"/>
                </a:moveTo>
                <a:lnTo>
                  <a:pt x="905762" y="1903852"/>
                </a:lnTo>
                <a:lnTo>
                  <a:pt x="859138" y="1900413"/>
                </a:lnTo>
                <a:lnTo>
                  <a:pt x="812739" y="1894690"/>
                </a:lnTo>
                <a:lnTo>
                  <a:pt x="766676" y="1886697"/>
                </a:lnTo>
                <a:lnTo>
                  <a:pt x="721061" y="1876454"/>
                </a:lnTo>
                <a:lnTo>
                  <a:pt x="676003" y="1863985"/>
                </a:lnTo>
                <a:lnTo>
                  <a:pt x="631612" y="1849320"/>
                </a:lnTo>
                <a:lnTo>
                  <a:pt x="587993" y="1832494"/>
                </a:lnTo>
                <a:lnTo>
                  <a:pt x="545253" y="1813549"/>
                </a:lnTo>
                <a:lnTo>
                  <a:pt x="503494" y="1792529"/>
                </a:lnTo>
                <a:lnTo>
                  <a:pt x="462817" y="1769486"/>
                </a:lnTo>
                <a:lnTo>
                  <a:pt x="423319" y="1744474"/>
                </a:lnTo>
                <a:lnTo>
                  <a:pt x="385096" y="1717554"/>
                </a:lnTo>
                <a:lnTo>
                  <a:pt x="348240" y="1688792"/>
                </a:lnTo>
                <a:lnTo>
                  <a:pt x="312840" y="1658255"/>
                </a:lnTo>
                <a:lnTo>
                  <a:pt x="278980" y="1626018"/>
                </a:lnTo>
                <a:lnTo>
                  <a:pt x="246744" y="1592159"/>
                </a:lnTo>
                <a:lnTo>
                  <a:pt x="216207" y="1556759"/>
                </a:lnTo>
                <a:lnTo>
                  <a:pt x="187444" y="1519903"/>
                </a:lnTo>
                <a:lnTo>
                  <a:pt x="160525" y="1481680"/>
                </a:lnTo>
                <a:lnTo>
                  <a:pt x="135513" y="1442182"/>
                </a:lnTo>
                <a:lnTo>
                  <a:pt x="112469" y="1401505"/>
                </a:lnTo>
                <a:lnTo>
                  <a:pt x="91450" y="1359745"/>
                </a:lnTo>
                <a:lnTo>
                  <a:pt x="72504" y="1317005"/>
                </a:lnTo>
                <a:lnTo>
                  <a:pt x="55679" y="1273387"/>
                </a:lnTo>
                <a:lnTo>
                  <a:pt x="41014" y="1228995"/>
                </a:lnTo>
                <a:lnTo>
                  <a:pt x="28545" y="1183938"/>
                </a:lnTo>
                <a:lnTo>
                  <a:pt x="18302" y="1138323"/>
                </a:lnTo>
                <a:lnTo>
                  <a:pt x="10309" y="1092260"/>
                </a:lnTo>
                <a:lnTo>
                  <a:pt x="4586" y="1045861"/>
                </a:lnTo>
                <a:lnTo>
                  <a:pt x="1147" y="999236"/>
                </a:lnTo>
                <a:lnTo>
                  <a:pt x="0" y="952499"/>
                </a:lnTo>
                <a:lnTo>
                  <a:pt x="286" y="929124"/>
                </a:lnTo>
                <a:lnTo>
                  <a:pt x="2580" y="882429"/>
                </a:lnTo>
                <a:lnTo>
                  <a:pt x="7163" y="835903"/>
                </a:lnTo>
                <a:lnTo>
                  <a:pt x="14023" y="789658"/>
                </a:lnTo>
                <a:lnTo>
                  <a:pt x="23143" y="743806"/>
                </a:lnTo>
                <a:lnTo>
                  <a:pt x="34503" y="698456"/>
                </a:lnTo>
                <a:lnTo>
                  <a:pt x="48074" y="653717"/>
                </a:lnTo>
                <a:lnTo>
                  <a:pt x="63824" y="609699"/>
                </a:lnTo>
                <a:lnTo>
                  <a:pt x="81715" y="566507"/>
                </a:lnTo>
                <a:lnTo>
                  <a:pt x="101703" y="524245"/>
                </a:lnTo>
                <a:lnTo>
                  <a:pt x="123742" y="483014"/>
                </a:lnTo>
                <a:lnTo>
                  <a:pt x="147776" y="442914"/>
                </a:lnTo>
                <a:lnTo>
                  <a:pt x="173750" y="404042"/>
                </a:lnTo>
                <a:lnTo>
                  <a:pt x="201599" y="366491"/>
                </a:lnTo>
                <a:lnTo>
                  <a:pt x="231258" y="330352"/>
                </a:lnTo>
                <a:lnTo>
                  <a:pt x="262654" y="295712"/>
                </a:lnTo>
                <a:lnTo>
                  <a:pt x="295712" y="262654"/>
                </a:lnTo>
                <a:lnTo>
                  <a:pt x="330352" y="231258"/>
                </a:lnTo>
                <a:lnTo>
                  <a:pt x="366491" y="201599"/>
                </a:lnTo>
                <a:lnTo>
                  <a:pt x="404042" y="173750"/>
                </a:lnTo>
                <a:lnTo>
                  <a:pt x="442914" y="147776"/>
                </a:lnTo>
                <a:lnTo>
                  <a:pt x="483014" y="123742"/>
                </a:lnTo>
                <a:lnTo>
                  <a:pt x="524245" y="101703"/>
                </a:lnTo>
                <a:lnTo>
                  <a:pt x="566507" y="81715"/>
                </a:lnTo>
                <a:lnTo>
                  <a:pt x="609699" y="63824"/>
                </a:lnTo>
                <a:lnTo>
                  <a:pt x="653717" y="48074"/>
                </a:lnTo>
                <a:lnTo>
                  <a:pt x="698455" y="34503"/>
                </a:lnTo>
                <a:lnTo>
                  <a:pt x="743805" y="23143"/>
                </a:lnTo>
                <a:lnTo>
                  <a:pt x="789658" y="14023"/>
                </a:lnTo>
                <a:lnTo>
                  <a:pt x="835903" y="7163"/>
                </a:lnTo>
                <a:lnTo>
                  <a:pt x="882429" y="2580"/>
                </a:lnTo>
                <a:lnTo>
                  <a:pt x="929124" y="286"/>
                </a:lnTo>
                <a:lnTo>
                  <a:pt x="952499" y="0"/>
                </a:lnTo>
                <a:lnTo>
                  <a:pt x="975875" y="286"/>
                </a:lnTo>
                <a:lnTo>
                  <a:pt x="1022570" y="2580"/>
                </a:lnTo>
                <a:lnTo>
                  <a:pt x="1069096" y="7163"/>
                </a:lnTo>
                <a:lnTo>
                  <a:pt x="1115340" y="14023"/>
                </a:lnTo>
                <a:lnTo>
                  <a:pt x="1161193" y="23143"/>
                </a:lnTo>
                <a:lnTo>
                  <a:pt x="1206543" y="34503"/>
                </a:lnTo>
                <a:lnTo>
                  <a:pt x="1251281" y="48074"/>
                </a:lnTo>
                <a:lnTo>
                  <a:pt x="1295299" y="63824"/>
                </a:lnTo>
                <a:lnTo>
                  <a:pt x="1338492" y="81715"/>
                </a:lnTo>
                <a:lnTo>
                  <a:pt x="1380754" y="101703"/>
                </a:lnTo>
                <a:lnTo>
                  <a:pt x="1421985" y="123742"/>
                </a:lnTo>
                <a:lnTo>
                  <a:pt x="1462084" y="147776"/>
                </a:lnTo>
                <a:lnTo>
                  <a:pt x="1500956" y="173750"/>
                </a:lnTo>
                <a:lnTo>
                  <a:pt x="1538507" y="201599"/>
                </a:lnTo>
                <a:lnTo>
                  <a:pt x="1574646" y="231258"/>
                </a:lnTo>
                <a:lnTo>
                  <a:pt x="1609287" y="262654"/>
                </a:lnTo>
                <a:lnTo>
                  <a:pt x="1642345" y="295712"/>
                </a:lnTo>
                <a:lnTo>
                  <a:pt x="1673741" y="330352"/>
                </a:lnTo>
                <a:lnTo>
                  <a:pt x="1703399" y="366491"/>
                </a:lnTo>
                <a:lnTo>
                  <a:pt x="1731249" y="404042"/>
                </a:lnTo>
                <a:lnTo>
                  <a:pt x="1757222" y="442914"/>
                </a:lnTo>
                <a:lnTo>
                  <a:pt x="1781257" y="483014"/>
                </a:lnTo>
                <a:lnTo>
                  <a:pt x="1803295" y="524245"/>
                </a:lnTo>
                <a:lnTo>
                  <a:pt x="1823284" y="566507"/>
                </a:lnTo>
                <a:lnTo>
                  <a:pt x="1841175" y="609699"/>
                </a:lnTo>
                <a:lnTo>
                  <a:pt x="1856925" y="653717"/>
                </a:lnTo>
                <a:lnTo>
                  <a:pt x="1870496" y="698455"/>
                </a:lnTo>
                <a:lnTo>
                  <a:pt x="1881855" y="743805"/>
                </a:lnTo>
                <a:lnTo>
                  <a:pt x="1890976" y="789658"/>
                </a:lnTo>
                <a:lnTo>
                  <a:pt x="1897836" y="835903"/>
                </a:lnTo>
                <a:lnTo>
                  <a:pt x="1902418" y="882429"/>
                </a:lnTo>
                <a:lnTo>
                  <a:pt x="1904712" y="929124"/>
                </a:lnTo>
                <a:lnTo>
                  <a:pt x="1904999" y="952499"/>
                </a:lnTo>
                <a:lnTo>
                  <a:pt x="1904712" y="975875"/>
                </a:lnTo>
                <a:lnTo>
                  <a:pt x="1902418" y="1022570"/>
                </a:lnTo>
                <a:lnTo>
                  <a:pt x="1897836" y="1069096"/>
                </a:lnTo>
                <a:lnTo>
                  <a:pt x="1890976" y="1115340"/>
                </a:lnTo>
                <a:lnTo>
                  <a:pt x="1881856" y="1161193"/>
                </a:lnTo>
                <a:lnTo>
                  <a:pt x="1870496" y="1206543"/>
                </a:lnTo>
                <a:lnTo>
                  <a:pt x="1856925" y="1251281"/>
                </a:lnTo>
                <a:lnTo>
                  <a:pt x="1841175" y="1295299"/>
                </a:lnTo>
                <a:lnTo>
                  <a:pt x="1823284" y="1338492"/>
                </a:lnTo>
                <a:lnTo>
                  <a:pt x="1803295" y="1380754"/>
                </a:lnTo>
                <a:lnTo>
                  <a:pt x="1781257" y="1421985"/>
                </a:lnTo>
                <a:lnTo>
                  <a:pt x="1757222" y="1462084"/>
                </a:lnTo>
                <a:lnTo>
                  <a:pt x="1731249" y="1500956"/>
                </a:lnTo>
                <a:lnTo>
                  <a:pt x="1703399" y="1538507"/>
                </a:lnTo>
                <a:lnTo>
                  <a:pt x="1673741" y="1574646"/>
                </a:lnTo>
                <a:lnTo>
                  <a:pt x="1642345" y="1609287"/>
                </a:lnTo>
                <a:lnTo>
                  <a:pt x="1609287" y="1642345"/>
                </a:lnTo>
                <a:lnTo>
                  <a:pt x="1574646" y="1673741"/>
                </a:lnTo>
                <a:lnTo>
                  <a:pt x="1538507" y="1703399"/>
                </a:lnTo>
                <a:lnTo>
                  <a:pt x="1500956" y="1731249"/>
                </a:lnTo>
                <a:lnTo>
                  <a:pt x="1462084" y="1757222"/>
                </a:lnTo>
                <a:lnTo>
                  <a:pt x="1421985" y="1781257"/>
                </a:lnTo>
                <a:lnTo>
                  <a:pt x="1380754" y="1803295"/>
                </a:lnTo>
                <a:lnTo>
                  <a:pt x="1338492" y="1823284"/>
                </a:lnTo>
                <a:lnTo>
                  <a:pt x="1295299" y="1841175"/>
                </a:lnTo>
                <a:lnTo>
                  <a:pt x="1251281" y="1856925"/>
                </a:lnTo>
                <a:lnTo>
                  <a:pt x="1206543" y="1870496"/>
                </a:lnTo>
                <a:lnTo>
                  <a:pt x="1161193" y="1881855"/>
                </a:lnTo>
                <a:lnTo>
                  <a:pt x="1115340" y="1890976"/>
                </a:lnTo>
                <a:lnTo>
                  <a:pt x="1069095" y="1897836"/>
                </a:lnTo>
                <a:lnTo>
                  <a:pt x="1022570" y="1902418"/>
                </a:lnTo>
                <a:lnTo>
                  <a:pt x="975875" y="1904712"/>
                </a:lnTo>
                <a:lnTo>
                  <a:pt x="952499" y="1904999"/>
                </a:lnTo>
                <a:close/>
              </a:path>
            </a:pathLst>
          </a:custGeom>
          <a:solidFill>
            <a:srgbClr val="2B3D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774236" y="3895885"/>
            <a:ext cx="1597025" cy="85471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900" b="1" spc="-17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Worker</a:t>
            </a:r>
            <a:r>
              <a:rPr sz="1900" b="1" spc="-6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2</a:t>
            </a:r>
            <a:endParaRPr sz="1900">
              <a:latin typeface="Noto Sans SC" panose="020B0500000000000000" charset="-122"/>
              <a:cs typeface="Noto Sans SC" panose="020B0500000000000000" charset="-122"/>
            </a:endParaRPr>
          </a:p>
          <a:p>
            <a:pPr marL="12700" marR="5080" algn="ctr">
              <a:lnSpc>
                <a:spcPct val="105000"/>
              </a:lnSpc>
              <a:spcBef>
                <a:spcPts val="395"/>
              </a:spcBef>
            </a:pP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任务的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手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脚</a:t>
            </a:r>
            <a:r>
              <a:rPr sz="1250" spc="265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250" spc="26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250" spc="-11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负责具体执行。</a:t>
            </a:r>
            <a:endParaRPr sz="12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357990" y="3471416"/>
            <a:ext cx="429895" cy="429895"/>
            <a:chOff x="10357990" y="3471416"/>
            <a:chExt cx="429895" cy="429895"/>
          </a:xfrm>
        </p:grpSpPr>
        <p:sp>
          <p:nvSpPr>
            <p:cNvPr id="9" name="object 9"/>
            <p:cNvSpPr/>
            <p:nvPr/>
          </p:nvSpPr>
          <p:spPr>
            <a:xfrm>
              <a:off x="10358436" y="3471862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416232" y="428624"/>
                  </a:moveTo>
                  <a:lnTo>
                    <a:pt x="414337" y="428625"/>
                  </a:lnTo>
                  <a:lnTo>
                    <a:pt x="24785" y="428624"/>
                  </a:lnTo>
                  <a:lnTo>
                    <a:pt x="21140" y="427899"/>
                  </a:lnTo>
                  <a:lnTo>
                    <a:pt x="0" y="403839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16182" y="0"/>
                  </a:lnTo>
                  <a:lnTo>
                    <a:pt x="28575" y="400050"/>
                  </a:lnTo>
                  <a:lnTo>
                    <a:pt x="416232" y="400050"/>
                  </a:lnTo>
                  <a:lnTo>
                    <a:pt x="428624" y="412442"/>
                  </a:lnTo>
                  <a:lnTo>
                    <a:pt x="428624" y="416232"/>
                  </a:lnTo>
                  <a:lnTo>
                    <a:pt x="418054" y="428262"/>
                  </a:lnTo>
                  <a:lnTo>
                    <a:pt x="416232" y="428624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358436" y="3471862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414337" y="428625"/>
                  </a:moveTo>
                  <a:lnTo>
                    <a:pt x="28575" y="428625"/>
                  </a:lnTo>
                  <a:lnTo>
                    <a:pt x="24785" y="428624"/>
                  </a:lnTo>
                  <a:lnTo>
                    <a:pt x="0" y="403839"/>
                  </a:lnTo>
                  <a:lnTo>
                    <a:pt x="0" y="400050"/>
                  </a:lnTo>
                  <a:lnTo>
                    <a:pt x="0" y="14287"/>
                  </a:lnTo>
                  <a:lnTo>
                    <a:pt x="0" y="12392"/>
                  </a:lnTo>
                  <a:lnTo>
                    <a:pt x="362" y="10570"/>
                  </a:lnTo>
                  <a:lnTo>
                    <a:pt x="1087" y="8819"/>
                  </a:lnTo>
                  <a:lnTo>
                    <a:pt x="1812" y="7069"/>
                  </a:lnTo>
                  <a:lnTo>
                    <a:pt x="2844" y="5524"/>
                  </a:lnTo>
                  <a:lnTo>
                    <a:pt x="4184" y="4184"/>
                  </a:lnTo>
                  <a:lnTo>
                    <a:pt x="5524" y="2844"/>
                  </a:lnTo>
                  <a:lnTo>
                    <a:pt x="7069" y="1812"/>
                  </a:lnTo>
                  <a:lnTo>
                    <a:pt x="8819" y="1087"/>
                  </a:lnTo>
                  <a:lnTo>
                    <a:pt x="10570" y="362"/>
                  </a:lnTo>
                  <a:lnTo>
                    <a:pt x="12392" y="0"/>
                  </a:lnTo>
                  <a:lnTo>
                    <a:pt x="14287" y="0"/>
                  </a:lnTo>
                  <a:lnTo>
                    <a:pt x="16182" y="0"/>
                  </a:lnTo>
                  <a:lnTo>
                    <a:pt x="18004" y="362"/>
                  </a:lnTo>
                  <a:lnTo>
                    <a:pt x="19755" y="1087"/>
                  </a:lnTo>
                  <a:lnTo>
                    <a:pt x="21505" y="1812"/>
                  </a:lnTo>
                  <a:lnTo>
                    <a:pt x="28575" y="14287"/>
                  </a:lnTo>
                  <a:lnTo>
                    <a:pt x="28575" y="400050"/>
                  </a:lnTo>
                  <a:lnTo>
                    <a:pt x="414337" y="400050"/>
                  </a:lnTo>
                  <a:lnTo>
                    <a:pt x="416232" y="400050"/>
                  </a:lnTo>
                  <a:lnTo>
                    <a:pt x="418054" y="400412"/>
                  </a:lnTo>
                  <a:lnTo>
                    <a:pt x="419805" y="401137"/>
                  </a:lnTo>
                  <a:lnTo>
                    <a:pt x="421555" y="401862"/>
                  </a:lnTo>
                  <a:lnTo>
                    <a:pt x="423100" y="402894"/>
                  </a:lnTo>
                  <a:lnTo>
                    <a:pt x="424440" y="404234"/>
                  </a:lnTo>
                  <a:lnTo>
                    <a:pt x="425779" y="405574"/>
                  </a:lnTo>
                  <a:lnTo>
                    <a:pt x="426812" y="407119"/>
                  </a:lnTo>
                  <a:lnTo>
                    <a:pt x="427537" y="408869"/>
                  </a:lnTo>
                  <a:lnTo>
                    <a:pt x="428262" y="410620"/>
                  </a:lnTo>
                  <a:lnTo>
                    <a:pt x="428624" y="412442"/>
                  </a:lnTo>
                  <a:lnTo>
                    <a:pt x="428625" y="414337"/>
                  </a:lnTo>
                  <a:lnTo>
                    <a:pt x="428624" y="416232"/>
                  </a:lnTo>
                  <a:lnTo>
                    <a:pt x="419805" y="427537"/>
                  </a:lnTo>
                  <a:lnTo>
                    <a:pt x="418054" y="428262"/>
                  </a:lnTo>
                  <a:lnTo>
                    <a:pt x="416232" y="428624"/>
                  </a:lnTo>
                  <a:lnTo>
                    <a:pt x="414337" y="428625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415586" y="3543300"/>
              <a:ext cx="356870" cy="300355"/>
            </a:xfrm>
            <a:custGeom>
              <a:avLst/>
              <a:gdLst/>
              <a:ahLst/>
              <a:cxnLst/>
              <a:rect l="l" t="t" r="r" b="b"/>
              <a:pathLst>
                <a:path w="356870" h="300354">
                  <a:moveTo>
                    <a:pt x="72128" y="300037"/>
                  </a:moveTo>
                  <a:lnTo>
                    <a:pt x="27883" y="300037"/>
                  </a:lnTo>
                  <a:lnTo>
                    <a:pt x="23783" y="299221"/>
                  </a:lnTo>
                  <a:lnTo>
                    <a:pt x="0" y="272153"/>
                  </a:lnTo>
                  <a:lnTo>
                    <a:pt x="0" y="127896"/>
                  </a:lnTo>
                  <a:lnTo>
                    <a:pt x="27883" y="100012"/>
                  </a:lnTo>
                  <a:lnTo>
                    <a:pt x="72128" y="100012"/>
                  </a:lnTo>
                  <a:lnTo>
                    <a:pt x="100012" y="127896"/>
                  </a:lnTo>
                  <a:lnTo>
                    <a:pt x="100012" y="272153"/>
                  </a:lnTo>
                  <a:lnTo>
                    <a:pt x="72128" y="300037"/>
                  </a:lnTo>
                  <a:close/>
                </a:path>
                <a:path w="356870" h="300354">
                  <a:moveTo>
                    <a:pt x="200716" y="300037"/>
                  </a:moveTo>
                  <a:lnTo>
                    <a:pt x="156471" y="300037"/>
                  </a:lnTo>
                  <a:lnTo>
                    <a:pt x="152370" y="299221"/>
                  </a:lnTo>
                  <a:lnTo>
                    <a:pt x="128587" y="272153"/>
                  </a:lnTo>
                  <a:lnTo>
                    <a:pt x="128587" y="85033"/>
                  </a:lnTo>
                  <a:lnTo>
                    <a:pt x="156471" y="57150"/>
                  </a:lnTo>
                  <a:lnTo>
                    <a:pt x="200716" y="57150"/>
                  </a:lnTo>
                  <a:lnTo>
                    <a:pt x="228599" y="85033"/>
                  </a:lnTo>
                  <a:lnTo>
                    <a:pt x="228599" y="272153"/>
                  </a:lnTo>
                  <a:lnTo>
                    <a:pt x="200716" y="300037"/>
                  </a:lnTo>
                  <a:close/>
                </a:path>
                <a:path w="356870" h="300354">
                  <a:moveTo>
                    <a:pt x="328982" y="300037"/>
                  </a:moveTo>
                  <a:lnTo>
                    <a:pt x="284737" y="300037"/>
                  </a:lnTo>
                  <a:lnTo>
                    <a:pt x="280636" y="299221"/>
                  </a:lnTo>
                  <a:lnTo>
                    <a:pt x="256853" y="272153"/>
                  </a:lnTo>
                  <a:lnTo>
                    <a:pt x="256853" y="27883"/>
                  </a:lnTo>
                  <a:lnTo>
                    <a:pt x="284737" y="0"/>
                  </a:lnTo>
                  <a:lnTo>
                    <a:pt x="328982" y="0"/>
                  </a:lnTo>
                  <a:lnTo>
                    <a:pt x="356866" y="27883"/>
                  </a:lnTo>
                  <a:lnTo>
                    <a:pt x="356866" y="272153"/>
                  </a:lnTo>
                  <a:lnTo>
                    <a:pt x="328982" y="300037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15140" y="3642866"/>
              <a:ext cx="100905" cy="2009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43727" y="3600003"/>
              <a:ext cx="100905" cy="2437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672440" y="3543300"/>
              <a:ext cx="100330" cy="300355"/>
            </a:xfrm>
            <a:custGeom>
              <a:avLst/>
              <a:gdLst/>
              <a:ahLst/>
              <a:cxnLst/>
              <a:rect l="l" t="t" r="r" b="b"/>
              <a:pathLst>
                <a:path w="100329" h="300354">
                  <a:moveTo>
                    <a:pt x="67865" y="300037"/>
                  </a:moveTo>
                  <a:lnTo>
                    <a:pt x="32146" y="300037"/>
                  </a:lnTo>
                  <a:lnTo>
                    <a:pt x="27883" y="300037"/>
                  </a:lnTo>
                  <a:lnTo>
                    <a:pt x="23783" y="299221"/>
                  </a:lnTo>
                  <a:lnTo>
                    <a:pt x="19844" y="297590"/>
                  </a:lnTo>
                  <a:lnTo>
                    <a:pt x="15906" y="295959"/>
                  </a:lnTo>
                  <a:lnTo>
                    <a:pt x="12429" y="293636"/>
                  </a:lnTo>
                  <a:lnTo>
                    <a:pt x="9415" y="290621"/>
                  </a:lnTo>
                  <a:lnTo>
                    <a:pt x="6401" y="287607"/>
                  </a:lnTo>
                  <a:lnTo>
                    <a:pt x="4078" y="284131"/>
                  </a:lnTo>
                  <a:lnTo>
                    <a:pt x="2447" y="280192"/>
                  </a:lnTo>
                  <a:lnTo>
                    <a:pt x="815" y="276254"/>
                  </a:lnTo>
                  <a:lnTo>
                    <a:pt x="0" y="272153"/>
                  </a:lnTo>
                  <a:lnTo>
                    <a:pt x="0" y="267890"/>
                  </a:lnTo>
                  <a:lnTo>
                    <a:pt x="0" y="32146"/>
                  </a:lnTo>
                  <a:lnTo>
                    <a:pt x="19844" y="2447"/>
                  </a:lnTo>
                  <a:lnTo>
                    <a:pt x="23783" y="815"/>
                  </a:lnTo>
                  <a:lnTo>
                    <a:pt x="27883" y="0"/>
                  </a:lnTo>
                  <a:lnTo>
                    <a:pt x="32146" y="0"/>
                  </a:lnTo>
                  <a:lnTo>
                    <a:pt x="67865" y="0"/>
                  </a:lnTo>
                  <a:lnTo>
                    <a:pt x="72128" y="0"/>
                  </a:lnTo>
                  <a:lnTo>
                    <a:pt x="76229" y="815"/>
                  </a:lnTo>
                  <a:lnTo>
                    <a:pt x="80167" y="2447"/>
                  </a:lnTo>
                  <a:lnTo>
                    <a:pt x="84106" y="4078"/>
                  </a:lnTo>
                  <a:lnTo>
                    <a:pt x="97565" y="19844"/>
                  </a:lnTo>
                  <a:lnTo>
                    <a:pt x="99196" y="23783"/>
                  </a:lnTo>
                  <a:lnTo>
                    <a:pt x="100012" y="27883"/>
                  </a:lnTo>
                  <a:lnTo>
                    <a:pt x="100012" y="32146"/>
                  </a:lnTo>
                  <a:lnTo>
                    <a:pt x="100012" y="267890"/>
                  </a:lnTo>
                  <a:lnTo>
                    <a:pt x="100012" y="272153"/>
                  </a:lnTo>
                  <a:lnTo>
                    <a:pt x="99196" y="276254"/>
                  </a:lnTo>
                  <a:lnTo>
                    <a:pt x="97565" y="280192"/>
                  </a:lnTo>
                  <a:lnTo>
                    <a:pt x="95934" y="284131"/>
                  </a:lnTo>
                  <a:lnTo>
                    <a:pt x="80167" y="297590"/>
                  </a:lnTo>
                  <a:lnTo>
                    <a:pt x="76229" y="299221"/>
                  </a:lnTo>
                  <a:lnTo>
                    <a:pt x="72128" y="300037"/>
                  </a:lnTo>
                  <a:lnTo>
                    <a:pt x="67865" y="300037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297487" y="5229385"/>
            <a:ext cx="1597025" cy="85471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900" b="1" spc="-17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Worker</a:t>
            </a:r>
            <a:r>
              <a:rPr sz="1900" b="1" spc="-6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3</a:t>
            </a:r>
            <a:endParaRPr sz="1900">
              <a:latin typeface="Noto Sans SC" panose="020B0500000000000000" charset="-122"/>
              <a:cs typeface="Noto Sans SC" panose="020B0500000000000000" charset="-122"/>
            </a:endParaRPr>
          </a:p>
          <a:p>
            <a:pPr marL="12065" marR="5080" algn="ctr">
              <a:lnSpc>
                <a:spcPct val="105000"/>
              </a:lnSpc>
              <a:spcBef>
                <a:spcPts val="395"/>
              </a:spcBef>
            </a:pP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任务的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手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脚</a:t>
            </a:r>
            <a:r>
              <a:rPr sz="1250" spc="265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250" spc="26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250" spc="-11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负责具体执行。</a:t>
            </a:r>
            <a:endParaRPr sz="12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6749" y="3143249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499" y="1904999"/>
                </a:moveTo>
                <a:lnTo>
                  <a:pt x="905762" y="1903852"/>
                </a:lnTo>
                <a:lnTo>
                  <a:pt x="859138" y="1900413"/>
                </a:lnTo>
                <a:lnTo>
                  <a:pt x="812739" y="1894690"/>
                </a:lnTo>
                <a:lnTo>
                  <a:pt x="766676" y="1886697"/>
                </a:lnTo>
                <a:lnTo>
                  <a:pt x="721061" y="1876454"/>
                </a:lnTo>
                <a:lnTo>
                  <a:pt x="676003" y="1863985"/>
                </a:lnTo>
                <a:lnTo>
                  <a:pt x="631612" y="1849320"/>
                </a:lnTo>
                <a:lnTo>
                  <a:pt x="587993" y="1832494"/>
                </a:lnTo>
                <a:lnTo>
                  <a:pt x="545253" y="1813549"/>
                </a:lnTo>
                <a:lnTo>
                  <a:pt x="503494" y="1792529"/>
                </a:lnTo>
                <a:lnTo>
                  <a:pt x="462817" y="1769486"/>
                </a:lnTo>
                <a:lnTo>
                  <a:pt x="423319" y="1744474"/>
                </a:lnTo>
                <a:lnTo>
                  <a:pt x="385096" y="1717554"/>
                </a:lnTo>
                <a:lnTo>
                  <a:pt x="348240" y="1688792"/>
                </a:lnTo>
                <a:lnTo>
                  <a:pt x="312840" y="1658255"/>
                </a:lnTo>
                <a:lnTo>
                  <a:pt x="278980" y="1626018"/>
                </a:lnTo>
                <a:lnTo>
                  <a:pt x="246744" y="1592159"/>
                </a:lnTo>
                <a:lnTo>
                  <a:pt x="216207" y="1556759"/>
                </a:lnTo>
                <a:lnTo>
                  <a:pt x="187444" y="1519903"/>
                </a:lnTo>
                <a:lnTo>
                  <a:pt x="160525" y="1481680"/>
                </a:lnTo>
                <a:lnTo>
                  <a:pt x="135513" y="1442182"/>
                </a:lnTo>
                <a:lnTo>
                  <a:pt x="112469" y="1401505"/>
                </a:lnTo>
                <a:lnTo>
                  <a:pt x="91450" y="1359745"/>
                </a:lnTo>
                <a:lnTo>
                  <a:pt x="72504" y="1317005"/>
                </a:lnTo>
                <a:lnTo>
                  <a:pt x="55679" y="1273387"/>
                </a:lnTo>
                <a:lnTo>
                  <a:pt x="41014" y="1228995"/>
                </a:lnTo>
                <a:lnTo>
                  <a:pt x="28545" y="1183938"/>
                </a:lnTo>
                <a:lnTo>
                  <a:pt x="18302" y="1138323"/>
                </a:lnTo>
                <a:lnTo>
                  <a:pt x="10309" y="1092260"/>
                </a:lnTo>
                <a:lnTo>
                  <a:pt x="4586" y="1045861"/>
                </a:lnTo>
                <a:lnTo>
                  <a:pt x="1147" y="999236"/>
                </a:lnTo>
                <a:lnTo>
                  <a:pt x="0" y="952499"/>
                </a:lnTo>
                <a:lnTo>
                  <a:pt x="286" y="929124"/>
                </a:lnTo>
                <a:lnTo>
                  <a:pt x="2580" y="882429"/>
                </a:lnTo>
                <a:lnTo>
                  <a:pt x="7163" y="835903"/>
                </a:lnTo>
                <a:lnTo>
                  <a:pt x="14023" y="789658"/>
                </a:lnTo>
                <a:lnTo>
                  <a:pt x="23143" y="743806"/>
                </a:lnTo>
                <a:lnTo>
                  <a:pt x="34503" y="698456"/>
                </a:lnTo>
                <a:lnTo>
                  <a:pt x="48074" y="653717"/>
                </a:lnTo>
                <a:lnTo>
                  <a:pt x="63824" y="609699"/>
                </a:lnTo>
                <a:lnTo>
                  <a:pt x="81715" y="566507"/>
                </a:lnTo>
                <a:lnTo>
                  <a:pt x="101703" y="524245"/>
                </a:lnTo>
                <a:lnTo>
                  <a:pt x="123742" y="483014"/>
                </a:lnTo>
                <a:lnTo>
                  <a:pt x="147776" y="442914"/>
                </a:lnTo>
                <a:lnTo>
                  <a:pt x="173750" y="404042"/>
                </a:lnTo>
                <a:lnTo>
                  <a:pt x="201599" y="366491"/>
                </a:lnTo>
                <a:lnTo>
                  <a:pt x="231258" y="330352"/>
                </a:lnTo>
                <a:lnTo>
                  <a:pt x="262654" y="295712"/>
                </a:lnTo>
                <a:lnTo>
                  <a:pt x="295712" y="262654"/>
                </a:lnTo>
                <a:lnTo>
                  <a:pt x="330352" y="231258"/>
                </a:lnTo>
                <a:lnTo>
                  <a:pt x="366491" y="201599"/>
                </a:lnTo>
                <a:lnTo>
                  <a:pt x="404042" y="173750"/>
                </a:lnTo>
                <a:lnTo>
                  <a:pt x="442914" y="147776"/>
                </a:lnTo>
                <a:lnTo>
                  <a:pt x="483014" y="123742"/>
                </a:lnTo>
                <a:lnTo>
                  <a:pt x="524245" y="101703"/>
                </a:lnTo>
                <a:lnTo>
                  <a:pt x="566507" y="81715"/>
                </a:lnTo>
                <a:lnTo>
                  <a:pt x="609699" y="63824"/>
                </a:lnTo>
                <a:lnTo>
                  <a:pt x="653717" y="48074"/>
                </a:lnTo>
                <a:lnTo>
                  <a:pt x="698455" y="34503"/>
                </a:lnTo>
                <a:lnTo>
                  <a:pt x="743805" y="23143"/>
                </a:lnTo>
                <a:lnTo>
                  <a:pt x="789658" y="14023"/>
                </a:lnTo>
                <a:lnTo>
                  <a:pt x="835903" y="7163"/>
                </a:lnTo>
                <a:lnTo>
                  <a:pt x="882429" y="2580"/>
                </a:lnTo>
                <a:lnTo>
                  <a:pt x="929124" y="286"/>
                </a:lnTo>
                <a:lnTo>
                  <a:pt x="952499" y="0"/>
                </a:lnTo>
                <a:lnTo>
                  <a:pt x="975875" y="286"/>
                </a:lnTo>
                <a:lnTo>
                  <a:pt x="1022570" y="2580"/>
                </a:lnTo>
                <a:lnTo>
                  <a:pt x="1069096" y="7163"/>
                </a:lnTo>
                <a:lnTo>
                  <a:pt x="1115340" y="14023"/>
                </a:lnTo>
                <a:lnTo>
                  <a:pt x="1161193" y="23143"/>
                </a:lnTo>
                <a:lnTo>
                  <a:pt x="1206543" y="34503"/>
                </a:lnTo>
                <a:lnTo>
                  <a:pt x="1251281" y="48074"/>
                </a:lnTo>
                <a:lnTo>
                  <a:pt x="1295299" y="63824"/>
                </a:lnTo>
                <a:lnTo>
                  <a:pt x="1338492" y="81715"/>
                </a:lnTo>
                <a:lnTo>
                  <a:pt x="1380754" y="101703"/>
                </a:lnTo>
                <a:lnTo>
                  <a:pt x="1421985" y="123742"/>
                </a:lnTo>
                <a:lnTo>
                  <a:pt x="1462084" y="147776"/>
                </a:lnTo>
                <a:lnTo>
                  <a:pt x="1500956" y="173750"/>
                </a:lnTo>
                <a:lnTo>
                  <a:pt x="1538507" y="201599"/>
                </a:lnTo>
                <a:lnTo>
                  <a:pt x="1574646" y="231258"/>
                </a:lnTo>
                <a:lnTo>
                  <a:pt x="1609287" y="262654"/>
                </a:lnTo>
                <a:lnTo>
                  <a:pt x="1642345" y="295712"/>
                </a:lnTo>
                <a:lnTo>
                  <a:pt x="1673741" y="330352"/>
                </a:lnTo>
                <a:lnTo>
                  <a:pt x="1703399" y="366491"/>
                </a:lnTo>
                <a:lnTo>
                  <a:pt x="1731249" y="404042"/>
                </a:lnTo>
                <a:lnTo>
                  <a:pt x="1757222" y="442914"/>
                </a:lnTo>
                <a:lnTo>
                  <a:pt x="1781257" y="483014"/>
                </a:lnTo>
                <a:lnTo>
                  <a:pt x="1803295" y="524245"/>
                </a:lnTo>
                <a:lnTo>
                  <a:pt x="1823284" y="566507"/>
                </a:lnTo>
                <a:lnTo>
                  <a:pt x="1841175" y="609699"/>
                </a:lnTo>
                <a:lnTo>
                  <a:pt x="1856925" y="653717"/>
                </a:lnTo>
                <a:lnTo>
                  <a:pt x="1870496" y="698455"/>
                </a:lnTo>
                <a:lnTo>
                  <a:pt x="1881855" y="743805"/>
                </a:lnTo>
                <a:lnTo>
                  <a:pt x="1890976" y="789658"/>
                </a:lnTo>
                <a:lnTo>
                  <a:pt x="1897836" y="835903"/>
                </a:lnTo>
                <a:lnTo>
                  <a:pt x="1902418" y="882429"/>
                </a:lnTo>
                <a:lnTo>
                  <a:pt x="1904712" y="929124"/>
                </a:lnTo>
                <a:lnTo>
                  <a:pt x="1904999" y="952499"/>
                </a:lnTo>
                <a:lnTo>
                  <a:pt x="1904712" y="975875"/>
                </a:lnTo>
                <a:lnTo>
                  <a:pt x="1902418" y="1022570"/>
                </a:lnTo>
                <a:lnTo>
                  <a:pt x="1897836" y="1069096"/>
                </a:lnTo>
                <a:lnTo>
                  <a:pt x="1890976" y="1115340"/>
                </a:lnTo>
                <a:lnTo>
                  <a:pt x="1881856" y="1161193"/>
                </a:lnTo>
                <a:lnTo>
                  <a:pt x="1870496" y="1206543"/>
                </a:lnTo>
                <a:lnTo>
                  <a:pt x="1856925" y="1251281"/>
                </a:lnTo>
                <a:lnTo>
                  <a:pt x="1841175" y="1295299"/>
                </a:lnTo>
                <a:lnTo>
                  <a:pt x="1823284" y="1338492"/>
                </a:lnTo>
                <a:lnTo>
                  <a:pt x="1803295" y="1380754"/>
                </a:lnTo>
                <a:lnTo>
                  <a:pt x="1781257" y="1421985"/>
                </a:lnTo>
                <a:lnTo>
                  <a:pt x="1757222" y="1462084"/>
                </a:lnTo>
                <a:lnTo>
                  <a:pt x="1731249" y="1500956"/>
                </a:lnTo>
                <a:lnTo>
                  <a:pt x="1703399" y="1538507"/>
                </a:lnTo>
                <a:lnTo>
                  <a:pt x="1673741" y="1574646"/>
                </a:lnTo>
                <a:lnTo>
                  <a:pt x="1642345" y="1609287"/>
                </a:lnTo>
                <a:lnTo>
                  <a:pt x="1609287" y="1642345"/>
                </a:lnTo>
                <a:lnTo>
                  <a:pt x="1574646" y="1673741"/>
                </a:lnTo>
                <a:lnTo>
                  <a:pt x="1538507" y="1703399"/>
                </a:lnTo>
                <a:lnTo>
                  <a:pt x="1500956" y="1731249"/>
                </a:lnTo>
                <a:lnTo>
                  <a:pt x="1462084" y="1757222"/>
                </a:lnTo>
                <a:lnTo>
                  <a:pt x="1421985" y="1781257"/>
                </a:lnTo>
                <a:lnTo>
                  <a:pt x="1380754" y="1803295"/>
                </a:lnTo>
                <a:lnTo>
                  <a:pt x="1338492" y="1823284"/>
                </a:lnTo>
                <a:lnTo>
                  <a:pt x="1295299" y="1841175"/>
                </a:lnTo>
                <a:lnTo>
                  <a:pt x="1251281" y="1856925"/>
                </a:lnTo>
                <a:lnTo>
                  <a:pt x="1206543" y="1870496"/>
                </a:lnTo>
                <a:lnTo>
                  <a:pt x="1161193" y="1881855"/>
                </a:lnTo>
                <a:lnTo>
                  <a:pt x="1115340" y="1890976"/>
                </a:lnTo>
                <a:lnTo>
                  <a:pt x="1069095" y="1897836"/>
                </a:lnTo>
                <a:lnTo>
                  <a:pt x="1022570" y="1902418"/>
                </a:lnTo>
                <a:lnTo>
                  <a:pt x="975875" y="1904712"/>
                </a:lnTo>
                <a:lnTo>
                  <a:pt x="952499" y="1904999"/>
                </a:lnTo>
                <a:close/>
              </a:path>
            </a:pathLst>
          </a:custGeom>
          <a:solidFill>
            <a:srgbClr val="2B3D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20737" y="3895885"/>
            <a:ext cx="1597025" cy="85471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900" b="1" spc="-17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Worker</a:t>
            </a:r>
            <a:r>
              <a:rPr sz="1900" b="1" spc="-6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N</a:t>
            </a:r>
            <a:endParaRPr sz="1900">
              <a:latin typeface="Noto Sans SC" panose="020B0500000000000000" charset="-122"/>
              <a:cs typeface="Noto Sans SC" panose="020B0500000000000000" charset="-122"/>
            </a:endParaRPr>
          </a:p>
          <a:p>
            <a:pPr marL="12065" marR="5080" algn="ctr">
              <a:lnSpc>
                <a:spcPct val="105000"/>
              </a:lnSpc>
              <a:spcBef>
                <a:spcPts val="395"/>
              </a:spcBef>
            </a:pP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任务的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手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1250" spc="71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250" spc="-1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脚</a:t>
            </a:r>
            <a:r>
              <a:rPr sz="1250" spc="265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250" spc="26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250" spc="-11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负责具体执行。</a:t>
            </a:r>
            <a:endParaRPr sz="12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33065" y="3471416"/>
            <a:ext cx="372745" cy="429895"/>
            <a:chOff x="1433065" y="3471416"/>
            <a:chExt cx="372745" cy="42989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3083" y="3599920"/>
              <a:ext cx="78375" cy="7955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33512" y="3486066"/>
              <a:ext cx="356235" cy="414655"/>
            </a:xfrm>
            <a:custGeom>
              <a:avLst/>
              <a:gdLst/>
              <a:ahLst/>
              <a:cxnLst/>
              <a:rect l="l" t="t" r="r" b="b"/>
              <a:pathLst>
                <a:path w="356235" h="414654">
                  <a:moveTo>
                    <a:pt x="189490" y="414420"/>
                  </a:moveTo>
                  <a:lnTo>
                    <a:pt x="53397" y="414420"/>
                  </a:lnTo>
                  <a:lnTo>
                    <a:pt x="49681" y="414054"/>
                  </a:lnTo>
                  <a:lnTo>
                    <a:pt x="14085" y="395028"/>
                  </a:lnTo>
                  <a:lnTo>
                    <a:pt x="0" y="361023"/>
                  </a:lnTo>
                  <a:lnTo>
                    <a:pt x="11" y="153496"/>
                  </a:lnTo>
                  <a:lnTo>
                    <a:pt x="19439" y="114232"/>
                  </a:lnTo>
                  <a:lnTo>
                    <a:pt x="53510" y="100095"/>
                  </a:lnTo>
                  <a:lnTo>
                    <a:pt x="121443" y="100095"/>
                  </a:lnTo>
                  <a:lnTo>
                    <a:pt x="121443" y="182249"/>
                  </a:lnTo>
                  <a:lnTo>
                    <a:pt x="122181" y="190077"/>
                  </a:lnTo>
                  <a:lnTo>
                    <a:pt x="152904" y="220805"/>
                  </a:lnTo>
                  <a:lnTo>
                    <a:pt x="160734" y="221539"/>
                  </a:lnTo>
                  <a:lnTo>
                    <a:pt x="242887" y="221539"/>
                  </a:lnTo>
                  <a:lnTo>
                    <a:pt x="242887" y="361023"/>
                  </a:lnTo>
                  <a:lnTo>
                    <a:pt x="223495" y="400335"/>
                  </a:lnTo>
                  <a:lnTo>
                    <a:pt x="193206" y="414054"/>
                  </a:lnTo>
                  <a:lnTo>
                    <a:pt x="189490" y="414420"/>
                  </a:lnTo>
                  <a:close/>
                </a:path>
                <a:path w="356235" h="414654">
                  <a:moveTo>
                    <a:pt x="353763" y="78664"/>
                  </a:moveTo>
                  <a:lnTo>
                    <a:pt x="286362" y="78664"/>
                  </a:lnTo>
                  <a:lnTo>
                    <a:pt x="283837" y="77618"/>
                  </a:lnTo>
                  <a:lnTo>
                    <a:pt x="279652" y="73433"/>
                  </a:lnTo>
                  <a:lnTo>
                    <a:pt x="278606" y="70908"/>
                  </a:lnTo>
                  <a:lnTo>
                    <a:pt x="278604" y="2315"/>
                  </a:lnTo>
                  <a:lnTo>
                    <a:pt x="279343" y="1213"/>
                  </a:lnTo>
                  <a:lnTo>
                    <a:pt x="282301" y="0"/>
                  </a:lnTo>
                  <a:lnTo>
                    <a:pt x="283601" y="266"/>
                  </a:lnTo>
                  <a:lnTo>
                    <a:pt x="355840" y="73723"/>
                  </a:lnTo>
                  <a:lnTo>
                    <a:pt x="356087" y="75018"/>
                  </a:lnTo>
                  <a:lnTo>
                    <a:pt x="354859" y="77936"/>
                  </a:lnTo>
                  <a:lnTo>
                    <a:pt x="353763" y="78664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33512" y="3586162"/>
              <a:ext cx="243204" cy="314325"/>
            </a:xfrm>
            <a:custGeom>
              <a:avLst/>
              <a:gdLst/>
              <a:ahLst/>
              <a:cxnLst/>
              <a:rect l="l" t="t" r="r" b="b"/>
              <a:pathLst>
                <a:path w="243205" h="314325">
                  <a:moveTo>
                    <a:pt x="133052" y="109835"/>
                  </a:moveTo>
                  <a:lnTo>
                    <a:pt x="127985" y="103822"/>
                  </a:lnTo>
                  <a:lnTo>
                    <a:pt x="124362" y="97204"/>
                  </a:lnTo>
                  <a:lnTo>
                    <a:pt x="122181" y="89981"/>
                  </a:lnTo>
                  <a:lnTo>
                    <a:pt x="121443" y="82153"/>
                  </a:lnTo>
                  <a:lnTo>
                    <a:pt x="121443" y="0"/>
                  </a:lnTo>
                  <a:lnTo>
                    <a:pt x="57150" y="0"/>
                  </a:lnTo>
                  <a:lnTo>
                    <a:pt x="53400" y="11"/>
                  </a:lnTo>
                  <a:lnTo>
                    <a:pt x="49688" y="386"/>
                  </a:lnTo>
                  <a:lnTo>
                    <a:pt x="46012" y="1126"/>
                  </a:lnTo>
                  <a:lnTo>
                    <a:pt x="42336" y="1865"/>
                  </a:lnTo>
                  <a:lnTo>
                    <a:pt x="38767" y="2955"/>
                  </a:lnTo>
                  <a:lnTo>
                    <a:pt x="35305" y="4395"/>
                  </a:lnTo>
                  <a:lnTo>
                    <a:pt x="31844" y="5835"/>
                  </a:lnTo>
                  <a:lnTo>
                    <a:pt x="16788" y="16788"/>
                  </a:lnTo>
                  <a:lnTo>
                    <a:pt x="14137" y="19439"/>
                  </a:lnTo>
                  <a:lnTo>
                    <a:pt x="11768" y="22323"/>
                  </a:lnTo>
                  <a:lnTo>
                    <a:pt x="9683" y="25439"/>
                  </a:lnTo>
                  <a:lnTo>
                    <a:pt x="7598" y="28555"/>
                  </a:lnTo>
                  <a:lnTo>
                    <a:pt x="1126" y="46012"/>
                  </a:lnTo>
                  <a:lnTo>
                    <a:pt x="386" y="49688"/>
                  </a:lnTo>
                  <a:lnTo>
                    <a:pt x="11" y="53400"/>
                  </a:lnTo>
                  <a:lnTo>
                    <a:pt x="0" y="57150"/>
                  </a:lnTo>
                  <a:lnTo>
                    <a:pt x="0" y="257175"/>
                  </a:lnTo>
                  <a:lnTo>
                    <a:pt x="0" y="260927"/>
                  </a:lnTo>
                  <a:lnTo>
                    <a:pt x="366" y="264643"/>
                  </a:lnTo>
                  <a:lnTo>
                    <a:pt x="1098" y="268324"/>
                  </a:lnTo>
                  <a:lnTo>
                    <a:pt x="1830" y="272004"/>
                  </a:lnTo>
                  <a:lnTo>
                    <a:pt x="25399" y="304693"/>
                  </a:lnTo>
                  <a:lnTo>
                    <a:pt x="28519" y="306778"/>
                  </a:lnTo>
                  <a:lnTo>
                    <a:pt x="31812" y="308538"/>
                  </a:lnTo>
                  <a:lnTo>
                    <a:pt x="35279" y="309974"/>
                  </a:lnTo>
                  <a:lnTo>
                    <a:pt x="38746" y="311410"/>
                  </a:lnTo>
                  <a:lnTo>
                    <a:pt x="42320" y="312494"/>
                  </a:lnTo>
                  <a:lnTo>
                    <a:pt x="46000" y="313226"/>
                  </a:lnTo>
                  <a:lnTo>
                    <a:pt x="49681" y="313958"/>
                  </a:lnTo>
                  <a:lnTo>
                    <a:pt x="53397" y="314324"/>
                  </a:lnTo>
                  <a:lnTo>
                    <a:pt x="57150" y="314325"/>
                  </a:lnTo>
                  <a:lnTo>
                    <a:pt x="185737" y="314325"/>
                  </a:lnTo>
                  <a:lnTo>
                    <a:pt x="189490" y="314324"/>
                  </a:lnTo>
                  <a:lnTo>
                    <a:pt x="193206" y="313958"/>
                  </a:lnTo>
                  <a:lnTo>
                    <a:pt x="196886" y="313226"/>
                  </a:lnTo>
                  <a:lnTo>
                    <a:pt x="200567" y="312494"/>
                  </a:lnTo>
                  <a:lnTo>
                    <a:pt x="217488" y="304693"/>
                  </a:lnTo>
                  <a:lnTo>
                    <a:pt x="220608" y="302608"/>
                  </a:lnTo>
                  <a:lnTo>
                    <a:pt x="238537" y="279045"/>
                  </a:lnTo>
                  <a:lnTo>
                    <a:pt x="239973" y="275578"/>
                  </a:lnTo>
                  <a:lnTo>
                    <a:pt x="242887" y="257175"/>
                  </a:lnTo>
                  <a:lnTo>
                    <a:pt x="242887" y="121443"/>
                  </a:lnTo>
                  <a:lnTo>
                    <a:pt x="160734" y="121443"/>
                  </a:lnTo>
                  <a:lnTo>
                    <a:pt x="152904" y="120709"/>
                  </a:lnTo>
                  <a:lnTo>
                    <a:pt x="145681" y="118529"/>
                  </a:lnTo>
                  <a:lnTo>
                    <a:pt x="139063" y="114905"/>
                  </a:lnTo>
                  <a:lnTo>
                    <a:pt x="133052" y="109835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1670" y="3485620"/>
              <a:ext cx="78375" cy="7955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533524" y="3471862"/>
              <a:ext cx="271780" cy="342900"/>
            </a:xfrm>
            <a:custGeom>
              <a:avLst/>
              <a:gdLst/>
              <a:ahLst/>
              <a:cxnLst/>
              <a:rect l="l" t="t" r="r" b="b"/>
              <a:pathLst>
                <a:path w="271780" h="342900">
                  <a:moveTo>
                    <a:pt x="218813" y="342900"/>
                  </a:moveTo>
                  <a:lnTo>
                    <a:pt x="171441" y="342900"/>
                  </a:lnTo>
                  <a:lnTo>
                    <a:pt x="171441" y="221581"/>
                  </a:lnTo>
                  <a:lnTo>
                    <a:pt x="170800" y="214291"/>
                  </a:lnTo>
                  <a:lnTo>
                    <a:pt x="63400" y="96565"/>
                  </a:lnTo>
                  <a:lnTo>
                    <a:pt x="37611" y="85725"/>
                  </a:lnTo>
                  <a:lnTo>
                    <a:pt x="0" y="85725"/>
                  </a:lnTo>
                  <a:lnTo>
                    <a:pt x="4" y="50061"/>
                  </a:lnTo>
                  <a:lnTo>
                    <a:pt x="18197" y="13224"/>
                  </a:lnTo>
                  <a:lnTo>
                    <a:pt x="150018" y="0"/>
                  </a:lnTo>
                  <a:lnTo>
                    <a:pt x="150018" y="82153"/>
                  </a:lnTo>
                  <a:lnTo>
                    <a:pt x="150058" y="87351"/>
                  </a:lnTo>
                  <a:lnTo>
                    <a:pt x="179115" y="120380"/>
                  </a:lnTo>
                  <a:lnTo>
                    <a:pt x="189309" y="121443"/>
                  </a:lnTo>
                  <a:lnTo>
                    <a:pt x="271453" y="121443"/>
                  </a:lnTo>
                  <a:lnTo>
                    <a:pt x="271453" y="289321"/>
                  </a:lnTo>
                  <a:lnTo>
                    <a:pt x="267310" y="310155"/>
                  </a:lnTo>
                  <a:lnTo>
                    <a:pt x="256019" y="327188"/>
                  </a:lnTo>
                  <a:lnTo>
                    <a:pt x="239285" y="338682"/>
                  </a:lnTo>
                  <a:lnTo>
                    <a:pt x="218813" y="342900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33524" y="3471862"/>
              <a:ext cx="271780" cy="342900"/>
            </a:xfrm>
            <a:custGeom>
              <a:avLst/>
              <a:gdLst/>
              <a:ahLst/>
              <a:cxnLst/>
              <a:rect l="l" t="t" r="r" b="b"/>
              <a:pathLst>
                <a:path w="271780" h="342900">
                  <a:moveTo>
                    <a:pt x="189309" y="121443"/>
                  </a:moveTo>
                  <a:lnTo>
                    <a:pt x="184111" y="121404"/>
                  </a:lnTo>
                  <a:lnTo>
                    <a:pt x="179115" y="120380"/>
                  </a:lnTo>
                  <a:lnTo>
                    <a:pt x="174320" y="118372"/>
                  </a:lnTo>
                  <a:lnTo>
                    <a:pt x="169525" y="116365"/>
                  </a:lnTo>
                  <a:lnTo>
                    <a:pt x="150018" y="82153"/>
                  </a:lnTo>
                  <a:lnTo>
                    <a:pt x="150018" y="0"/>
                  </a:lnTo>
                  <a:lnTo>
                    <a:pt x="53578" y="0"/>
                  </a:lnTo>
                  <a:lnTo>
                    <a:pt x="50061" y="4"/>
                  </a:lnTo>
                  <a:lnTo>
                    <a:pt x="46578" y="350"/>
                  </a:lnTo>
                  <a:lnTo>
                    <a:pt x="43129" y="1039"/>
                  </a:lnTo>
                  <a:lnTo>
                    <a:pt x="39681" y="1728"/>
                  </a:lnTo>
                  <a:lnTo>
                    <a:pt x="36332" y="2747"/>
                  </a:lnTo>
                  <a:lnTo>
                    <a:pt x="33084" y="4095"/>
                  </a:lnTo>
                  <a:lnTo>
                    <a:pt x="29835" y="5442"/>
                  </a:lnTo>
                  <a:lnTo>
                    <a:pt x="15710" y="15710"/>
                  </a:lnTo>
                  <a:lnTo>
                    <a:pt x="13224" y="18197"/>
                  </a:lnTo>
                  <a:lnTo>
                    <a:pt x="11003" y="20902"/>
                  </a:lnTo>
                  <a:lnTo>
                    <a:pt x="9048" y="23826"/>
                  </a:lnTo>
                  <a:lnTo>
                    <a:pt x="7094" y="26750"/>
                  </a:lnTo>
                  <a:lnTo>
                    <a:pt x="5442" y="29836"/>
                  </a:lnTo>
                  <a:lnTo>
                    <a:pt x="4095" y="33084"/>
                  </a:lnTo>
                  <a:lnTo>
                    <a:pt x="2747" y="36332"/>
                  </a:lnTo>
                  <a:lnTo>
                    <a:pt x="0" y="53578"/>
                  </a:lnTo>
                  <a:lnTo>
                    <a:pt x="0" y="85725"/>
                  </a:lnTo>
                  <a:lnTo>
                    <a:pt x="37611" y="85725"/>
                  </a:lnTo>
                  <a:lnTo>
                    <a:pt x="44903" y="86425"/>
                  </a:lnTo>
                  <a:lnTo>
                    <a:pt x="160877" y="195685"/>
                  </a:lnTo>
                  <a:lnTo>
                    <a:pt x="171441" y="221581"/>
                  </a:lnTo>
                  <a:lnTo>
                    <a:pt x="171441" y="342900"/>
                  </a:lnTo>
                  <a:lnTo>
                    <a:pt x="218813" y="342900"/>
                  </a:lnTo>
                  <a:lnTo>
                    <a:pt x="239285" y="338682"/>
                  </a:lnTo>
                  <a:lnTo>
                    <a:pt x="256019" y="327188"/>
                  </a:lnTo>
                  <a:lnTo>
                    <a:pt x="267310" y="310155"/>
                  </a:lnTo>
                  <a:lnTo>
                    <a:pt x="271453" y="289321"/>
                  </a:lnTo>
                  <a:lnTo>
                    <a:pt x="271453" y="121443"/>
                  </a:lnTo>
                  <a:lnTo>
                    <a:pt x="189309" y="121443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38199" y="1852693"/>
            <a:ext cx="1854200" cy="1212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 marR="204470" algn="ctr">
              <a:lnSpc>
                <a:spcPts val="2630"/>
              </a:lnSpc>
              <a:spcBef>
                <a:spcPts val="95"/>
              </a:spcBef>
            </a:pPr>
            <a:r>
              <a:rPr sz="2100" b="1" spc="-19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Orchestrator </a:t>
            </a:r>
            <a:r>
              <a:rPr sz="2100" b="1" spc="-12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(</a:t>
            </a:r>
            <a:r>
              <a:rPr sz="2000" b="1" spc="-20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协调</a:t>
            </a:r>
            <a:r>
              <a:rPr sz="2000" b="1" spc="-20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者</a:t>
            </a:r>
            <a:r>
              <a:rPr sz="2100" b="1" spc="-5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)</a:t>
            </a:r>
            <a:endParaRPr sz="2100">
              <a:latin typeface="Noto Sans SC" panose="020B0500000000000000" charset="-122"/>
              <a:cs typeface="Noto Sans SC" panose="020B0500000000000000" charset="-122"/>
            </a:endParaRPr>
          </a:p>
          <a:p>
            <a:pPr marL="12700" marR="5080" algn="ctr">
              <a:lnSpc>
                <a:spcPct val="111000"/>
              </a:lnSpc>
              <a:spcBef>
                <a:spcPts val="490"/>
              </a:spcBef>
            </a:pPr>
            <a:r>
              <a:rPr sz="1350" spc="-16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即主智能体，是整个系统的</a:t>
            </a:r>
            <a:r>
              <a:rPr sz="1350" spc="-6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350" spc="7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350" spc="-17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大脑</a:t>
            </a:r>
            <a:r>
              <a:rPr sz="1350" spc="7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350" spc="-17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1350" spc="7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350" spc="-17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指挥中心</a:t>
            </a:r>
            <a:r>
              <a:rPr sz="1350" spc="7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350" spc="-1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28526" y="3173610"/>
            <a:ext cx="534948" cy="5488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300" y="471169"/>
            <a:ext cx="5359400" cy="5422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核心优势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一：</a:t>
            </a:r>
            <a:r>
              <a:rPr spc="-370" dirty="0"/>
              <a:t>专长分工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，</a:t>
            </a:r>
            <a:r>
              <a:rPr spc="-370" dirty="0"/>
              <a:t>更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精</a:t>
            </a:r>
            <a:r>
              <a:rPr spc="-420" dirty="0"/>
              <a:t>准</a:t>
            </a:r>
            <a:endParaRPr spc="-420" dirty="0"/>
          </a:p>
        </p:txBody>
      </p:sp>
      <p:grpSp>
        <p:nvGrpSpPr>
          <p:cNvPr id="3" name="object 3"/>
          <p:cNvGrpSpPr/>
          <p:nvPr/>
        </p:nvGrpSpPr>
        <p:grpSpPr>
          <a:xfrm>
            <a:off x="761999" y="1504949"/>
            <a:ext cx="2476500" cy="5019675"/>
            <a:chOff x="761999" y="1504949"/>
            <a:chExt cx="2476500" cy="5019675"/>
          </a:xfrm>
        </p:grpSpPr>
        <p:sp>
          <p:nvSpPr>
            <p:cNvPr id="4" name="object 4"/>
            <p:cNvSpPr/>
            <p:nvPr/>
          </p:nvSpPr>
          <p:spPr>
            <a:xfrm>
              <a:off x="790574" y="1504949"/>
              <a:ext cx="2447925" cy="5019675"/>
            </a:xfrm>
            <a:custGeom>
              <a:avLst/>
              <a:gdLst/>
              <a:ahLst/>
              <a:cxnLst/>
              <a:rect l="l" t="t" r="r" b="b"/>
              <a:pathLst>
                <a:path w="2447925" h="5019675">
                  <a:moveTo>
                    <a:pt x="2341129" y="5019674"/>
                  </a:moveTo>
                  <a:lnTo>
                    <a:pt x="80096" y="5019674"/>
                  </a:lnTo>
                  <a:lnTo>
                    <a:pt x="74521" y="5018942"/>
                  </a:lnTo>
                  <a:lnTo>
                    <a:pt x="33418" y="4996241"/>
                  </a:lnTo>
                  <a:lnTo>
                    <a:pt x="11320" y="4962635"/>
                  </a:lnTo>
                  <a:lnTo>
                    <a:pt x="549" y="4920312"/>
                  </a:lnTo>
                  <a:lnTo>
                    <a:pt x="0" y="4912879"/>
                  </a:lnTo>
                  <a:lnTo>
                    <a:pt x="0" y="4905374"/>
                  </a:lnTo>
                  <a:lnTo>
                    <a:pt x="0" y="106794"/>
                  </a:lnTo>
                  <a:lnTo>
                    <a:pt x="8679" y="63625"/>
                  </a:lnTo>
                  <a:lnTo>
                    <a:pt x="29088" y="28170"/>
                  </a:lnTo>
                  <a:lnTo>
                    <a:pt x="63480" y="3660"/>
                  </a:lnTo>
                  <a:lnTo>
                    <a:pt x="80096" y="0"/>
                  </a:lnTo>
                  <a:lnTo>
                    <a:pt x="2341129" y="0"/>
                  </a:lnTo>
                  <a:lnTo>
                    <a:pt x="2384298" y="11572"/>
                  </a:lnTo>
                  <a:lnTo>
                    <a:pt x="2419753" y="38784"/>
                  </a:lnTo>
                  <a:lnTo>
                    <a:pt x="2442095" y="77492"/>
                  </a:lnTo>
                  <a:lnTo>
                    <a:pt x="2447924" y="106794"/>
                  </a:lnTo>
                  <a:lnTo>
                    <a:pt x="2447924" y="4912879"/>
                  </a:lnTo>
                  <a:lnTo>
                    <a:pt x="2436351" y="4956048"/>
                  </a:lnTo>
                  <a:lnTo>
                    <a:pt x="2409139" y="4991503"/>
                  </a:lnTo>
                  <a:lnTo>
                    <a:pt x="2370431" y="5013845"/>
                  </a:lnTo>
                  <a:lnTo>
                    <a:pt x="2348562" y="5018942"/>
                  </a:lnTo>
                  <a:lnTo>
                    <a:pt x="2341129" y="5019674"/>
                  </a:lnTo>
                  <a:close/>
                </a:path>
              </a:pathLst>
            </a:custGeom>
            <a:solidFill>
              <a:srgbClr val="2B3D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1999" y="1505366"/>
              <a:ext cx="106045" cy="5019040"/>
            </a:xfrm>
            <a:custGeom>
              <a:avLst/>
              <a:gdLst/>
              <a:ahLst/>
              <a:cxnLst/>
              <a:rect l="l" t="t" r="r" b="b"/>
              <a:pathLst>
                <a:path w="106044" h="5019040">
                  <a:moveTo>
                    <a:pt x="105675" y="5018841"/>
                  </a:moveTo>
                  <a:lnTo>
                    <a:pt x="60364" y="5005744"/>
                  </a:lnTo>
                  <a:lnTo>
                    <a:pt x="25900" y="4977433"/>
                  </a:lnTo>
                  <a:lnTo>
                    <a:pt x="4893" y="4938087"/>
                  </a:lnTo>
                  <a:lnTo>
                    <a:pt x="0" y="4904958"/>
                  </a:lnTo>
                  <a:lnTo>
                    <a:pt x="0" y="113883"/>
                  </a:lnTo>
                  <a:lnTo>
                    <a:pt x="8700" y="70142"/>
                  </a:lnTo>
                  <a:lnTo>
                    <a:pt x="33477" y="33061"/>
                  </a:lnTo>
                  <a:lnTo>
                    <a:pt x="70559" y="8283"/>
                  </a:lnTo>
                  <a:lnTo>
                    <a:pt x="105674" y="0"/>
                  </a:lnTo>
                  <a:lnTo>
                    <a:pt x="99431" y="2483"/>
                  </a:lnTo>
                  <a:lnTo>
                    <a:pt x="92429" y="8283"/>
                  </a:lnTo>
                  <a:lnTo>
                    <a:pt x="70100" y="41407"/>
                  </a:lnTo>
                  <a:lnTo>
                    <a:pt x="59596" y="80753"/>
                  </a:lnTo>
                  <a:lnTo>
                    <a:pt x="57150" y="113883"/>
                  </a:lnTo>
                  <a:lnTo>
                    <a:pt x="57150" y="4904958"/>
                  </a:lnTo>
                  <a:lnTo>
                    <a:pt x="61500" y="4948698"/>
                  </a:lnTo>
                  <a:lnTo>
                    <a:pt x="73888" y="4985780"/>
                  </a:lnTo>
                  <a:lnTo>
                    <a:pt x="99431" y="5016356"/>
                  </a:lnTo>
                  <a:lnTo>
                    <a:pt x="105675" y="5018841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752401" y="1857324"/>
            <a:ext cx="109220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95"/>
              </a:spcBef>
            </a:pPr>
            <a:r>
              <a:rPr sz="2350" b="1" spc="-26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上下文</a:t>
            </a:r>
            <a:r>
              <a:rPr sz="2350" b="1" spc="-3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隔离</a:t>
            </a:r>
            <a:endParaRPr sz="235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7449" y="2882633"/>
            <a:ext cx="1492250" cy="32258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65"/>
              </a:spcBef>
            </a:pPr>
            <a:r>
              <a:rPr sz="1850" spc="-21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每个子智能体都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有自己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独立</a:t>
            </a:r>
            <a:r>
              <a:rPr sz="1850" b="1" spc="-5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的 </a:t>
            </a:r>
            <a:r>
              <a:rPr sz="1850" b="1" spc="7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记忆</a:t>
            </a:r>
            <a:r>
              <a:rPr sz="1850" b="1" spc="7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和</a:t>
            </a:r>
            <a:r>
              <a:rPr sz="1850" b="1" spc="7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b="1" spc="-22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思</a:t>
            </a:r>
            <a:r>
              <a:rPr sz="185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考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空间</a:t>
            </a:r>
            <a:r>
              <a:rPr sz="1850" b="1" spc="25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6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，处理</a:t>
            </a:r>
            <a:r>
              <a:rPr sz="1850" spc="-21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任务时不会被其他子任务的信息干扰，保证了思考的清晰度和专</a:t>
            </a:r>
            <a:r>
              <a:rPr sz="1850" spc="-16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注度。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182098" y="1504949"/>
            <a:ext cx="2247900" cy="5019675"/>
            <a:chOff x="9182098" y="1504949"/>
            <a:chExt cx="2247900" cy="5019675"/>
          </a:xfrm>
        </p:grpSpPr>
        <p:sp>
          <p:nvSpPr>
            <p:cNvPr id="9" name="object 9"/>
            <p:cNvSpPr/>
            <p:nvPr/>
          </p:nvSpPr>
          <p:spPr>
            <a:xfrm>
              <a:off x="9210673" y="1504949"/>
              <a:ext cx="2219325" cy="5019675"/>
            </a:xfrm>
            <a:custGeom>
              <a:avLst/>
              <a:gdLst/>
              <a:ahLst/>
              <a:cxnLst/>
              <a:rect l="l" t="t" r="r" b="b"/>
              <a:pathLst>
                <a:path w="2219325" h="5019675">
                  <a:moveTo>
                    <a:pt x="2112530" y="5019674"/>
                  </a:moveTo>
                  <a:lnTo>
                    <a:pt x="80096" y="5019674"/>
                  </a:lnTo>
                  <a:lnTo>
                    <a:pt x="74521" y="5018942"/>
                  </a:lnTo>
                  <a:lnTo>
                    <a:pt x="33418" y="4996241"/>
                  </a:lnTo>
                  <a:lnTo>
                    <a:pt x="11319" y="4962635"/>
                  </a:lnTo>
                  <a:lnTo>
                    <a:pt x="548" y="4920312"/>
                  </a:lnTo>
                  <a:lnTo>
                    <a:pt x="0" y="4912879"/>
                  </a:lnTo>
                  <a:lnTo>
                    <a:pt x="0" y="4905374"/>
                  </a:lnTo>
                  <a:lnTo>
                    <a:pt x="0" y="106794"/>
                  </a:lnTo>
                  <a:lnTo>
                    <a:pt x="8679" y="63625"/>
                  </a:lnTo>
                  <a:lnTo>
                    <a:pt x="29088" y="28170"/>
                  </a:lnTo>
                  <a:lnTo>
                    <a:pt x="63479" y="3660"/>
                  </a:lnTo>
                  <a:lnTo>
                    <a:pt x="80096" y="0"/>
                  </a:lnTo>
                  <a:lnTo>
                    <a:pt x="2112530" y="0"/>
                  </a:lnTo>
                  <a:lnTo>
                    <a:pt x="2155697" y="11572"/>
                  </a:lnTo>
                  <a:lnTo>
                    <a:pt x="2191153" y="38784"/>
                  </a:lnTo>
                  <a:lnTo>
                    <a:pt x="2213495" y="77492"/>
                  </a:lnTo>
                  <a:lnTo>
                    <a:pt x="2219324" y="106794"/>
                  </a:lnTo>
                  <a:lnTo>
                    <a:pt x="2219324" y="4912879"/>
                  </a:lnTo>
                  <a:lnTo>
                    <a:pt x="2207750" y="4956048"/>
                  </a:lnTo>
                  <a:lnTo>
                    <a:pt x="2180539" y="4991503"/>
                  </a:lnTo>
                  <a:lnTo>
                    <a:pt x="2141831" y="5013845"/>
                  </a:lnTo>
                  <a:lnTo>
                    <a:pt x="2119962" y="5018942"/>
                  </a:lnTo>
                  <a:lnTo>
                    <a:pt x="2112530" y="5019674"/>
                  </a:lnTo>
                  <a:close/>
                </a:path>
              </a:pathLst>
            </a:custGeom>
            <a:solidFill>
              <a:srgbClr val="2B3D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82098" y="1505366"/>
              <a:ext cx="106045" cy="5019040"/>
            </a:xfrm>
            <a:custGeom>
              <a:avLst/>
              <a:gdLst/>
              <a:ahLst/>
              <a:cxnLst/>
              <a:rect l="l" t="t" r="r" b="b"/>
              <a:pathLst>
                <a:path w="106045" h="5019040">
                  <a:moveTo>
                    <a:pt x="105675" y="5018841"/>
                  </a:moveTo>
                  <a:lnTo>
                    <a:pt x="60364" y="5005744"/>
                  </a:lnTo>
                  <a:lnTo>
                    <a:pt x="25900" y="4977433"/>
                  </a:lnTo>
                  <a:lnTo>
                    <a:pt x="4893" y="4938087"/>
                  </a:lnTo>
                  <a:lnTo>
                    <a:pt x="0" y="4904958"/>
                  </a:lnTo>
                  <a:lnTo>
                    <a:pt x="0" y="113883"/>
                  </a:lnTo>
                  <a:lnTo>
                    <a:pt x="8700" y="70142"/>
                  </a:lnTo>
                  <a:lnTo>
                    <a:pt x="33477" y="33060"/>
                  </a:lnTo>
                  <a:lnTo>
                    <a:pt x="70559" y="8283"/>
                  </a:lnTo>
                  <a:lnTo>
                    <a:pt x="105674" y="0"/>
                  </a:lnTo>
                  <a:lnTo>
                    <a:pt x="99431" y="2483"/>
                  </a:lnTo>
                  <a:lnTo>
                    <a:pt x="92429" y="8283"/>
                  </a:lnTo>
                  <a:lnTo>
                    <a:pt x="70100" y="41407"/>
                  </a:lnTo>
                  <a:lnTo>
                    <a:pt x="59596" y="80753"/>
                  </a:lnTo>
                  <a:lnTo>
                    <a:pt x="57150" y="113883"/>
                  </a:lnTo>
                  <a:lnTo>
                    <a:pt x="57150" y="4904958"/>
                  </a:lnTo>
                  <a:lnTo>
                    <a:pt x="61500" y="4948698"/>
                  </a:lnTo>
                  <a:lnTo>
                    <a:pt x="73889" y="4985780"/>
                  </a:lnTo>
                  <a:lnTo>
                    <a:pt x="99431" y="5016356"/>
                  </a:lnTo>
                  <a:lnTo>
                    <a:pt x="105675" y="5018841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248255" y="1857324"/>
            <a:ext cx="55880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95"/>
              </a:spcBef>
            </a:pPr>
            <a:r>
              <a:rPr sz="2350" b="1" spc="-28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专业</a:t>
            </a:r>
            <a:r>
              <a:rPr sz="2350" b="1" spc="-3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化</a:t>
            </a:r>
            <a:endParaRPr sz="23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07549" y="2882633"/>
            <a:ext cx="1492250" cy="32258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65"/>
              </a:spcBef>
            </a:pPr>
            <a:r>
              <a:rPr sz="1850" spc="-18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可以为每个子</a:t>
            </a:r>
            <a:r>
              <a:rPr sz="185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智能体设定</a:t>
            </a:r>
            <a:r>
              <a:rPr sz="1850" b="1" spc="-5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特 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定</a:t>
            </a:r>
            <a:r>
              <a:rPr sz="185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的</a:t>
            </a:r>
            <a:r>
              <a:rPr sz="1850" b="1" spc="-17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角色和能</a:t>
            </a:r>
            <a:r>
              <a:rPr sz="1850" b="1" spc="-5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力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，让</a:t>
            </a:r>
            <a:r>
              <a:rPr sz="1850" spc="101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专人</a:t>
            </a:r>
            <a:r>
              <a:rPr sz="1850" spc="96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干</a:t>
            </a:r>
            <a:r>
              <a:rPr sz="1850" spc="101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专事</a:t>
            </a:r>
            <a:r>
              <a:rPr sz="1850" spc="38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38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1850" spc="-18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从而在各自领</a:t>
            </a:r>
            <a:r>
              <a:rPr sz="185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50" spc="-18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域达到更高的</a:t>
            </a:r>
            <a:r>
              <a:rPr sz="185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50" spc="-18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准确性和效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50" spc="-13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率。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23407" y="2102347"/>
            <a:ext cx="328295" cy="329565"/>
            <a:chOff x="1223407" y="2102347"/>
            <a:chExt cx="328295" cy="329565"/>
          </a:xfrm>
        </p:grpSpPr>
        <p:sp>
          <p:nvSpPr>
            <p:cNvPr id="14" name="object 14"/>
            <p:cNvSpPr/>
            <p:nvPr/>
          </p:nvSpPr>
          <p:spPr>
            <a:xfrm>
              <a:off x="1223773" y="2102713"/>
              <a:ext cx="327660" cy="328930"/>
            </a:xfrm>
            <a:custGeom>
              <a:avLst/>
              <a:gdLst/>
              <a:ahLst/>
              <a:cxnLst/>
              <a:rect l="l" t="t" r="r" b="b"/>
              <a:pathLst>
                <a:path w="327659" h="328930">
                  <a:moveTo>
                    <a:pt x="165116" y="328393"/>
                  </a:moveTo>
                  <a:lnTo>
                    <a:pt x="162191" y="328393"/>
                  </a:lnTo>
                  <a:lnTo>
                    <a:pt x="159265" y="327210"/>
                  </a:lnTo>
                  <a:lnTo>
                    <a:pt x="99939" y="291363"/>
                  </a:lnTo>
                  <a:lnTo>
                    <a:pt x="70721" y="264511"/>
                  </a:lnTo>
                  <a:lnTo>
                    <a:pt x="40521" y="225909"/>
                  </a:lnTo>
                  <a:lnTo>
                    <a:pt x="18327" y="182227"/>
                  </a:lnTo>
                  <a:lnTo>
                    <a:pt x="2833" y="123061"/>
                  </a:lnTo>
                  <a:lnTo>
                    <a:pt x="0" y="91383"/>
                  </a:lnTo>
                  <a:lnTo>
                    <a:pt x="460" y="58453"/>
                  </a:lnTo>
                  <a:lnTo>
                    <a:pt x="10077" y="47673"/>
                  </a:lnTo>
                  <a:lnTo>
                    <a:pt x="51699" y="39412"/>
                  </a:lnTo>
                  <a:lnTo>
                    <a:pt x="86015" y="30305"/>
                  </a:lnTo>
                  <a:lnTo>
                    <a:pt x="119538" y="18327"/>
                  </a:lnTo>
                  <a:lnTo>
                    <a:pt x="158783" y="1452"/>
                  </a:lnTo>
                  <a:lnTo>
                    <a:pt x="161996" y="0"/>
                  </a:lnTo>
                  <a:lnTo>
                    <a:pt x="165209" y="0"/>
                  </a:lnTo>
                  <a:lnTo>
                    <a:pt x="207666" y="18327"/>
                  </a:lnTo>
                  <a:lnTo>
                    <a:pt x="275505" y="39412"/>
                  </a:lnTo>
                  <a:lnTo>
                    <a:pt x="317127" y="47673"/>
                  </a:lnTo>
                  <a:lnTo>
                    <a:pt x="319780" y="48148"/>
                  </a:lnTo>
                  <a:lnTo>
                    <a:pt x="322004" y="49391"/>
                  </a:lnTo>
                  <a:lnTo>
                    <a:pt x="325592" y="53413"/>
                  </a:lnTo>
                  <a:lnTo>
                    <a:pt x="326574" y="55763"/>
                  </a:lnTo>
                  <a:lnTo>
                    <a:pt x="326745" y="58453"/>
                  </a:lnTo>
                  <a:lnTo>
                    <a:pt x="327205" y="91383"/>
                  </a:lnTo>
                  <a:lnTo>
                    <a:pt x="326986" y="93828"/>
                  </a:lnTo>
                  <a:lnTo>
                    <a:pt x="224488" y="93828"/>
                  </a:lnTo>
                  <a:lnTo>
                    <a:pt x="218044" y="94292"/>
                  </a:lnTo>
                  <a:lnTo>
                    <a:pt x="215376" y="95629"/>
                  </a:lnTo>
                  <a:lnTo>
                    <a:pt x="166253" y="152354"/>
                  </a:lnTo>
                  <a:lnTo>
                    <a:pt x="101898" y="152354"/>
                  </a:lnTo>
                  <a:lnTo>
                    <a:pt x="99494" y="153378"/>
                  </a:lnTo>
                  <a:lnTo>
                    <a:pt x="99204" y="153378"/>
                  </a:lnTo>
                  <a:lnTo>
                    <a:pt x="94473" y="158207"/>
                  </a:lnTo>
                  <a:lnTo>
                    <a:pt x="93358" y="160977"/>
                  </a:lnTo>
                  <a:lnTo>
                    <a:pt x="93424" y="167440"/>
                  </a:lnTo>
                  <a:lnTo>
                    <a:pt x="94595" y="170187"/>
                  </a:lnTo>
                  <a:lnTo>
                    <a:pt x="135161" y="209929"/>
                  </a:lnTo>
                  <a:lnTo>
                    <a:pt x="137889" y="211042"/>
                  </a:lnTo>
                  <a:lnTo>
                    <a:pt x="295193" y="211042"/>
                  </a:lnTo>
                  <a:lnTo>
                    <a:pt x="286729" y="225909"/>
                  </a:lnTo>
                  <a:lnTo>
                    <a:pt x="256586" y="264511"/>
                  </a:lnTo>
                  <a:lnTo>
                    <a:pt x="227367" y="291363"/>
                  </a:lnTo>
                  <a:lnTo>
                    <a:pt x="179719" y="321903"/>
                  </a:lnTo>
                  <a:lnTo>
                    <a:pt x="168041" y="327210"/>
                  </a:lnTo>
                  <a:lnTo>
                    <a:pt x="165116" y="328393"/>
                  </a:lnTo>
                  <a:close/>
                </a:path>
                <a:path w="327659" h="328930">
                  <a:moveTo>
                    <a:pt x="295193" y="211042"/>
                  </a:moveTo>
                  <a:lnTo>
                    <a:pt x="141559" y="211042"/>
                  </a:lnTo>
                  <a:lnTo>
                    <a:pt x="144923" y="210895"/>
                  </a:lnTo>
                  <a:lnTo>
                    <a:pt x="147704" y="209546"/>
                  </a:lnTo>
                  <a:lnTo>
                    <a:pt x="233072" y="110941"/>
                  </a:lnTo>
                  <a:lnTo>
                    <a:pt x="234012" y="108108"/>
                  </a:lnTo>
                  <a:lnTo>
                    <a:pt x="233545" y="101664"/>
                  </a:lnTo>
                  <a:lnTo>
                    <a:pt x="232207" y="98996"/>
                  </a:lnTo>
                  <a:lnTo>
                    <a:pt x="227321" y="94769"/>
                  </a:lnTo>
                  <a:lnTo>
                    <a:pt x="224488" y="93828"/>
                  </a:lnTo>
                  <a:lnTo>
                    <a:pt x="326986" y="93828"/>
                  </a:lnTo>
                  <a:lnTo>
                    <a:pt x="318258" y="153378"/>
                  </a:lnTo>
                  <a:lnTo>
                    <a:pt x="298802" y="204703"/>
                  </a:lnTo>
                  <a:lnTo>
                    <a:pt x="295277" y="210895"/>
                  </a:lnTo>
                  <a:lnTo>
                    <a:pt x="295193" y="211042"/>
                  </a:lnTo>
                  <a:close/>
                </a:path>
                <a:path w="327659" h="328930">
                  <a:moveTo>
                    <a:pt x="140383" y="182227"/>
                  </a:moveTo>
                  <a:lnTo>
                    <a:pt x="110885" y="153378"/>
                  </a:lnTo>
                  <a:lnTo>
                    <a:pt x="110753" y="153378"/>
                  </a:lnTo>
                  <a:lnTo>
                    <a:pt x="108207" y="152354"/>
                  </a:lnTo>
                  <a:lnTo>
                    <a:pt x="166253" y="152354"/>
                  </a:lnTo>
                  <a:lnTo>
                    <a:pt x="140383" y="182227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23773" y="2102713"/>
              <a:ext cx="327660" cy="328930"/>
            </a:xfrm>
            <a:custGeom>
              <a:avLst/>
              <a:gdLst/>
              <a:ahLst/>
              <a:cxnLst/>
              <a:rect l="l" t="t" r="r" b="b"/>
              <a:pathLst>
                <a:path w="327659" h="328930">
                  <a:moveTo>
                    <a:pt x="326745" y="58453"/>
                  </a:moveTo>
                  <a:lnTo>
                    <a:pt x="326574" y="55763"/>
                  </a:lnTo>
                  <a:lnTo>
                    <a:pt x="325592" y="53413"/>
                  </a:lnTo>
                  <a:lnTo>
                    <a:pt x="323798" y="51402"/>
                  </a:lnTo>
                  <a:lnTo>
                    <a:pt x="322004" y="49391"/>
                  </a:lnTo>
                  <a:lnTo>
                    <a:pt x="319780" y="48148"/>
                  </a:lnTo>
                  <a:lnTo>
                    <a:pt x="317127" y="47673"/>
                  </a:lnTo>
                  <a:lnTo>
                    <a:pt x="275505" y="39412"/>
                  </a:lnTo>
                  <a:lnTo>
                    <a:pt x="241189" y="30305"/>
                  </a:lnTo>
                  <a:lnTo>
                    <a:pt x="207666" y="18327"/>
                  </a:lnTo>
                  <a:lnTo>
                    <a:pt x="168422" y="1452"/>
                  </a:lnTo>
                  <a:lnTo>
                    <a:pt x="165209" y="0"/>
                  </a:lnTo>
                  <a:lnTo>
                    <a:pt x="161996" y="0"/>
                  </a:lnTo>
                  <a:lnTo>
                    <a:pt x="119538" y="18327"/>
                  </a:lnTo>
                  <a:lnTo>
                    <a:pt x="51699" y="39412"/>
                  </a:lnTo>
                  <a:lnTo>
                    <a:pt x="10077" y="47673"/>
                  </a:lnTo>
                  <a:lnTo>
                    <a:pt x="7424" y="48148"/>
                  </a:lnTo>
                  <a:lnTo>
                    <a:pt x="5200" y="49391"/>
                  </a:lnTo>
                  <a:lnTo>
                    <a:pt x="3406" y="51402"/>
                  </a:lnTo>
                  <a:lnTo>
                    <a:pt x="1612" y="53413"/>
                  </a:lnTo>
                  <a:lnTo>
                    <a:pt x="630" y="55763"/>
                  </a:lnTo>
                  <a:lnTo>
                    <a:pt x="460" y="58453"/>
                  </a:lnTo>
                  <a:lnTo>
                    <a:pt x="0" y="91383"/>
                  </a:lnTo>
                  <a:lnTo>
                    <a:pt x="2833" y="123061"/>
                  </a:lnTo>
                  <a:lnTo>
                    <a:pt x="18327" y="182227"/>
                  </a:lnTo>
                  <a:lnTo>
                    <a:pt x="40525" y="225916"/>
                  </a:lnTo>
                  <a:lnTo>
                    <a:pt x="70721" y="264511"/>
                  </a:lnTo>
                  <a:lnTo>
                    <a:pt x="99939" y="291363"/>
                  </a:lnTo>
                  <a:lnTo>
                    <a:pt x="147588" y="321903"/>
                  </a:lnTo>
                  <a:lnTo>
                    <a:pt x="162191" y="328393"/>
                  </a:lnTo>
                  <a:lnTo>
                    <a:pt x="165116" y="328393"/>
                  </a:lnTo>
                  <a:lnTo>
                    <a:pt x="200620" y="310223"/>
                  </a:lnTo>
                  <a:lnTo>
                    <a:pt x="256586" y="264511"/>
                  </a:lnTo>
                  <a:lnTo>
                    <a:pt x="286729" y="225909"/>
                  </a:lnTo>
                  <a:lnTo>
                    <a:pt x="308878" y="182227"/>
                  </a:lnTo>
                  <a:lnTo>
                    <a:pt x="324371" y="123061"/>
                  </a:lnTo>
                  <a:lnTo>
                    <a:pt x="327205" y="91383"/>
                  </a:lnTo>
                  <a:lnTo>
                    <a:pt x="326745" y="58453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16766" y="2196176"/>
              <a:ext cx="141384" cy="117946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286250" y="1266824"/>
            <a:ext cx="1933575" cy="476250"/>
            <a:chOff x="4286250" y="1266824"/>
            <a:chExt cx="1933575" cy="476250"/>
          </a:xfrm>
        </p:grpSpPr>
        <p:sp>
          <p:nvSpPr>
            <p:cNvPr id="18" name="object 18"/>
            <p:cNvSpPr/>
            <p:nvPr/>
          </p:nvSpPr>
          <p:spPr>
            <a:xfrm>
              <a:off x="4295774" y="1276349"/>
              <a:ext cx="1914525" cy="457200"/>
            </a:xfrm>
            <a:custGeom>
              <a:avLst/>
              <a:gdLst/>
              <a:ahLst/>
              <a:cxnLst/>
              <a:rect l="l" t="t" r="r" b="b"/>
              <a:pathLst>
                <a:path w="1914525" h="457200">
                  <a:moveTo>
                    <a:pt x="1852227" y="457199"/>
                  </a:moveTo>
                  <a:lnTo>
                    <a:pt x="62297" y="457199"/>
                  </a:lnTo>
                  <a:lnTo>
                    <a:pt x="57961" y="456772"/>
                  </a:lnTo>
                  <a:lnTo>
                    <a:pt x="22624" y="440766"/>
                  </a:lnTo>
                  <a:lnTo>
                    <a:pt x="2135" y="407826"/>
                  </a:lnTo>
                  <a:lnTo>
                    <a:pt x="0" y="394902"/>
                  </a:lnTo>
                  <a:lnTo>
                    <a:pt x="0" y="390524"/>
                  </a:lnTo>
                  <a:lnTo>
                    <a:pt x="0" y="62297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1852227" y="0"/>
                  </a:lnTo>
                  <a:lnTo>
                    <a:pt x="1888532" y="13669"/>
                  </a:lnTo>
                  <a:lnTo>
                    <a:pt x="1911124" y="45204"/>
                  </a:lnTo>
                  <a:lnTo>
                    <a:pt x="1914524" y="62297"/>
                  </a:lnTo>
                  <a:lnTo>
                    <a:pt x="1914524" y="394902"/>
                  </a:lnTo>
                  <a:lnTo>
                    <a:pt x="1900855" y="431207"/>
                  </a:lnTo>
                  <a:lnTo>
                    <a:pt x="1869320" y="453799"/>
                  </a:lnTo>
                  <a:lnTo>
                    <a:pt x="1856563" y="456772"/>
                  </a:lnTo>
                  <a:lnTo>
                    <a:pt x="1852227" y="457199"/>
                  </a:lnTo>
                  <a:close/>
                </a:path>
              </a:pathLst>
            </a:custGeom>
            <a:solidFill>
              <a:srgbClr val="1A2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95774" y="1276349"/>
              <a:ext cx="1914525" cy="457200"/>
            </a:xfrm>
            <a:custGeom>
              <a:avLst/>
              <a:gdLst/>
              <a:ahLst/>
              <a:cxnLst/>
              <a:rect l="l" t="t" r="r" b="b"/>
              <a:pathLst>
                <a:path w="1914525" h="457200">
                  <a:moveTo>
                    <a:pt x="0" y="39052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4" y="0"/>
                  </a:lnTo>
                  <a:lnTo>
                    <a:pt x="1847849" y="0"/>
                  </a:lnTo>
                  <a:lnTo>
                    <a:pt x="1852227" y="0"/>
                  </a:lnTo>
                  <a:lnTo>
                    <a:pt x="1856563" y="427"/>
                  </a:lnTo>
                  <a:lnTo>
                    <a:pt x="1860857" y="1281"/>
                  </a:lnTo>
                  <a:lnTo>
                    <a:pt x="1865151" y="2135"/>
                  </a:lnTo>
                  <a:lnTo>
                    <a:pt x="1869320" y="3399"/>
                  </a:lnTo>
                  <a:lnTo>
                    <a:pt x="1873365" y="5075"/>
                  </a:lnTo>
                  <a:lnTo>
                    <a:pt x="1877409" y="6750"/>
                  </a:lnTo>
                  <a:lnTo>
                    <a:pt x="1905720" y="33272"/>
                  </a:lnTo>
                  <a:lnTo>
                    <a:pt x="1909449" y="41159"/>
                  </a:lnTo>
                  <a:lnTo>
                    <a:pt x="1911124" y="45204"/>
                  </a:lnTo>
                  <a:lnTo>
                    <a:pt x="1912389" y="49373"/>
                  </a:lnTo>
                  <a:lnTo>
                    <a:pt x="1913243" y="53667"/>
                  </a:lnTo>
                  <a:lnTo>
                    <a:pt x="1914097" y="57961"/>
                  </a:lnTo>
                  <a:lnTo>
                    <a:pt x="1914524" y="62297"/>
                  </a:lnTo>
                  <a:lnTo>
                    <a:pt x="1914524" y="66674"/>
                  </a:lnTo>
                  <a:lnTo>
                    <a:pt x="1914524" y="390524"/>
                  </a:lnTo>
                  <a:lnTo>
                    <a:pt x="1914524" y="394902"/>
                  </a:lnTo>
                  <a:lnTo>
                    <a:pt x="1914097" y="399238"/>
                  </a:lnTo>
                  <a:lnTo>
                    <a:pt x="1913243" y="403532"/>
                  </a:lnTo>
                  <a:lnTo>
                    <a:pt x="1912389" y="407826"/>
                  </a:lnTo>
                  <a:lnTo>
                    <a:pt x="1911124" y="411995"/>
                  </a:lnTo>
                  <a:lnTo>
                    <a:pt x="1909449" y="416040"/>
                  </a:lnTo>
                  <a:lnTo>
                    <a:pt x="1907773" y="420085"/>
                  </a:lnTo>
                  <a:lnTo>
                    <a:pt x="1905720" y="423927"/>
                  </a:lnTo>
                  <a:lnTo>
                    <a:pt x="1903287" y="427567"/>
                  </a:lnTo>
                  <a:lnTo>
                    <a:pt x="1900855" y="431207"/>
                  </a:lnTo>
                  <a:lnTo>
                    <a:pt x="1873365" y="452124"/>
                  </a:lnTo>
                  <a:lnTo>
                    <a:pt x="1869320" y="453799"/>
                  </a:lnTo>
                  <a:lnTo>
                    <a:pt x="1847849" y="457199"/>
                  </a:lnTo>
                  <a:lnTo>
                    <a:pt x="66674" y="457199"/>
                  </a:lnTo>
                  <a:lnTo>
                    <a:pt x="62297" y="457199"/>
                  </a:lnTo>
                  <a:lnTo>
                    <a:pt x="57961" y="456772"/>
                  </a:lnTo>
                  <a:lnTo>
                    <a:pt x="53667" y="455918"/>
                  </a:lnTo>
                  <a:lnTo>
                    <a:pt x="49373" y="455064"/>
                  </a:lnTo>
                  <a:lnTo>
                    <a:pt x="29632" y="445963"/>
                  </a:lnTo>
                  <a:lnTo>
                    <a:pt x="25992" y="443530"/>
                  </a:lnTo>
                  <a:lnTo>
                    <a:pt x="3399" y="411995"/>
                  </a:lnTo>
                  <a:lnTo>
                    <a:pt x="1281" y="403532"/>
                  </a:lnTo>
                  <a:lnTo>
                    <a:pt x="427" y="399238"/>
                  </a:lnTo>
                  <a:lnTo>
                    <a:pt x="0" y="394902"/>
                  </a:lnTo>
                  <a:lnTo>
                    <a:pt x="0" y="390524"/>
                  </a:lnTo>
                  <a:close/>
                </a:path>
              </a:pathLst>
            </a:custGeom>
            <a:ln w="19049">
              <a:solidFill>
                <a:srgbClr val="3C566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486820" y="1374711"/>
            <a:ext cx="153924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170" dirty="0">
                <a:solidFill>
                  <a:srgbClr val="C4CCD4"/>
                </a:solidFill>
                <a:latin typeface="Malgun Gothic" panose="020B0503020000020004" charset="-127"/>
                <a:cs typeface="Malgun Gothic" panose="020B0503020000020004" charset="-127"/>
              </a:rPr>
              <a:t>智能体 </a:t>
            </a:r>
            <a:r>
              <a:rPr sz="1450" b="1" spc="-7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A</a:t>
            </a:r>
            <a:r>
              <a:rPr sz="1450" b="1" spc="-2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500" b="1" spc="-70" dirty="0">
                <a:solidFill>
                  <a:srgbClr val="00BCD4"/>
                </a:solidFill>
                <a:latin typeface="Noto Sans SC" panose="020B0500000000000000" charset="-122"/>
                <a:cs typeface="Noto Sans SC" panose="020B0500000000000000" charset="-122"/>
              </a:rPr>
              <a:t>[</a:t>
            </a:r>
            <a:r>
              <a:rPr sz="1500" b="1" spc="-150" dirty="0">
                <a:solidFill>
                  <a:srgbClr val="00BCD4"/>
                </a:solidFill>
                <a:latin typeface="Malgun Gothic" panose="020B0503020000020004" charset="-127"/>
                <a:cs typeface="Malgun Gothic" panose="020B0503020000020004" charset="-127"/>
              </a:rPr>
              <a:t>思考中</a:t>
            </a:r>
            <a:r>
              <a:rPr sz="1500" b="1" spc="-35" dirty="0">
                <a:solidFill>
                  <a:srgbClr val="00BCD4"/>
                </a:solidFill>
                <a:latin typeface="Noto Sans SC" panose="020B0500000000000000" charset="-122"/>
                <a:cs typeface="Noto Sans SC" panose="020B0500000000000000" charset="-122"/>
              </a:rPr>
              <a:t>...]</a:t>
            </a:r>
            <a:endParaRPr sz="1500">
              <a:latin typeface="Noto Sans SC" panose="020B0500000000000000" charset="-122"/>
              <a:cs typeface="Noto Sans SC" panose="020B0500000000000000" charset="-122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29374" y="6286499"/>
            <a:ext cx="1943100" cy="476250"/>
            <a:chOff x="6429374" y="6286499"/>
            <a:chExt cx="1943100" cy="476250"/>
          </a:xfrm>
        </p:grpSpPr>
        <p:sp>
          <p:nvSpPr>
            <p:cNvPr id="22" name="object 22"/>
            <p:cNvSpPr/>
            <p:nvPr/>
          </p:nvSpPr>
          <p:spPr>
            <a:xfrm>
              <a:off x="6438899" y="6296024"/>
              <a:ext cx="1924050" cy="457200"/>
            </a:xfrm>
            <a:custGeom>
              <a:avLst/>
              <a:gdLst/>
              <a:ahLst/>
              <a:cxnLst/>
              <a:rect l="l" t="t" r="r" b="b"/>
              <a:pathLst>
                <a:path w="1924050" h="457200">
                  <a:moveTo>
                    <a:pt x="1861752" y="457199"/>
                  </a:moveTo>
                  <a:lnTo>
                    <a:pt x="62297" y="457199"/>
                  </a:lnTo>
                  <a:lnTo>
                    <a:pt x="57961" y="456772"/>
                  </a:lnTo>
                  <a:lnTo>
                    <a:pt x="22624" y="440766"/>
                  </a:lnTo>
                  <a:lnTo>
                    <a:pt x="2135" y="407826"/>
                  </a:lnTo>
                  <a:lnTo>
                    <a:pt x="0" y="394902"/>
                  </a:lnTo>
                  <a:lnTo>
                    <a:pt x="0" y="390524"/>
                  </a:lnTo>
                  <a:lnTo>
                    <a:pt x="0" y="62297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1861752" y="0"/>
                  </a:lnTo>
                  <a:lnTo>
                    <a:pt x="1898057" y="13669"/>
                  </a:lnTo>
                  <a:lnTo>
                    <a:pt x="1920649" y="45204"/>
                  </a:lnTo>
                  <a:lnTo>
                    <a:pt x="1924049" y="62297"/>
                  </a:lnTo>
                  <a:lnTo>
                    <a:pt x="1924049" y="394902"/>
                  </a:lnTo>
                  <a:lnTo>
                    <a:pt x="1910380" y="431207"/>
                  </a:lnTo>
                  <a:lnTo>
                    <a:pt x="1878845" y="453799"/>
                  </a:lnTo>
                  <a:lnTo>
                    <a:pt x="1866088" y="456772"/>
                  </a:lnTo>
                  <a:lnTo>
                    <a:pt x="1861752" y="457199"/>
                  </a:lnTo>
                  <a:close/>
                </a:path>
              </a:pathLst>
            </a:custGeom>
            <a:solidFill>
              <a:srgbClr val="1A2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438899" y="6296024"/>
              <a:ext cx="1924050" cy="457200"/>
            </a:xfrm>
            <a:custGeom>
              <a:avLst/>
              <a:gdLst/>
              <a:ahLst/>
              <a:cxnLst/>
              <a:rect l="l" t="t" r="r" b="b"/>
              <a:pathLst>
                <a:path w="1924050" h="457200">
                  <a:moveTo>
                    <a:pt x="0" y="39052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4" y="0"/>
                  </a:lnTo>
                  <a:lnTo>
                    <a:pt x="1857374" y="0"/>
                  </a:lnTo>
                  <a:lnTo>
                    <a:pt x="1861752" y="0"/>
                  </a:lnTo>
                  <a:lnTo>
                    <a:pt x="1866088" y="427"/>
                  </a:lnTo>
                  <a:lnTo>
                    <a:pt x="1894416" y="11236"/>
                  </a:lnTo>
                  <a:lnTo>
                    <a:pt x="1898057" y="13669"/>
                  </a:lnTo>
                  <a:lnTo>
                    <a:pt x="1912812" y="29632"/>
                  </a:lnTo>
                  <a:lnTo>
                    <a:pt x="1915245" y="33272"/>
                  </a:lnTo>
                  <a:lnTo>
                    <a:pt x="1924049" y="66674"/>
                  </a:lnTo>
                  <a:lnTo>
                    <a:pt x="1924049" y="390524"/>
                  </a:lnTo>
                  <a:lnTo>
                    <a:pt x="1912812" y="427567"/>
                  </a:lnTo>
                  <a:lnTo>
                    <a:pt x="1910380" y="431207"/>
                  </a:lnTo>
                  <a:lnTo>
                    <a:pt x="1894416" y="445963"/>
                  </a:lnTo>
                  <a:lnTo>
                    <a:pt x="1890776" y="448395"/>
                  </a:lnTo>
                  <a:lnTo>
                    <a:pt x="1857374" y="457199"/>
                  </a:lnTo>
                  <a:lnTo>
                    <a:pt x="66674" y="457199"/>
                  </a:lnTo>
                  <a:lnTo>
                    <a:pt x="62297" y="457199"/>
                  </a:lnTo>
                  <a:lnTo>
                    <a:pt x="57961" y="456772"/>
                  </a:lnTo>
                  <a:lnTo>
                    <a:pt x="53667" y="455918"/>
                  </a:lnTo>
                  <a:lnTo>
                    <a:pt x="49373" y="455064"/>
                  </a:lnTo>
                  <a:lnTo>
                    <a:pt x="29632" y="445963"/>
                  </a:lnTo>
                  <a:lnTo>
                    <a:pt x="25992" y="443530"/>
                  </a:lnTo>
                  <a:lnTo>
                    <a:pt x="3399" y="411995"/>
                  </a:lnTo>
                  <a:lnTo>
                    <a:pt x="1281" y="403532"/>
                  </a:lnTo>
                  <a:lnTo>
                    <a:pt x="427" y="399238"/>
                  </a:lnTo>
                  <a:lnTo>
                    <a:pt x="0" y="394902"/>
                  </a:lnTo>
                  <a:lnTo>
                    <a:pt x="0" y="390524"/>
                  </a:lnTo>
                  <a:close/>
                </a:path>
              </a:pathLst>
            </a:custGeom>
            <a:ln w="19049">
              <a:solidFill>
                <a:srgbClr val="3C566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628159" y="6394386"/>
            <a:ext cx="154559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170" dirty="0">
                <a:solidFill>
                  <a:srgbClr val="C4CCD4"/>
                </a:solidFill>
                <a:latin typeface="Malgun Gothic" panose="020B0503020000020004" charset="-127"/>
                <a:cs typeface="Malgun Gothic" panose="020B0503020000020004" charset="-127"/>
              </a:rPr>
              <a:t>智能体 </a:t>
            </a:r>
            <a:r>
              <a:rPr sz="1450" b="1" spc="-8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B</a:t>
            </a:r>
            <a:r>
              <a:rPr sz="1450" b="1" spc="-2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500" b="1" spc="-70" dirty="0">
                <a:solidFill>
                  <a:srgbClr val="00BCD4"/>
                </a:solidFill>
                <a:latin typeface="Noto Sans SC" panose="020B0500000000000000" charset="-122"/>
                <a:cs typeface="Noto Sans SC" panose="020B0500000000000000" charset="-122"/>
              </a:rPr>
              <a:t>[</a:t>
            </a:r>
            <a:r>
              <a:rPr sz="1500" b="1" spc="-150" dirty="0">
                <a:solidFill>
                  <a:srgbClr val="00BCD4"/>
                </a:solidFill>
                <a:latin typeface="Malgun Gothic" panose="020B0503020000020004" charset="-127"/>
                <a:cs typeface="Malgun Gothic" panose="020B0503020000020004" charset="-127"/>
              </a:rPr>
              <a:t>思考中</a:t>
            </a:r>
            <a:r>
              <a:rPr sz="1500" b="1" spc="-35" dirty="0">
                <a:solidFill>
                  <a:srgbClr val="00BCD4"/>
                </a:solidFill>
                <a:latin typeface="Noto Sans SC" panose="020B0500000000000000" charset="-122"/>
                <a:cs typeface="Noto Sans SC" panose="020B0500000000000000" charset="-122"/>
              </a:rPr>
              <a:t>...]</a:t>
            </a:r>
            <a:endParaRPr sz="1500">
              <a:latin typeface="Noto Sans SC" panose="020B0500000000000000" charset="-122"/>
              <a:cs typeface="Noto Sans SC" panose="020B0500000000000000" charset="-122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633862" y="2082809"/>
            <a:ext cx="423545" cy="368300"/>
            <a:chOff x="9633862" y="2082809"/>
            <a:chExt cx="423545" cy="368300"/>
          </a:xfrm>
        </p:grpSpPr>
        <p:sp>
          <p:nvSpPr>
            <p:cNvPr id="26" name="object 26"/>
            <p:cNvSpPr/>
            <p:nvPr/>
          </p:nvSpPr>
          <p:spPr>
            <a:xfrm>
              <a:off x="9704658" y="2291833"/>
              <a:ext cx="281940" cy="159385"/>
            </a:xfrm>
            <a:custGeom>
              <a:avLst/>
              <a:gdLst/>
              <a:ahLst/>
              <a:cxnLst/>
              <a:rect l="l" t="t" r="r" b="b"/>
              <a:pathLst>
                <a:path w="281940" h="159385">
                  <a:moveTo>
                    <a:pt x="142971" y="158783"/>
                  </a:moveTo>
                  <a:lnTo>
                    <a:pt x="138416" y="158783"/>
                  </a:lnTo>
                  <a:lnTo>
                    <a:pt x="2412" y="83226"/>
                  </a:lnTo>
                  <a:lnTo>
                    <a:pt x="0" y="79122"/>
                  </a:lnTo>
                  <a:lnTo>
                    <a:pt x="0" y="4747"/>
                  </a:lnTo>
                  <a:lnTo>
                    <a:pt x="1171" y="2714"/>
                  </a:lnTo>
                  <a:lnTo>
                    <a:pt x="5863" y="0"/>
                  </a:lnTo>
                  <a:lnTo>
                    <a:pt x="8209" y="0"/>
                  </a:lnTo>
                  <a:lnTo>
                    <a:pt x="10556" y="1354"/>
                  </a:lnTo>
                  <a:lnTo>
                    <a:pt x="135874" y="72980"/>
                  </a:lnTo>
                  <a:lnTo>
                    <a:pt x="138202" y="73598"/>
                  </a:lnTo>
                  <a:lnTo>
                    <a:pt x="140693" y="73598"/>
                  </a:lnTo>
                  <a:lnTo>
                    <a:pt x="143185" y="73598"/>
                  </a:lnTo>
                  <a:lnTo>
                    <a:pt x="145512" y="72980"/>
                  </a:lnTo>
                  <a:lnTo>
                    <a:pt x="270831" y="1354"/>
                  </a:lnTo>
                  <a:lnTo>
                    <a:pt x="273177" y="0"/>
                  </a:lnTo>
                  <a:lnTo>
                    <a:pt x="275524" y="0"/>
                  </a:lnTo>
                  <a:lnTo>
                    <a:pt x="280215" y="2714"/>
                  </a:lnTo>
                  <a:lnTo>
                    <a:pt x="281386" y="4747"/>
                  </a:lnTo>
                  <a:lnTo>
                    <a:pt x="281387" y="79122"/>
                  </a:lnTo>
                  <a:lnTo>
                    <a:pt x="278975" y="83226"/>
                  </a:lnTo>
                  <a:lnTo>
                    <a:pt x="142971" y="158783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704658" y="2291833"/>
              <a:ext cx="281940" cy="159385"/>
            </a:xfrm>
            <a:custGeom>
              <a:avLst/>
              <a:gdLst/>
              <a:ahLst/>
              <a:cxnLst/>
              <a:rect l="l" t="t" r="r" b="b"/>
              <a:pathLst>
                <a:path w="281940" h="159385">
                  <a:moveTo>
                    <a:pt x="140693" y="73598"/>
                  </a:moveTo>
                  <a:lnTo>
                    <a:pt x="138202" y="73598"/>
                  </a:lnTo>
                  <a:lnTo>
                    <a:pt x="135874" y="72980"/>
                  </a:lnTo>
                  <a:lnTo>
                    <a:pt x="133711" y="71743"/>
                  </a:lnTo>
                  <a:lnTo>
                    <a:pt x="10556" y="1354"/>
                  </a:lnTo>
                  <a:lnTo>
                    <a:pt x="8209" y="0"/>
                  </a:lnTo>
                  <a:lnTo>
                    <a:pt x="5863" y="0"/>
                  </a:lnTo>
                  <a:lnTo>
                    <a:pt x="3517" y="1357"/>
                  </a:lnTo>
                  <a:lnTo>
                    <a:pt x="1171" y="2714"/>
                  </a:lnTo>
                  <a:lnTo>
                    <a:pt x="0" y="4747"/>
                  </a:lnTo>
                  <a:lnTo>
                    <a:pt x="4" y="7457"/>
                  </a:lnTo>
                  <a:lnTo>
                    <a:pt x="4" y="73598"/>
                  </a:lnTo>
                  <a:lnTo>
                    <a:pt x="0" y="79122"/>
                  </a:lnTo>
                  <a:lnTo>
                    <a:pt x="2412" y="83226"/>
                  </a:lnTo>
                  <a:lnTo>
                    <a:pt x="7241" y="85909"/>
                  </a:lnTo>
                  <a:lnTo>
                    <a:pt x="133861" y="156253"/>
                  </a:lnTo>
                  <a:lnTo>
                    <a:pt x="138416" y="158783"/>
                  </a:lnTo>
                  <a:lnTo>
                    <a:pt x="142971" y="158783"/>
                  </a:lnTo>
                  <a:lnTo>
                    <a:pt x="147525" y="156253"/>
                  </a:lnTo>
                  <a:lnTo>
                    <a:pt x="274146" y="85909"/>
                  </a:lnTo>
                  <a:lnTo>
                    <a:pt x="278975" y="83226"/>
                  </a:lnTo>
                  <a:lnTo>
                    <a:pt x="281387" y="79122"/>
                  </a:lnTo>
                  <a:lnTo>
                    <a:pt x="281382" y="73598"/>
                  </a:lnTo>
                  <a:lnTo>
                    <a:pt x="281382" y="7457"/>
                  </a:lnTo>
                  <a:lnTo>
                    <a:pt x="281386" y="4747"/>
                  </a:lnTo>
                  <a:lnTo>
                    <a:pt x="280215" y="2714"/>
                  </a:lnTo>
                  <a:lnTo>
                    <a:pt x="277870" y="1357"/>
                  </a:lnTo>
                  <a:lnTo>
                    <a:pt x="275524" y="0"/>
                  </a:lnTo>
                  <a:lnTo>
                    <a:pt x="273177" y="0"/>
                  </a:lnTo>
                  <a:lnTo>
                    <a:pt x="270831" y="1354"/>
                  </a:lnTo>
                  <a:lnTo>
                    <a:pt x="147675" y="71743"/>
                  </a:lnTo>
                  <a:lnTo>
                    <a:pt x="145512" y="72980"/>
                  </a:lnTo>
                  <a:lnTo>
                    <a:pt x="143185" y="73598"/>
                  </a:lnTo>
                  <a:lnTo>
                    <a:pt x="140693" y="73598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634302" y="2083248"/>
              <a:ext cx="422275" cy="296545"/>
            </a:xfrm>
            <a:custGeom>
              <a:avLst/>
              <a:gdLst/>
              <a:ahLst/>
              <a:cxnLst/>
              <a:rect l="l" t="t" r="r" b="b"/>
              <a:pathLst>
                <a:path w="422275" h="296544">
                  <a:moveTo>
                    <a:pt x="409259" y="296327"/>
                  </a:moveTo>
                  <a:lnTo>
                    <a:pt x="399766" y="295856"/>
                  </a:lnTo>
                  <a:lnTo>
                    <a:pt x="393945" y="289358"/>
                  </a:lnTo>
                  <a:lnTo>
                    <a:pt x="393948" y="154022"/>
                  </a:lnTo>
                  <a:lnTo>
                    <a:pt x="393656" y="153513"/>
                  </a:lnTo>
                  <a:lnTo>
                    <a:pt x="392482" y="152832"/>
                  </a:lnTo>
                  <a:lnTo>
                    <a:pt x="391895" y="152832"/>
                  </a:lnTo>
                  <a:lnTo>
                    <a:pt x="213359" y="254850"/>
                  </a:lnTo>
                  <a:lnTo>
                    <a:pt x="208705" y="254850"/>
                  </a:lnTo>
                  <a:lnTo>
                    <a:pt x="2361" y="136938"/>
                  </a:lnTo>
                  <a:lnTo>
                    <a:pt x="0" y="132866"/>
                  </a:lnTo>
                  <a:lnTo>
                    <a:pt x="0" y="121983"/>
                  </a:lnTo>
                  <a:lnTo>
                    <a:pt x="2361" y="117912"/>
                  </a:lnTo>
                  <a:lnTo>
                    <a:pt x="208705" y="0"/>
                  </a:lnTo>
                  <a:lnTo>
                    <a:pt x="213359" y="0"/>
                  </a:lnTo>
                  <a:lnTo>
                    <a:pt x="419177" y="117602"/>
                  </a:lnTo>
                  <a:lnTo>
                    <a:pt x="421522" y="121202"/>
                  </a:lnTo>
                  <a:lnTo>
                    <a:pt x="422013" y="126009"/>
                  </a:lnTo>
                  <a:lnTo>
                    <a:pt x="422058" y="126544"/>
                  </a:lnTo>
                  <a:lnTo>
                    <a:pt x="422082" y="126984"/>
                  </a:lnTo>
                  <a:lnTo>
                    <a:pt x="422083" y="284107"/>
                  </a:lnTo>
                  <a:lnTo>
                    <a:pt x="421704" y="285954"/>
                  </a:lnTo>
                  <a:lnTo>
                    <a:pt x="411122" y="296037"/>
                  </a:lnTo>
                  <a:lnTo>
                    <a:pt x="409259" y="296327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634302" y="2083248"/>
              <a:ext cx="422275" cy="296545"/>
            </a:xfrm>
            <a:custGeom>
              <a:avLst/>
              <a:gdLst/>
              <a:ahLst/>
              <a:cxnLst/>
              <a:rect l="l" t="t" r="r" b="b"/>
              <a:pathLst>
                <a:path w="422275" h="296544">
                  <a:moveTo>
                    <a:pt x="422013" y="126106"/>
                  </a:moveTo>
                  <a:lnTo>
                    <a:pt x="421522" y="121202"/>
                  </a:lnTo>
                  <a:lnTo>
                    <a:pt x="419177" y="117602"/>
                  </a:lnTo>
                  <a:lnTo>
                    <a:pt x="414978" y="115211"/>
                  </a:lnTo>
                  <a:lnTo>
                    <a:pt x="218013" y="2660"/>
                  </a:lnTo>
                  <a:lnTo>
                    <a:pt x="213359" y="0"/>
                  </a:lnTo>
                  <a:lnTo>
                    <a:pt x="208705" y="0"/>
                  </a:lnTo>
                  <a:lnTo>
                    <a:pt x="204050" y="2660"/>
                  </a:lnTo>
                  <a:lnTo>
                    <a:pt x="7085" y="115211"/>
                  </a:lnTo>
                  <a:lnTo>
                    <a:pt x="2361" y="117912"/>
                  </a:lnTo>
                  <a:lnTo>
                    <a:pt x="0" y="121983"/>
                  </a:lnTo>
                  <a:lnTo>
                    <a:pt x="0" y="127425"/>
                  </a:lnTo>
                  <a:lnTo>
                    <a:pt x="0" y="132866"/>
                  </a:lnTo>
                  <a:lnTo>
                    <a:pt x="2361" y="136938"/>
                  </a:lnTo>
                  <a:lnTo>
                    <a:pt x="7085" y="139638"/>
                  </a:lnTo>
                  <a:lnTo>
                    <a:pt x="204050" y="252190"/>
                  </a:lnTo>
                  <a:lnTo>
                    <a:pt x="208705" y="254850"/>
                  </a:lnTo>
                  <a:lnTo>
                    <a:pt x="213359" y="254850"/>
                  </a:lnTo>
                  <a:lnTo>
                    <a:pt x="218013" y="252190"/>
                  </a:lnTo>
                  <a:lnTo>
                    <a:pt x="391307" y="153171"/>
                  </a:lnTo>
                  <a:lnTo>
                    <a:pt x="391895" y="152832"/>
                  </a:lnTo>
                  <a:lnTo>
                    <a:pt x="392482" y="152832"/>
                  </a:lnTo>
                  <a:lnTo>
                    <a:pt x="393069" y="153173"/>
                  </a:lnTo>
                  <a:lnTo>
                    <a:pt x="393656" y="153513"/>
                  </a:lnTo>
                  <a:lnTo>
                    <a:pt x="393948" y="154022"/>
                  </a:lnTo>
                  <a:lnTo>
                    <a:pt x="393945" y="154701"/>
                  </a:lnTo>
                  <a:lnTo>
                    <a:pt x="393945" y="281787"/>
                  </a:lnTo>
                  <a:lnTo>
                    <a:pt x="393945" y="289358"/>
                  </a:lnTo>
                  <a:lnTo>
                    <a:pt x="399766" y="295856"/>
                  </a:lnTo>
                  <a:lnTo>
                    <a:pt x="407337" y="296234"/>
                  </a:lnTo>
                  <a:lnTo>
                    <a:pt x="409259" y="296327"/>
                  </a:lnTo>
                  <a:lnTo>
                    <a:pt x="411122" y="296037"/>
                  </a:lnTo>
                  <a:lnTo>
                    <a:pt x="422083" y="282183"/>
                  </a:lnTo>
                  <a:lnTo>
                    <a:pt x="422083" y="127425"/>
                  </a:lnTo>
                  <a:lnTo>
                    <a:pt x="422082" y="126984"/>
                  </a:lnTo>
                  <a:lnTo>
                    <a:pt x="422058" y="126544"/>
                  </a:lnTo>
                  <a:lnTo>
                    <a:pt x="422013" y="126106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2549" y="2962274"/>
            <a:ext cx="2095499" cy="209549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740399" y="3843781"/>
            <a:ext cx="939800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20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专注</a:t>
            </a:r>
            <a:r>
              <a:rPr sz="2000" b="1" spc="-17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思考</a:t>
            </a:r>
            <a:endParaRPr sz="2000">
              <a:latin typeface="Malgun Gothic" panose="020B0503020000020004" charset="-127"/>
              <a:cs typeface="Malgun Gothic" panose="020B0503020000020004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300" y="471169"/>
            <a:ext cx="5359400" cy="5422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核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心</a:t>
            </a:r>
            <a:r>
              <a:rPr spc="-370" dirty="0"/>
              <a:t>优势二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：</a:t>
            </a:r>
            <a:r>
              <a:rPr spc="-370" dirty="0"/>
              <a:t>并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行</a:t>
            </a:r>
            <a:r>
              <a:rPr spc="-370" dirty="0"/>
              <a:t>执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行，更高</a:t>
            </a:r>
            <a:r>
              <a:rPr spc="-420" dirty="0"/>
              <a:t>效</a:t>
            </a:r>
            <a:endParaRPr spc="-420" dirty="0"/>
          </a:p>
        </p:txBody>
      </p:sp>
      <p:sp>
        <p:nvSpPr>
          <p:cNvPr id="3" name="object 3"/>
          <p:cNvSpPr txBox="1"/>
          <p:nvPr/>
        </p:nvSpPr>
        <p:spPr>
          <a:xfrm>
            <a:off x="1301749" y="1400428"/>
            <a:ext cx="21590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-260" dirty="0">
                <a:solidFill>
                  <a:srgbClr val="FF6F61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传统单</a:t>
            </a:r>
            <a:r>
              <a:rPr sz="2350" b="1" spc="-270" dirty="0">
                <a:solidFill>
                  <a:srgbClr val="FF6F61"/>
                </a:solidFill>
                <a:latin typeface="Malgun Gothic" panose="020B0503020000020004" charset="-127"/>
                <a:cs typeface="Malgun Gothic" panose="020B0503020000020004" charset="-127"/>
              </a:rPr>
              <a:t>智能体模式</a:t>
            </a:r>
            <a:endParaRPr sz="2350">
              <a:latin typeface="Malgun Gothic" panose="020B0503020000020004" charset="-127"/>
              <a:cs typeface="Malgun Gothic" panose="020B0503020000020004" charset="-127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6749" y="1981199"/>
            <a:ext cx="3429000" cy="4400550"/>
            <a:chOff x="666749" y="1981199"/>
            <a:chExt cx="3429000" cy="4400550"/>
          </a:xfrm>
        </p:grpSpPr>
        <p:sp>
          <p:nvSpPr>
            <p:cNvPr id="5" name="object 5"/>
            <p:cNvSpPr/>
            <p:nvPr/>
          </p:nvSpPr>
          <p:spPr>
            <a:xfrm>
              <a:off x="666749" y="1981199"/>
              <a:ext cx="3429000" cy="4400550"/>
            </a:xfrm>
            <a:custGeom>
              <a:avLst/>
              <a:gdLst/>
              <a:ahLst/>
              <a:cxnLst/>
              <a:rect l="l" t="t" r="r" b="b"/>
              <a:pathLst>
                <a:path w="3429000" h="4400550">
                  <a:moveTo>
                    <a:pt x="3357802" y="4400549"/>
                  </a:moveTo>
                  <a:lnTo>
                    <a:pt x="71196" y="4400549"/>
                  </a:lnTo>
                  <a:lnTo>
                    <a:pt x="66241" y="4400060"/>
                  </a:lnTo>
                  <a:lnTo>
                    <a:pt x="29705" y="4384926"/>
                  </a:lnTo>
                  <a:lnTo>
                    <a:pt x="3885" y="4348886"/>
                  </a:lnTo>
                  <a:lnTo>
                    <a:pt x="0" y="4329352"/>
                  </a:lnTo>
                  <a:lnTo>
                    <a:pt x="0" y="43243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357802" y="0"/>
                  </a:lnTo>
                  <a:lnTo>
                    <a:pt x="3399294" y="15621"/>
                  </a:lnTo>
                  <a:lnTo>
                    <a:pt x="3425113" y="51661"/>
                  </a:lnTo>
                  <a:lnTo>
                    <a:pt x="3428999" y="71196"/>
                  </a:lnTo>
                  <a:lnTo>
                    <a:pt x="3428999" y="4329352"/>
                  </a:lnTo>
                  <a:lnTo>
                    <a:pt x="3413377" y="4370843"/>
                  </a:lnTo>
                  <a:lnTo>
                    <a:pt x="3377337" y="4396663"/>
                  </a:lnTo>
                  <a:lnTo>
                    <a:pt x="3362758" y="4400060"/>
                  </a:lnTo>
                  <a:lnTo>
                    <a:pt x="3357802" y="4400549"/>
                  </a:lnTo>
                  <a:close/>
                </a:path>
              </a:pathLst>
            </a:custGeom>
            <a:solidFill>
              <a:srgbClr val="2B3D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61999" y="2076449"/>
              <a:ext cx="3238500" cy="561975"/>
            </a:xfrm>
            <a:custGeom>
              <a:avLst/>
              <a:gdLst/>
              <a:ahLst/>
              <a:cxnLst/>
              <a:rect l="l" t="t" r="r" b="b"/>
              <a:pathLst>
                <a:path w="3238500" h="561975">
                  <a:moveTo>
                    <a:pt x="3205452" y="561974"/>
                  </a:moveTo>
                  <a:lnTo>
                    <a:pt x="33047" y="561974"/>
                  </a:lnTo>
                  <a:lnTo>
                    <a:pt x="28187" y="561008"/>
                  </a:lnTo>
                  <a:lnTo>
                    <a:pt x="966" y="533787"/>
                  </a:lnTo>
                  <a:lnTo>
                    <a:pt x="0" y="528927"/>
                  </a:lnTo>
                  <a:lnTo>
                    <a:pt x="0" y="5238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205452" y="0"/>
                  </a:lnTo>
                  <a:lnTo>
                    <a:pt x="3237532" y="28187"/>
                  </a:lnTo>
                  <a:lnTo>
                    <a:pt x="3238499" y="33047"/>
                  </a:lnTo>
                  <a:lnTo>
                    <a:pt x="3238499" y="528927"/>
                  </a:lnTo>
                  <a:lnTo>
                    <a:pt x="3210312" y="561008"/>
                  </a:lnTo>
                  <a:lnTo>
                    <a:pt x="3205452" y="561974"/>
                  </a:lnTo>
                  <a:close/>
                </a:path>
              </a:pathLst>
            </a:custGeom>
            <a:solidFill>
              <a:srgbClr val="3349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225549" y="2210435"/>
            <a:ext cx="2311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04" dirty="0">
                <a:solidFill>
                  <a:srgbClr val="A0AAB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任务需要一步一步串行完成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67249" y="1638299"/>
            <a:ext cx="6858000" cy="762000"/>
            <a:chOff x="4667249" y="1638299"/>
            <a:chExt cx="6858000" cy="762000"/>
          </a:xfrm>
        </p:grpSpPr>
        <p:sp>
          <p:nvSpPr>
            <p:cNvPr id="9" name="object 9"/>
            <p:cNvSpPr/>
            <p:nvPr/>
          </p:nvSpPr>
          <p:spPr>
            <a:xfrm>
              <a:off x="4691061" y="1638299"/>
              <a:ext cx="6834505" cy="762000"/>
            </a:xfrm>
            <a:custGeom>
              <a:avLst/>
              <a:gdLst/>
              <a:ahLst/>
              <a:cxnLst/>
              <a:rect l="l" t="t" r="r" b="b"/>
              <a:pathLst>
                <a:path w="6834505" h="762000">
                  <a:moveTo>
                    <a:pt x="6762989" y="761999"/>
                  </a:moveTo>
                  <a:lnTo>
                    <a:pt x="48947" y="761999"/>
                  </a:lnTo>
                  <a:lnTo>
                    <a:pt x="45540" y="761511"/>
                  </a:lnTo>
                  <a:lnTo>
                    <a:pt x="12911" y="736143"/>
                  </a:lnTo>
                  <a:lnTo>
                    <a:pt x="335" y="695758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6762989" y="0"/>
                  </a:lnTo>
                  <a:lnTo>
                    <a:pt x="6804479" y="15621"/>
                  </a:lnTo>
                  <a:lnTo>
                    <a:pt x="6830299" y="51661"/>
                  </a:lnTo>
                  <a:lnTo>
                    <a:pt x="6834185" y="71196"/>
                  </a:lnTo>
                  <a:lnTo>
                    <a:pt x="6834185" y="690803"/>
                  </a:lnTo>
                  <a:lnTo>
                    <a:pt x="6818563" y="732294"/>
                  </a:lnTo>
                  <a:lnTo>
                    <a:pt x="6782523" y="758114"/>
                  </a:lnTo>
                  <a:lnTo>
                    <a:pt x="6767943" y="761511"/>
                  </a:lnTo>
                  <a:lnTo>
                    <a:pt x="6762989" y="761999"/>
                  </a:lnTo>
                  <a:close/>
                </a:path>
              </a:pathLst>
            </a:custGeom>
            <a:solidFill>
              <a:srgbClr val="2B3D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667249" y="1638501"/>
              <a:ext cx="72390" cy="762000"/>
            </a:xfrm>
            <a:custGeom>
              <a:avLst/>
              <a:gdLst/>
              <a:ahLst/>
              <a:cxnLst/>
              <a:rect l="l" t="t" r="r" b="b"/>
              <a:pathLst>
                <a:path w="72389" h="762000">
                  <a:moveTo>
                    <a:pt x="72031" y="761597"/>
                  </a:moveTo>
                  <a:lnTo>
                    <a:pt x="33857" y="748968"/>
                  </a:lnTo>
                  <a:lnTo>
                    <a:pt x="5800" y="714758"/>
                  </a:lnTo>
                  <a:lnTo>
                    <a:pt x="0" y="6855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2"/>
                  </a:lnTo>
                  <a:lnTo>
                    <a:pt x="61763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685598"/>
                  </a:lnTo>
                  <a:lnTo>
                    <a:pt x="52435" y="727940"/>
                  </a:lnTo>
                  <a:lnTo>
                    <a:pt x="68765" y="759864"/>
                  </a:lnTo>
                  <a:lnTo>
                    <a:pt x="72031" y="761597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607049" y="1840257"/>
            <a:ext cx="453326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18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Subagent</a:t>
            </a:r>
            <a:r>
              <a:rPr sz="1950" spc="5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架构允许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多个子</a:t>
            </a:r>
            <a:r>
              <a:rPr sz="185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智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能体同时开</a:t>
            </a:r>
            <a:r>
              <a:rPr sz="185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始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工作</a:t>
            </a:r>
            <a:r>
              <a:rPr sz="1950" spc="-2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...</a:t>
            </a:r>
            <a:endParaRPr sz="1950">
              <a:latin typeface="Noto Sans SC" panose="020B0500000000000000" charset="-122"/>
              <a:cs typeface="Noto Sans SC" panose="020B0500000000000000" charset="-122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67249" y="3047999"/>
            <a:ext cx="6858000" cy="762000"/>
            <a:chOff x="4667249" y="3047999"/>
            <a:chExt cx="6858000" cy="762000"/>
          </a:xfrm>
        </p:grpSpPr>
        <p:sp>
          <p:nvSpPr>
            <p:cNvPr id="13" name="object 13"/>
            <p:cNvSpPr/>
            <p:nvPr/>
          </p:nvSpPr>
          <p:spPr>
            <a:xfrm>
              <a:off x="4691061" y="3047999"/>
              <a:ext cx="6834505" cy="762000"/>
            </a:xfrm>
            <a:custGeom>
              <a:avLst/>
              <a:gdLst/>
              <a:ahLst/>
              <a:cxnLst/>
              <a:rect l="l" t="t" r="r" b="b"/>
              <a:pathLst>
                <a:path w="6834505" h="762000">
                  <a:moveTo>
                    <a:pt x="6762989" y="761999"/>
                  </a:moveTo>
                  <a:lnTo>
                    <a:pt x="48947" y="761999"/>
                  </a:lnTo>
                  <a:lnTo>
                    <a:pt x="45540" y="761511"/>
                  </a:lnTo>
                  <a:lnTo>
                    <a:pt x="12911" y="736143"/>
                  </a:lnTo>
                  <a:lnTo>
                    <a:pt x="335" y="695758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6762989" y="0"/>
                  </a:lnTo>
                  <a:lnTo>
                    <a:pt x="6804479" y="15621"/>
                  </a:lnTo>
                  <a:lnTo>
                    <a:pt x="6830299" y="51661"/>
                  </a:lnTo>
                  <a:lnTo>
                    <a:pt x="6834185" y="71196"/>
                  </a:lnTo>
                  <a:lnTo>
                    <a:pt x="6834185" y="690803"/>
                  </a:lnTo>
                  <a:lnTo>
                    <a:pt x="6818563" y="732293"/>
                  </a:lnTo>
                  <a:lnTo>
                    <a:pt x="6782523" y="758113"/>
                  </a:lnTo>
                  <a:lnTo>
                    <a:pt x="6767943" y="761511"/>
                  </a:lnTo>
                  <a:lnTo>
                    <a:pt x="6762989" y="761999"/>
                  </a:lnTo>
                  <a:close/>
                </a:path>
              </a:pathLst>
            </a:custGeom>
            <a:solidFill>
              <a:srgbClr val="2B3D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67249" y="3048201"/>
              <a:ext cx="72390" cy="762000"/>
            </a:xfrm>
            <a:custGeom>
              <a:avLst/>
              <a:gdLst/>
              <a:ahLst/>
              <a:cxnLst/>
              <a:rect l="l" t="t" r="r" b="b"/>
              <a:pathLst>
                <a:path w="72389" h="762000">
                  <a:moveTo>
                    <a:pt x="72031" y="761597"/>
                  </a:moveTo>
                  <a:lnTo>
                    <a:pt x="33857" y="748968"/>
                  </a:lnTo>
                  <a:lnTo>
                    <a:pt x="5800" y="714758"/>
                  </a:lnTo>
                  <a:lnTo>
                    <a:pt x="0" y="6855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1" y="0"/>
                  </a:lnTo>
                  <a:lnTo>
                    <a:pt x="68765" y="1731"/>
                  </a:lnTo>
                  <a:lnTo>
                    <a:pt x="61763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685598"/>
                  </a:lnTo>
                  <a:lnTo>
                    <a:pt x="52435" y="727940"/>
                  </a:lnTo>
                  <a:lnTo>
                    <a:pt x="68765" y="759864"/>
                  </a:lnTo>
                  <a:lnTo>
                    <a:pt x="72031" y="761597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607049" y="3249957"/>
            <a:ext cx="355346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如同将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单车道</a:t>
            </a:r>
            <a:r>
              <a:rPr sz="185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拓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宽为多车道高</a:t>
            </a:r>
            <a:r>
              <a:rPr sz="185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速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公路</a:t>
            </a:r>
            <a:r>
              <a:rPr sz="1950" spc="-5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...</a:t>
            </a:r>
            <a:endParaRPr sz="1950">
              <a:latin typeface="Noto Sans SC" panose="020B0500000000000000" charset="-122"/>
              <a:cs typeface="Noto Sans SC" panose="020B0500000000000000" charset="-122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67249" y="4457700"/>
            <a:ext cx="6858000" cy="762000"/>
            <a:chOff x="4667249" y="4457700"/>
            <a:chExt cx="6858000" cy="762000"/>
          </a:xfrm>
        </p:grpSpPr>
        <p:sp>
          <p:nvSpPr>
            <p:cNvPr id="17" name="object 17"/>
            <p:cNvSpPr/>
            <p:nvPr/>
          </p:nvSpPr>
          <p:spPr>
            <a:xfrm>
              <a:off x="4691061" y="4457700"/>
              <a:ext cx="6834505" cy="762000"/>
            </a:xfrm>
            <a:custGeom>
              <a:avLst/>
              <a:gdLst/>
              <a:ahLst/>
              <a:cxnLst/>
              <a:rect l="l" t="t" r="r" b="b"/>
              <a:pathLst>
                <a:path w="6834505" h="762000">
                  <a:moveTo>
                    <a:pt x="6762989" y="761999"/>
                  </a:moveTo>
                  <a:lnTo>
                    <a:pt x="48947" y="761999"/>
                  </a:lnTo>
                  <a:lnTo>
                    <a:pt x="45540" y="761511"/>
                  </a:lnTo>
                  <a:lnTo>
                    <a:pt x="12911" y="736142"/>
                  </a:lnTo>
                  <a:lnTo>
                    <a:pt x="335" y="695758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6762989" y="0"/>
                  </a:lnTo>
                  <a:lnTo>
                    <a:pt x="6804479" y="15621"/>
                  </a:lnTo>
                  <a:lnTo>
                    <a:pt x="6830299" y="51661"/>
                  </a:lnTo>
                  <a:lnTo>
                    <a:pt x="6834185" y="71196"/>
                  </a:lnTo>
                  <a:lnTo>
                    <a:pt x="6834185" y="690803"/>
                  </a:lnTo>
                  <a:lnTo>
                    <a:pt x="6818563" y="732293"/>
                  </a:lnTo>
                  <a:lnTo>
                    <a:pt x="6782523" y="758113"/>
                  </a:lnTo>
                  <a:lnTo>
                    <a:pt x="6767943" y="761511"/>
                  </a:lnTo>
                  <a:lnTo>
                    <a:pt x="6762989" y="761999"/>
                  </a:lnTo>
                  <a:close/>
                </a:path>
              </a:pathLst>
            </a:custGeom>
            <a:solidFill>
              <a:srgbClr val="2B3D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67249" y="4457901"/>
              <a:ext cx="72390" cy="762000"/>
            </a:xfrm>
            <a:custGeom>
              <a:avLst/>
              <a:gdLst/>
              <a:ahLst/>
              <a:cxnLst/>
              <a:rect l="l" t="t" r="r" b="b"/>
              <a:pathLst>
                <a:path w="72389" h="762000">
                  <a:moveTo>
                    <a:pt x="72031" y="761597"/>
                  </a:moveTo>
                  <a:lnTo>
                    <a:pt x="33857" y="748967"/>
                  </a:lnTo>
                  <a:lnTo>
                    <a:pt x="5800" y="714758"/>
                  </a:lnTo>
                  <a:lnTo>
                    <a:pt x="0" y="6855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1"/>
                  </a:lnTo>
                  <a:lnTo>
                    <a:pt x="61763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685598"/>
                  </a:lnTo>
                  <a:lnTo>
                    <a:pt x="52435" y="727940"/>
                  </a:lnTo>
                  <a:lnTo>
                    <a:pt x="68765" y="759864"/>
                  </a:lnTo>
                  <a:lnTo>
                    <a:pt x="72031" y="761597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607049" y="4659657"/>
            <a:ext cx="334391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能够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大</a:t>
            </a:r>
            <a:r>
              <a:rPr sz="185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幅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缩</a:t>
            </a:r>
            <a:r>
              <a:rPr sz="185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短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复杂任务的完成时间</a:t>
            </a:r>
            <a:r>
              <a:rPr sz="1950" spc="-5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...</a:t>
            </a:r>
            <a:endParaRPr sz="1950">
              <a:latin typeface="Noto Sans SC" panose="020B0500000000000000" charset="-122"/>
              <a:cs typeface="Noto Sans SC" panose="020B0500000000000000" charset="-122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67249" y="5638799"/>
            <a:ext cx="6858000" cy="742950"/>
            <a:chOff x="4667249" y="5638799"/>
            <a:chExt cx="6858000" cy="742950"/>
          </a:xfrm>
        </p:grpSpPr>
        <p:sp>
          <p:nvSpPr>
            <p:cNvPr id="21" name="object 21"/>
            <p:cNvSpPr/>
            <p:nvPr/>
          </p:nvSpPr>
          <p:spPr>
            <a:xfrm>
              <a:off x="4672011" y="5643562"/>
              <a:ext cx="6848475" cy="733425"/>
            </a:xfrm>
            <a:custGeom>
              <a:avLst/>
              <a:gdLst/>
              <a:ahLst/>
              <a:cxnLst/>
              <a:rect l="l" t="t" r="r" b="b"/>
              <a:pathLst>
                <a:path w="6848475" h="733425">
                  <a:moveTo>
                    <a:pt x="6781726" y="733424"/>
                  </a:moveTo>
                  <a:lnTo>
                    <a:pt x="66747" y="733424"/>
                  </a:lnTo>
                  <a:lnTo>
                    <a:pt x="62101" y="732967"/>
                  </a:lnTo>
                  <a:lnTo>
                    <a:pt x="24240" y="715817"/>
                  </a:lnTo>
                  <a:lnTo>
                    <a:pt x="2287" y="680524"/>
                  </a:lnTo>
                  <a:lnTo>
                    <a:pt x="0" y="666677"/>
                  </a:lnTo>
                  <a:lnTo>
                    <a:pt x="0" y="661987"/>
                  </a:lnTo>
                  <a:lnTo>
                    <a:pt x="0" y="66746"/>
                  </a:lnTo>
                  <a:lnTo>
                    <a:pt x="14645" y="27847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6781726" y="0"/>
                  </a:lnTo>
                  <a:lnTo>
                    <a:pt x="6820624" y="14645"/>
                  </a:lnTo>
                  <a:lnTo>
                    <a:pt x="6844829" y="48432"/>
                  </a:lnTo>
                  <a:lnTo>
                    <a:pt x="6848474" y="66746"/>
                  </a:lnTo>
                  <a:lnTo>
                    <a:pt x="6848474" y="666677"/>
                  </a:lnTo>
                  <a:lnTo>
                    <a:pt x="6833827" y="705575"/>
                  </a:lnTo>
                  <a:lnTo>
                    <a:pt x="6800040" y="729780"/>
                  </a:lnTo>
                  <a:lnTo>
                    <a:pt x="6786371" y="732967"/>
                  </a:lnTo>
                  <a:lnTo>
                    <a:pt x="6781726" y="733424"/>
                  </a:lnTo>
                  <a:close/>
                </a:path>
              </a:pathLst>
            </a:custGeom>
            <a:solidFill>
              <a:srgbClr val="00BCD4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672011" y="5643562"/>
              <a:ext cx="6848475" cy="733425"/>
            </a:xfrm>
            <a:custGeom>
              <a:avLst/>
              <a:gdLst/>
              <a:ahLst/>
              <a:cxnLst/>
              <a:rect l="l" t="t" r="r" b="b"/>
              <a:pathLst>
                <a:path w="6848475" h="733425">
                  <a:moveTo>
                    <a:pt x="0" y="6619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7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6777037" y="0"/>
                  </a:lnTo>
                  <a:lnTo>
                    <a:pt x="6781726" y="0"/>
                  </a:lnTo>
                  <a:lnTo>
                    <a:pt x="6786371" y="457"/>
                  </a:lnTo>
                  <a:lnTo>
                    <a:pt x="6816723" y="12038"/>
                  </a:lnTo>
                  <a:lnTo>
                    <a:pt x="6820624" y="14645"/>
                  </a:lnTo>
                  <a:lnTo>
                    <a:pt x="6836433" y="31748"/>
                  </a:lnTo>
                  <a:lnTo>
                    <a:pt x="6839039" y="35648"/>
                  </a:lnTo>
                  <a:lnTo>
                    <a:pt x="6847100" y="57500"/>
                  </a:lnTo>
                  <a:lnTo>
                    <a:pt x="6848016" y="62100"/>
                  </a:lnTo>
                  <a:lnTo>
                    <a:pt x="6848474" y="66746"/>
                  </a:lnTo>
                  <a:lnTo>
                    <a:pt x="6848474" y="71437"/>
                  </a:lnTo>
                  <a:lnTo>
                    <a:pt x="6848474" y="661987"/>
                  </a:lnTo>
                  <a:lnTo>
                    <a:pt x="6848474" y="666677"/>
                  </a:lnTo>
                  <a:lnTo>
                    <a:pt x="6848016" y="671323"/>
                  </a:lnTo>
                  <a:lnTo>
                    <a:pt x="6847100" y="675924"/>
                  </a:lnTo>
                  <a:lnTo>
                    <a:pt x="6846185" y="680524"/>
                  </a:lnTo>
                  <a:lnTo>
                    <a:pt x="6824233" y="715817"/>
                  </a:lnTo>
                  <a:lnTo>
                    <a:pt x="6816723" y="721384"/>
                  </a:lnTo>
                  <a:lnTo>
                    <a:pt x="6812823" y="723990"/>
                  </a:lnTo>
                  <a:lnTo>
                    <a:pt x="6790972" y="732051"/>
                  </a:lnTo>
                  <a:lnTo>
                    <a:pt x="6786371" y="732967"/>
                  </a:lnTo>
                  <a:lnTo>
                    <a:pt x="6781726" y="733424"/>
                  </a:lnTo>
                  <a:lnTo>
                    <a:pt x="6777037" y="733424"/>
                  </a:lnTo>
                  <a:lnTo>
                    <a:pt x="71437" y="733424"/>
                  </a:lnTo>
                  <a:lnTo>
                    <a:pt x="66747" y="733424"/>
                  </a:lnTo>
                  <a:lnTo>
                    <a:pt x="62101" y="732967"/>
                  </a:lnTo>
                  <a:lnTo>
                    <a:pt x="57500" y="732051"/>
                  </a:lnTo>
                  <a:lnTo>
                    <a:pt x="52899" y="731136"/>
                  </a:lnTo>
                  <a:lnTo>
                    <a:pt x="20923" y="712500"/>
                  </a:lnTo>
                  <a:lnTo>
                    <a:pt x="17606" y="709184"/>
                  </a:lnTo>
                  <a:lnTo>
                    <a:pt x="457" y="671323"/>
                  </a:lnTo>
                  <a:lnTo>
                    <a:pt x="0" y="666677"/>
                  </a:lnTo>
                  <a:lnTo>
                    <a:pt x="0" y="661987"/>
                  </a:lnTo>
                  <a:close/>
                </a:path>
              </a:pathLst>
            </a:custGeom>
            <a:ln w="9524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711950" y="5834506"/>
            <a:ext cx="2768600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2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显著提升处理速度和吞吐量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12532" y="1864507"/>
            <a:ext cx="358140" cy="310515"/>
            <a:chOff x="5012532" y="1864507"/>
            <a:chExt cx="358140" cy="310515"/>
          </a:xfrm>
        </p:grpSpPr>
        <p:sp>
          <p:nvSpPr>
            <p:cNvPr id="25" name="object 25"/>
            <p:cNvSpPr/>
            <p:nvPr/>
          </p:nvSpPr>
          <p:spPr>
            <a:xfrm>
              <a:off x="5013103" y="1864879"/>
              <a:ext cx="356870" cy="308610"/>
            </a:xfrm>
            <a:custGeom>
              <a:avLst/>
              <a:gdLst/>
              <a:ahLst/>
              <a:cxnLst/>
              <a:rect l="l" t="t" r="r" b="b"/>
              <a:pathLst>
                <a:path w="356870" h="308610">
                  <a:moveTo>
                    <a:pt x="73892" y="308610"/>
                  </a:moveTo>
                  <a:lnTo>
                    <a:pt x="65369" y="308610"/>
                  </a:lnTo>
                  <a:lnTo>
                    <a:pt x="61279" y="307340"/>
                  </a:lnTo>
                  <a:lnTo>
                    <a:pt x="53444" y="304800"/>
                  </a:lnTo>
                  <a:lnTo>
                    <a:pt x="50025" y="302260"/>
                  </a:lnTo>
                  <a:lnTo>
                    <a:pt x="47104" y="298450"/>
                  </a:lnTo>
                  <a:lnTo>
                    <a:pt x="46368" y="298450"/>
                  </a:lnTo>
                  <a:lnTo>
                    <a:pt x="45192" y="297180"/>
                  </a:lnTo>
                  <a:lnTo>
                    <a:pt x="44924" y="297180"/>
                  </a:lnTo>
                  <a:lnTo>
                    <a:pt x="44448" y="295910"/>
                  </a:lnTo>
                  <a:lnTo>
                    <a:pt x="38796" y="289560"/>
                  </a:lnTo>
                  <a:lnTo>
                    <a:pt x="33612" y="281940"/>
                  </a:lnTo>
                  <a:lnTo>
                    <a:pt x="28764" y="275590"/>
                  </a:lnTo>
                  <a:lnTo>
                    <a:pt x="9861" y="237490"/>
                  </a:lnTo>
                  <a:lnTo>
                    <a:pt x="639" y="195580"/>
                  </a:lnTo>
                  <a:lnTo>
                    <a:pt x="0" y="168910"/>
                  </a:lnTo>
                  <a:lnTo>
                    <a:pt x="203" y="166370"/>
                  </a:lnTo>
                  <a:lnTo>
                    <a:pt x="304" y="165100"/>
                  </a:lnTo>
                  <a:lnTo>
                    <a:pt x="406" y="163830"/>
                  </a:lnTo>
                  <a:lnTo>
                    <a:pt x="508" y="162560"/>
                  </a:lnTo>
                  <a:lnTo>
                    <a:pt x="609" y="161290"/>
                  </a:lnTo>
                  <a:lnTo>
                    <a:pt x="1627" y="152400"/>
                  </a:lnTo>
                  <a:lnTo>
                    <a:pt x="12764" y="111760"/>
                  </a:lnTo>
                  <a:lnTo>
                    <a:pt x="16169" y="102870"/>
                  </a:lnTo>
                  <a:lnTo>
                    <a:pt x="19946" y="95250"/>
                  </a:lnTo>
                  <a:lnTo>
                    <a:pt x="24081" y="87630"/>
                  </a:lnTo>
                  <a:lnTo>
                    <a:pt x="28572" y="81280"/>
                  </a:lnTo>
                  <a:lnTo>
                    <a:pt x="33420" y="73660"/>
                  </a:lnTo>
                  <a:lnTo>
                    <a:pt x="38601" y="67310"/>
                  </a:lnTo>
                  <a:lnTo>
                    <a:pt x="44093" y="59690"/>
                  </a:lnTo>
                  <a:lnTo>
                    <a:pt x="49896" y="53340"/>
                  </a:lnTo>
                  <a:lnTo>
                    <a:pt x="56009" y="48260"/>
                  </a:lnTo>
                  <a:lnTo>
                    <a:pt x="62403" y="41910"/>
                  </a:lnTo>
                  <a:lnTo>
                    <a:pt x="69051" y="36830"/>
                  </a:lnTo>
                  <a:lnTo>
                    <a:pt x="105777" y="15240"/>
                  </a:lnTo>
                  <a:lnTo>
                    <a:pt x="163700" y="0"/>
                  </a:lnTo>
                  <a:lnTo>
                    <a:pt x="197965" y="0"/>
                  </a:lnTo>
                  <a:lnTo>
                    <a:pt x="247623" y="12700"/>
                  </a:lnTo>
                  <a:lnTo>
                    <a:pt x="270544" y="25400"/>
                  </a:lnTo>
                  <a:lnTo>
                    <a:pt x="277792" y="29210"/>
                  </a:lnTo>
                  <a:lnTo>
                    <a:pt x="284812" y="34290"/>
                  </a:lnTo>
                  <a:lnTo>
                    <a:pt x="291570" y="39370"/>
                  </a:lnTo>
                  <a:lnTo>
                    <a:pt x="298067" y="45720"/>
                  </a:lnTo>
                  <a:lnTo>
                    <a:pt x="299625" y="46990"/>
                  </a:lnTo>
                  <a:lnTo>
                    <a:pt x="174733" y="46990"/>
                  </a:lnTo>
                  <a:lnTo>
                    <a:pt x="171927" y="48260"/>
                  </a:lnTo>
                  <a:lnTo>
                    <a:pt x="167277" y="52070"/>
                  </a:lnTo>
                  <a:lnTo>
                    <a:pt x="166115" y="55880"/>
                  </a:lnTo>
                  <a:lnTo>
                    <a:pt x="166115" y="81280"/>
                  </a:lnTo>
                  <a:lnTo>
                    <a:pt x="90544" y="81280"/>
                  </a:lnTo>
                  <a:lnTo>
                    <a:pt x="87738" y="82550"/>
                  </a:lnTo>
                  <a:lnTo>
                    <a:pt x="83088" y="87630"/>
                  </a:lnTo>
                  <a:lnTo>
                    <a:pt x="81925" y="90170"/>
                  </a:lnTo>
                  <a:lnTo>
                    <a:pt x="81925" y="96520"/>
                  </a:lnTo>
                  <a:lnTo>
                    <a:pt x="83088" y="99060"/>
                  </a:lnTo>
                  <a:lnTo>
                    <a:pt x="104577" y="120650"/>
                  </a:lnTo>
                  <a:lnTo>
                    <a:pt x="107382" y="121920"/>
                  </a:lnTo>
                  <a:lnTo>
                    <a:pt x="347938" y="121920"/>
                  </a:lnTo>
                  <a:lnTo>
                    <a:pt x="348281" y="123190"/>
                  </a:lnTo>
                  <a:lnTo>
                    <a:pt x="222669" y="123190"/>
                  </a:lnTo>
                  <a:lnTo>
                    <a:pt x="219767" y="125730"/>
                  </a:lnTo>
                  <a:lnTo>
                    <a:pt x="163585" y="161290"/>
                  </a:lnTo>
                  <a:lnTo>
                    <a:pt x="161204" y="162560"/>
                  </a:lnTo>
                  <a:lnTo>
                    <a:pt x="159243" y="165100"/>
                  </a:lnTo>
                  <a:lnTo>
                    <a:pt x="55671" y="165100"/>
                  </a:lnTo>
                  <a:lnTo>
                    <a:pt x="52864" y="166370"/>
                  </a:lnTo>
                  <a:lnTo>
                    <a:pt x="48215" y="171450"/>
                  </a:lnTo>
                  <a:lnTo>
                    <a:pt x="47052" y="173990"/>
                  </a:lnTo>
                  <a:lnTo>
                    <a:pt x="47052" y="180340"/>
                  </a:lnTo>
                  <a:lnTo>
                    <a:pt x="48215" y="184150"/>
                  </a:lnTo>
                  <a:lnTo>
                    <a:pt x="52864" y="187960"/>
                  </a:lnTo>
                  <a:lnTo>
                    <a:pt x="55671" y="189230"/>
                  </a:lnTo>
                  <a:lnTo>
                    <a:pt x="156863" y="189230"/>
                  </a:lnTo>
                  <a:lnTo>
                    <a:pt x="160292" y="194310"/>
                  </a:lnTo>
                  <a:lnTo>
                    <a:pt x="162398" y="196850"/>
                  </a:lnTo>
                  <a:lnTo>
                    <a:pt x="167394" y="199390"/>
                  </a:lnTo>
                  <a:lnTo>
                    <a:pt x="170097" y="200660"/>
                  </a:lnTo>
                  <a:lnTo>
                    <a:pt x="175910" y="201930"/>
                  </a:lnTo>
                  <a:lnTo>
                    <a:pt x="354895" y="201930"/>
                  </a:lnTo>
                  <a:lnTo>
                    <a:pt x="354409" y="205740"/>
                  </a:lnTo>
                  <a:lnTo>
                    <a:pt x="342935" y="246380"/>
                  </a:lnTo>
                  <a:lnTo>
                    <a:pt x="336372" y="260350"/>
                  </a:lnTo>
                  <a:lnTo>
                    <a:pt x="169979" y="260350"/>
                  </a:lnTo>
                  <a:lnTo>
                    <a:pt x="161978" y="261620"/>
                  </a:lnTo>
                  <a:lnTo>
                    <a:pt x="123678" y="274320"/>
                  </a:lnTo>
                  <a:lnTo>
                    <a:pt x="89144" y="302260"/>
                  </a:lnTo>
                  <a:lnTo>
                    <a:pt x="85758" y="304800"/>
                  </a:lnTo>
                  <a:lnTo>
                    <a:pt x="77970" y="307340"/>
                  </a:lnTo>
                  <a:lnTo>
                    <a:pt x="73892" y="308610"/>
                  </a:lnTo>
                  <a:close/>
                </a:path>
                <a:path w="356870" h="308610">
                  <a:moveTo>
                    <a:pt x="244620" y="93980"/>
                  </a:moveTo>
                  <a:lnTo>
                    <a:pt x="181309" y="93980"/>
                  </a:lnTo>
                  <a:lnTo>
                    <a:pt x="184115" y="92710"/>
                  </a:lnTo>
                  <a:lnTo>
                    <a:pt x="188765" y="88900"/>
                  </a:lnTo>
                  <a:lnTo>
                    <a:pt x="189927" y="85090"/>
                  </a:lnTo>
                  <a:lnTo>
                    <a:pt x="189927" y="55880"/>
                  </a:lnTo>
                  <a:lnTo>
                    <a:pt x="188765" y="52070"/>
                  </a:lnTo>
                  <a:lnTo>
                    <a:pt x="184115" y="48260"/>
                  </a:lnTo>
                  <a:lnTo>
                    <a:pt x="181309" y="46990"/>
                  </a:lnTo>
                  <a:lnTo>
                    <a:pt x="299625" y="46990"/>
                  </a:lnTo>
                  <a:lnTo>
                    <a:pt x="325780" y="77470"/>
                  </a:lnTo>
                  <a:lnTo>
                    <a:pt x="328526" y="81280"/>
                  </a:lnTo>
                  <a:lnTo>
                    <a:pt x="258921" y="81280"/>
                  </a:lnTo>
                  <a:lnTo>
                    <a:pt x="256115" y="82550"/>
                  </a:lnTo>
                  <a:lnTo>
                    <a:pt x="244620" y="93980"/>
                  </a:lnTo>
                  <a:close/>
                </a:path>
                <a:path w="356870" h="308610">
                  <a:moveTo>
                    <a:pt x="242208" y="121920"/>
                  </a:moveTo>
                  <a:lnTo>
                    <a:pt x="113955" y="121920"/>
                  </a:lnTo>
                  <a:lnTo>
                    <a:pt x="116760" y="120650"/>
                  </a:lnTo>
                  <a:lnTo>
                    <a:pt x="119085" y="118110"/>
                  </a:lnTo>
                  <a:lnTo>
                    <a:pt x="121408" y="116840"/>
                  </a:lnTo>
                  <a:lnTo>
                    <a:pt x="122569" y="113030"/>
                  </a:lnTo>
                  <a:lnTo>
                    <a:pt x="122569" y="106680"/>
                  </a:lnTo>
                  <a:lnTo>
                    <a:pt x="121408" y="104140"/>
                  </a:lnTo>
                  <a:lnTo>
                    <a:pt x="99927" y="82550"/>
                  </a:lnTo>
                  <a:lnTo>
                    <a:pt x="97121" y="81280"/>
                  </a:lnTo>
                  <a:lnTo>
                    <a:pt x="166115" y="81280"/>
                  </a:lnTo>
                  <a:lnTo>
                    <a:pt x="166115" y="85090"/>
                  </a:lnTo>
                  <a:lnTo>
                    <a:pt x="167277" y="88900"/>
                  </a:lnTo>
                  <a:lnTo>
                    <a:pt x="171927" y="92710"/>
                  </a:lnTo>
                  <a:lnTo>
                    <a:pt x="174733" y="93980"/>
                  </a:lnTo>
                  <a:lnTo>
                    <a:pt x="244620" y="93980"/>
                  </a:lnTo>
                  <a:lnTo>
                    <a:pt x="236957" y="101600"/>
                  </a:lnTo>
                  <a:lnTo>
                    <a:pt x="234733" y="104140"/>
                  </a:lnTo>
                  <a:lnTo>
                    <a:pt x="233642" y="106680"/>
                  </a:lnTo>
                  <a:lnTo>
                    <a:pt x="233725" y="113030"/>
                  </a:lnTo>
                  <a:lnTo>
                    <a:pt x="234887" y="115570"/>
                  </a:lnTo>
                  <a:lnTo>
                    <a:pt x="239453" y="120650"/>
                  </a:lnTo>
                  <a:lnTo>
                    <a:pt x="242208" y="121920"/>
                  </a:lnTo>
                  <a:close/>
                </a:path>
                <a:path w="356870" h="308610">
                  <a:moveTo>
                    <a:pt x="347938" y="121920"/>
                  </a:moveTo>
                  <a:lnTo>
                    <a:pt x="248664" y="121920"/>
                  </a:lnTo>
                  <a:lnTo>
                    <a:pt x="251449" y="120650"/>
                  </a:lnTo>
                  <a:lnTo>
                    <a:pt x="253789" y="118110"/>
                  </a:lnTo>
                  <a:lnTo>
                    <a:pt x="272951" y="99060"/>
                  </a:lnTo>
                  <a:lnTo>
                    <a:pt x="274112" y="96520"/>
                  </a:lnTo>
                  <a:lnTo>
                    <a:pt x="274109" y="90170"/>
                  </a:lnTo>
                  <a:lnTo>
                    <a:pt x="272947" y="87630"/>
                  </a:lnTo>
                  <a:lnTo>
                    <a:pt x="268299" y="82550"/>
                  </a:lnTo>
                  <a:lnTo>
                    <a:pt x="265494" y="81280"/>
                  </a:lnTo>
                  <a:lnTo>
                    <a:pt x="328526" y="81280"/>
                  </a:lnTo>
                  <a:lnTo>
                    <a:pt x="345152" y="114300"/>
                  </a:lnTo>
                  <a:lnTo>
                    <a:pt x="347938" y="121920"/>
                  </a:lnTo>
                  <a:close/>
                </a:path>
                <a:path w="356870" h="308610">
                  <a:moveTo>
                    <a:pt x="354895" y="201930"/>
                  </a:moveTo>
                  <a:lnTo>
                    <a:pt x="178803" y="201930"/>
                  </a:lnTo>
                  <a:lnTo>
                    <a:pt x="184561" y="200660"/>
                  </a:lnTo>
                  <a:lnTo>
                    <a:pt x="187210" y="199390"/>
                  </a:lnTo>
                  <a:lnTo>
                    <a:pt x="189630" y="196850"/>
                  </a:lnTo>
                  <a:lnTo>
                    <a:pt x="191647" y="195580"/>
                  </a:lnTo>
                  <a:lnTo>
                    <a:pt x="193383" y="194310"/>
                  </a:lnTo>
                  <a:lnTo>
                    <a:pt x="194839" y="191770"/>
                  </a:lnTo>
                  <a:lnTo>
                    <a:pt x="230185" y="135890"/>
                  </a:lnTo>
                  <a:lnTo>
                    <a:pt x="231381" y="134620"/>
                  </a:lnTo>
                  <a:lnTo>
                    <a:pt x="231812" y="132080"/>
                  </a:lnTo>
                  <a:lnTo>
                    <a:pt x="231145" y="128270"/>
                  </a:lnTo>
                  <a:lnTo>
                    <a:pt x="230143" y="127000"/>
                  </a:lnTo>
                  <a:lnTo>
                    <a:pt x="228474" y="125730"/>
                  </a:lnTo>
                  <a:lnTo>
                    <a:pt x="225572" y="123190"/>
                  </a:lnTo>
                  <a:lnTo>
                    <a:pt x="348281" y="123190"/>
                  </a:lnTo>
                  <a:lnTo>
                    <a:pt x="350344" y="130810"/>
                  </a:lnTo>
                  <a:lnTo>
                    <a:pt x="355985" y="162560"/>
                  </a:lnTo>
                  <a:lnTo>
                    <a:pt x="356107" y="163830"/>
                  </a:lnTo>
                  <a:lnTo>
                    <a:pt x="356172" y="165100"/>
                  </a:lnTo>
                  <a:lnTo>
                    <a:pt x="269983" y="165100"/>
                  </a:lnTo>
                  <a:lnTo>
                    <a:pt x="267177" y="166370"/>
                  </a:lnTo>
                  <a:lnTo>
                    <a:pt x="262527" y="171450"/>
                  </a:lnTo>
                  <a:lnTo>
                    <a:pt x="261365" y="173990"/>
                  </a:lnTo>
                  <a:lnTo>
                    <a:pt x="261365" y="180340"/>
                  </a:lnTo>
                  <a:lnTo>
                    <a:pt x="262527" y="184150"/>
                  </a:lnTo>
                  <a:lnTo>
                    <a:pt x="267177" y="187960"/>
                  </a:lnTo>
                  <a:lnTo>
                    <a:pt x="269983" y="189230"/>
                  </a:lnTo>
                  <a:lnTo>
                    <a:pt x="356280" y="189230"/>
                  </a:lnTo>
                  <a:lnTo>
                    <a:pt x="355789" y="194310"/>
                  </a:lnTo>
                  <a:lnTo>
                    <a:pt x="355666" y="195580"/>
                  </a:lnTo>
                  <a:lnTo>
                    <a:pt x="355543" y="196850"/>
                  </a:lnTo>
                  <a:lnTo>
                    <a:pt x="354895" y="201930"/>
                  </a:lnTo>
                  <a:close/>
                </a:path>
                <a:path w="356870" h="308610">
                  <a:moveTo>
                    <a:pt x="156863" y="189230"/>
                  </a:moveTo>
                  <a:lnTo>
                    <a:pt x="86059" y="189230"/>
                  </a:lnTo>
                  <a:lnTo>
                    <a:pt x="88865" y="187960"/>
                  </a:lnTo>
                  <a:lnTo>
                    <a:pt x="93515" y="184150"/>
                  </a:lnTo>
                  <a:lnTo>
                    <a:pt x="94677" y="180340"/>
                  </a:lnTo>
                  <a:lnTo>
                    <a:pt x="94677" y="173990"/>
                  </a:lnTo>
                  <a:lnTo>
                    <a:pt x="93515" y="171450"/>
                  </a:lnTo>
                  <a:lnTo>
                    <a:pt x="88865" y="166370"/>
                  </a:lnTo>
                  <a:lnTo>
                    <a:pt x="86059" y="165100"/>
                  </a:lnTo>
                  <a:lnTo>
                    <a:pt x="159243" y="165100"/>
                  </a:lnTo>
                  <a:lnTo>
                    <a:pt x="156162" y="170180"/>
                  </a:lnTo>
                  <a:lnTo>
                    <a:pt x="155157" y="172720"/>
                  </a:lnTo>
                  <a:lnTo>
                    <a:pt x="154220" y="177800"/>
                  </a:lnTo>
                  <a:lnTo>
                    <a:pt x="154322" y="181610"/>
                  </a:lnTo>
                  <a:lnTo>
                    <a:pt x="155669" y="186690"/>
                  </a:lnTo>
                  <a:lnTo>
                    <a:pt x="156863" y="189230"/>
                  </a:lnTo>
                  <a:close/>
                </a:path>
                <a:path w="356870" h="308610">
                  <a:moveTo>
                    <a:pt x="356280" y="189230"/>
                  </a:moveTo>
                  <a:lnTo>
                    <a:pt x="300371" y="189230"/>
                  </a:lnTo>
                  <a:lnTo>
                    <a:pt x="303178" y="187960"/>
                  </a:lnTo>
                  <a:lnTo>
                    <a:pt x="307827" y="184150"/>
                  </a:lnTo>
                  <a:lnTo>
                    <a:pt x="308990" y="180340"/>
                  </a:lnTo>
                  <a:lnTo>
                    <a:pt x="308990" y="173990"/>
                  </a:lnTo>
                  <a:lnTo>
                    <a:pt x="307827" y="171450"/>
                  </a:lnTo>
                  <a:lnTo>
                    <a:pt x="303178" y="166370"/>
                  </a:lnTo>
                  <a:lnTo>
                    <a:pt x="300371" y="165100"/>
                  </a:lnTo>
                  <a:lnTo>
                    <a:pt x="356172" y="165100"/>
                  </a:lnTo>
                  <a:lnTo>
                    <a:pt x="356280" y="189230"/>
                  </a:lnTo>
                  <a:close/>
                </a:path>
                <a:path w="356870" h="308610">
                  <a:moveTo>
                    <a:pt x="290956" y="308610"/>
                  </a:moveTo>
                  <a:lnTo>
                    <a:pt x="282378" y="308610"/>
                  </a:lnTo>
                  <a:lnTo>
                    <a:pt x="278271" y="307340"/>
                  </a:lnTo>
                  <a:lnTo>
                    <a:pt x="270421" y="304800"/>
                  </a:lnTo>
                  <a:lnTo>
                    <a:pt x="267009" y="302260"/>
                  </a:lnTo>
                  <a:lnTo>
                    <a:pt x="258635" y="292100"/>
                  </a:lnTo>
                  <a:lnTo>
                    <a:pt x="252607" y="287020"/>
                  </a:lnTo>
                  <a:lnTo>
                    <a:pt x="217642" y="267970"/>
                  </a:lnTo>
                  <a:lnTo>
                    <a:pt x="186152" y="260350"/>
                  </a:lnTo>
                  <a:lnTo>
                    <a:pt x="336372" y="260350"/>
                  </a:lnTo>
                  <a:lnTo>
                    <a:pt x="335742" y="261620"/>
                  </a:lnTo>
                  <a:lnTo>
                    <a:pt x="331606" y="269240"/>
                  </a:lnTo>
                  <a:lnTo>
                    <a:pt x="327128" y="275590"/>
                  </a:lnTo>
                  <a:lnTo>
                    <a:pt x="322329" y="283210"/>
                  </a:lnTo>
                  <a:lnTo>
                    <a:pt x="317208" y="289560"/>
                  </a:lnTo>
                  <a:lnTo>
                    <a:pt x="306338" y="302260"/>
                  </a:lnTo>
                  <a:lnTo>
                    <a:pt x="302921" y="304800"/>
                  </a:lnTo>
                  <a:lnTo>
                    <a:pt x="295064" y="307340"/>
                  </a:lnTo>
                  <a:lnTo>
                    <a:pt x="290956" y="308610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012904" y="1864879"/>
              <a:ext cx="356870" cy="309245"/>
            </a:xfrm>
            <a:custGeom>
              <a:avLst/>
              <a:gdLst/>
              <a:ahLst/>
              <a:cxnLst/>
              <a:rect l="l" t="t" r="r" b="b"/>
              <a:pathLst>
                <a:path w="356870" h="309244">
                  <a:moveTo>
                    <a:pt x="304501" y="51914"/>
                  </a:moveTo>
                  <a:lnTo>
                    <a:pt x="270743" y="25590"/>
                  </a:lnTo>
                  <a:lnTo>
                    <a:pt x="231709" y="8062"/>
                  </a:lnTo>
                  <a:lnTo>
                    <a:pt x="189626" y="323"/>
                  </a:lnTo>
                  <a:lnTo>
                    <a:pt x="181043" y="0"/>
                  </a:lnTo>
                  <a:lnTo>
                    <a:pt x="172454" y="87"/>
                  </a:lnTo>
                  <a:lnTo>
                    <a:pt x="130174" y="6670"/>
                  </a:lnTo>
                  <a:lnTo>
                    <a:pt x="90675" y="23121"/>
                  </a:lnTo>
                  <a:lnTo>
                    <a:pt x="56208" y="48510"/>
                  </a:lnTo>
                  <a:lnTo>
                    <a:pt x="28771" y="81370"/>
                  </a:lnTo>
                  <a:lnTo>
                    <a:pt x="9949" y="119796"/>
                  </a:lnTo>
                  <a:lnTo>
                    <a:pt x="808" y="161598"/>
                  </a:lnTo>
                  <a:lnTo>
                    <a:pt x="0" y="178752"/>
                  </a:lnTo>
                  <a:lnTo>
                    <a:pt x="213" y="187319"/>
                  </a:lnTo>
                  <a:lnTo>
                    <a:pt x="7413" y="229498"/>
                  </a:lnTo>
                  <a:lnTo>
                    <a:pt x="24449" y="268770"/>
                  </a:lnTo>
                  <a:lnTo>
                    <a:pt x="44892" y="296960"/>
                  </a:lnTo>
                  <a:lnTo>
                    <a:pt x="45123" y="297228"/>
                  </a:lnTo>
                  <a:lnTo>
                    <a:pt x="45391" y="297481"/>
                  </a:lnTo>
                  <a:lnTo>
                    <a:pt x="45942" y="298106"/>
                  </a:lnTo>
                  <a:lnTo>
                    <a:pt x="46567" y="298813"/>
                  </a:lnTo>
                  <a:lnTo>
                    <a:pt x="47303" y="299550"/>
                  </a:lnTo>
                  <a:lnTo>
                    <a:pt x="50224" y="302653"/>
                  </a:lnTo>
                  <a:lnTo>
                    <a:pt x="53643" y="305044"/>
                  </a:lnTo>
                  <a:lnTo>
                    <a:pt x="57561" y="306721"/>
                  </a:lnTo>
                  <a:lnTo>
                    <a:pt x="61478" y="308398"/>
                  </a:lnTo>
                  <a:lnTo>
                    <a:pt x="65568" y="309222"/>
                  </a:lnTo>
                  <a:lnTo>
                    <a:pt x="69830" y="309192"/>
                  </a:lnTo>
                  <a:lnTo>
                    <a:pt x="74091" y="309163"/>
                  </a:lnTo>
                  <a:lnTo>
                    <a:pt x="78169" y="308282"/>
                  </a:lnTo>
                  <a:lnTo>
                    <a:pt x="82063" y="306551"/>
                  </a:lnTo>
                  <a:lnTo>
                    <a:pt x="85958" y="304819"/>
                  </a:lnTo>
                  <a:lnTo>
                    <a:pt x="89343" y="302381"/>
                  </a:lnTo>
                  <a:lnTo>
                    <a:pt x="92220" y="299237"/>
                  </a:lnTo>
                  <a:lnTo>
                    <a:pt x="97695" y="293286"/>
                  </a:lnTo>
                  <a:lnTo>
                    <a:pt x="103723" y="287960"/>
                  </a:lnTo>
                  <a:lnTo>
                    <a:pt x="110304" y="283260"/>
                  </a:lnTo>
                  <a:lnTo>
                    <a:pt x="116885" y="278560"/>
                  </a:lnTo>
                  <a:lnTo>
                    <a:pt x="123878" y="274585"/>
                  </a:lnTo>
                  <a:lnTo>
                    <a:pt x="131283" y="271336"/>
                  </a:lnTo>
                  <a:lnTo>
                    <a:pt x="138688" y="268087"/>
                  </a:lnTo>
                  <a:lnTo>
                    <a:pt x="146348" y="265632"/>
                  </a:lnTo>
                  <a:lnTo>
                    <a:pt x="154263" y="263972"/>
                  </a:lnTo>
                  <a:lnTo>
                    <a:pt x="162177" y="262312"/>
                  </a:lnTo>
                  <a:lnTo>
                    <a:pt x="170178" y="261482"/>
                  </a:lnTo>
                  <a:lnTo>
                    <a:pt x="178265" y="261482"/>
                  </a:lnTo>
                  <a:lnTo>
                    <a:pt x="186352" y="261482"/>
                  </a:lnTo>
                  <a:lnTo>
                    <a:pt x="225247" y="271336"/>
                  </a:lnTo>
                  <a:lnTo>
                    <a:pt x="232652" y="274585"/>
                  </a:lnTo>
                  <a:lnTo>
                    <a:pt x="239645" y="278560"/>
                  </a:lnTo>
                  <a:lnTo>
                    <a:pt x="246225" y="283260"/>
                  </a:lnTo>
                  <a:lnTo>
                    <a:pt x="252806" y="287960"/>
                  </a:lnTo>
                  <a:lnTo>
                    <a:pt x="258834" y="293286"/>
                  </a:lnTo>
                  <a:lnTo>
                    <a:pt x="264310" y="299237"/>
                  </a:lnTo>
                  <a:lnTo>
                    <a:pt x="267208" y="302398"/>
                  </a:lnTo>
                  <a:lnTo>
                    <a:pt x="270620" y="304843"/>
                  </a:lnTo>
                  <a:lnTo>
                    <a:pt x="274545" y="306572"/>
                  </a:lnTo>
                  <a:lnTo>
                    <a:pt x="278470" y="308301"/>
                  </a:lnTo>
                  <a:lnTo>
                    <a:pt x="282577" y="309167"/>
                  </a:lnTo>
                  <a:lnTo>
                    <a:pt x="286866" y="309171"/>
                  </a:lnTo>
                  <a:lnTo>
                    <a:pt x="291155" y="309175"/>
                  </a:lnTo>
                  <a:lnTo>
                    <a:pt x="295264" y="308317"/>
                  </a:lnTo>
                  <a:lnTo>
                    <a:pt x="327327" y="276489"/>
                  </a:lnTo>
                  <a:lnTo>
                    <a:pt x="346190" y="238909"/>
                  </a:lnTo>
                  <a:lnTo>
                    <a:pt x="355743" y="197961"/>
                  </a:lnTo>
                  <a:lnTo>
                    <a:pt x="356819" y="181166"/>
                  </a:lnTo>
                  <a:lnTo>
                    <a:pt x="356761" y="172731"/>
                  </a:lnTo>
                  <a:lnTo>
                    <a:pt x="350543" y="131145"/>
                  </a:lnTo>
                  <a:lnTo>
                    <a:pt x="334782" y="92184"/>
                  </a:lnTo>
                  <a:lnTo>
                    <a:pt x="310348" y="57987"/>
                  </a:lnTo>
                  <a:lnTo>
                    <a:pt x="304523" y="51885"/>
                  </a:lnTo>
                  <a:close/>
                </a:path>
                <a:path w="356870" h="309244">
                  <a:moveTo>
                    <a:pt x="166314" y="59170"/>
                  </a:moveTo>
                  <a:lnTo>
                    <a:pt x="174932" y="47264"/>
                  </a:lnTo>
                  <a:lnTo>
                    <a:pt x="178220" y="47264"/>
                  </a:lnTo>
                  <a:lnTo>
                    <a:pt x="181508" y="47264"/>
                  </a:lnTo>
                  <a:lnTo>
                    <a:pt x="190126" y="59170"/>
                  </a:lnTo>
                  <a:lnTo>
                    <a:pt x="190126" y="82982"/>
                  </a:lnTo>
                  <a:lnTo>
                    <a:pt x="181508" y="94889"/>
                  </a:lnTo>
                  <a:lnTo>
                    <a:pt x="178220" y="94889"/>
                  </a:lnTo>
                  <a:lnTo>
                    <a:pt x="174932" y="94889"/>
                  </a:lnTo>
                  <a:lnTo>
                    <a:pt x="172126" y="93726"/>
                  </a:lnTo>
                  <a:lnTo>
                    <a:pt x="169801" y="91401"/>
                  </a:lnTo>
                  <a:lnTo>
                    <a:pt x="167476" y="89076"/>
                  </a:lnTo>
                  <a:lnTo>
                    <a:pt x="166314" y="86270"/>
                  </a:lnTo>
                  <a:lnTo>
                    <a:pt x="166314" y="82982"/>
                  </a:lnTo>
                  <a:lnTo>
                    <a:pt x="166314" y="59170"/>
                  </a:lnTo>
                  <a:close/>
                </a:path>
                <a:path w="356870" h="309244">
                  <a:moveTo>
                    <a:pt x="82970" y="190139"/>
                  </a:moveTo>
                  <a:lnTo>
                    <a:pt x="59158" y="190139"/>
                  </a:lnTo>
                  <a:lnTo>
                    <a:pt x="55870" y="190139"/>
                  </a:lnTo>
                  <a:lnTo>
                    <a:pt x="53063" y="188976"/>
                  </a:lnTo>
                  <a:lnTo>
                    <a:pt x="50739" y="186651"/>
                  </a:lnTo>
                  <a:lnTo>
                    <a:pt x="48414" y="184326"/>
                  </a:lnTo>
                  <a:lnTo>
                    <a:pt x="47251" y="181520"/>
                  </a:lnTo>
                  <a:lnTo>
                    <a:pt x="47251" y="178232"/>
                  </a:lnTo>
                  <a:lnTo>
                    <a:pt x="47251" y="174944"/>
                  </a:lnTo>
                  <a:lnTo>
                    <a:pt x="48414" y="172138"/>
                  </a:lnTo>
                  <a:lnTo>
                    <a:pt x="50739" y="169813"/>
                  </a:lnTo>
                  <a:lnTo>
                    <a:pt x="53063" y="167488"/>
                  </a:lnTo>
                  <a:lnTo>
                    <a:pt x="55870" y="166326"/>
                  </a:lnTo>
                  <a:lnTo>
                    <a:pt x="59158" y="166326"/>
                  </a:lnTo>
                  <a:lnTo>
                    <a:pt x="82970" y="166326"/>
                  </a:lnTo>
                  <a:lnTo>
                    <a:pt x="86258" y="166326"/>
                  </a:lnTo>
                  <a:lnTo>
                    <a:pt x="89064" y="167488"/>
                  </a:lnTo>
                  <a:lnTo>
                    <a:pt x="91389" y="169813"/>
                  </a:lnTo>
                  <a:lnTo>
                    <a:pt x="93714" y="172138"/>
                  </a:lnTo>
                  <a:lnTo>
                    <a:pt x="94876" y="174944"/>
                  </a:lnTo>
                  <a:lnTo>
                    <a:pt x="94876" y="178232"/>
                  </a:lnTo>
                  <a:lnTo>
                    <a:pt x="94876" y="181520"/>
                  </a:lnTo>
                  <a:lnTo>
                    <a:pt x="93714" y="184326"/>
                  </a:lnTo>
                  <a:lnTo>
                    <a:pt x="91389" y="186651"/>
                  </a:lnTo>
                  <a:lnTo>
                    <a:pt x="89064" y="188976"/>
                  </a:lnTo>
                  <a:lnTo>
                    <a:pt x="86258" y="190139"/>
                  </a:lnTo>
                  <a:lnTo>
                    <a:pt x="82970" y="190139"/>
                  </a:lnTo>
                  <a:close/>
                </a:path>
                <a:path w="356870" h="309244">
                  <a:moveTo>
                    <a:pt x="119284" y="119296"/>
                  </a:moveTo>
                  <a:lnTo>
                    <a:pt x="116960" y="121619"/>
                  </a:lnTo>
                  <a:lnTo>
                    <a:pt x="114154" y="122781"/>
                  </a:lnTo>
                  <a:lnTo>
                    <a:pt x="110868" y="122781"/>
                  </a:lnTo>
                  <a:lnTo>
                    <a:pt x="107582" y="122781"/>
                  </a:lnTo>
                  <a:lnTo>
                    <a:pt x="82124" y="94044"/>
                  </a:lnTo>
                  <a:lnTo>
                    <a:pt x="82124" y="90756"/>
                  </a:lnTo>
                  <a:lnTo>
                    <a:pt x="83287" y="87949"/>
                  </a:lnTo>
                  <a:lnTo>
                    <a:pt x="85612" y="85624"/>
                  </a:lnTo>
                  <a:lnTo>
                    <a:pt x="87937" y="83299"/>
                  </a:lnTo>
                  <a:lnTo>
                    <a:pt x="90744" y="82136"/>
                  </a:lnTo>
                  <a:lnTo>
                    <a:pt x="94032" y="82136"/>
                  </a:lnTo>
                  <a:lnTo>
                    <a:pt x="97320" y="82136"/>
                  </a:lnTo>
                  <a:lnTo>
                    <a:pt x="122769" y="107594"/>
                  </a:lnTo>
                  <a:lnTo>
                    <a:pt x="122769" y="110880"/>
                  </a:lnTo>
                  <a:lnTo>
                    <a:pt x="122769" y="114166"/>
                  </a:lnTo>
                  <a:lnTo>
                    <a:pt x="121607" y="116972"/>
                  </a:lnTo>
                  <a:lnTo>
                    <a:pt x="119284" y="119296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166951" y="1946649"/>
              <a:ext cx="155513" cy="120685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5035971" y="3273846"/>
            <a:ext cx="310515" cy="310515"/>
            <a:chOff x="5035971" y="3273846"/>
            <a:chExt cx="310515" cy="310515"/>
          </a:xfrm>
        </p:grpSpPr>
        <p:sp>
          <p:nvSpPr>
            <p:cNvPr id="29" name="object 29"/>
            <p:cNvSpPr/>
            <p:nvPr/>
          </p:nvSpPr>
          <p:spPr>
            <a:xfrm>
              <a:off x="5036343" y="3274218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781" y="309562"/>
                  </a:moveTo>
                  <a:lnTo>
                    <a:pt x="105859" y="301671"/>
                  </a:lnTo>
                  <a:lnTo>
                    <a:pt x="63371" y="279697"/>
                  </a:lnTo>
                  <a:lnTo>
                    <a:pt x="29864" y="246191"/>
                  </a:lnTo>
                  <a:lnTo>
                    <a:pt x="7891" y="203702"/>
                  </a:lnTo>
                  <a:lnTo>
                    <a:pt x="0" y="154781"/>
                  </a:lnTo>
                  <a:lnTo>
                    <a:pt x="7891" y="105859"/>
                  </a:lnTo>
                  <a:lnTo>
                    <a:pt x="29864" y="63371"/>
                  </a:lnTo>
                  <a:lnTo>
                    <a:pt x="63371" y="29864"/>
                  </a:lnTo>
                  <a:lnTo>
                    <a:pt x="105859" y="7891"/>
                  </a:lnTo>
                  <a:lnTo>
                    <a:pt x="154781" y="0"/>
                  </a:lnTo>
                  <a:lnTo>
                    <a:pt x="203702" y="7891"/>
                  </a:lnTo>
                  <a:lnTo>
                    <a:pt x="246191" y="29864"/>
                  </a:lnTo>
                  <a:lnTo>
                    <a:pt x="279697" y="63371"/>
                  </a:lnTo>
                  <a:lnTo>
                    <a:pt x="289744" y="82797"/>
                  </a:lnTo>
                  <a:lnTo>
                    <a:pt x="169097" y="82797"/>
                  </a:lnTo>
                  <a:lnTo>
                    <a:pt x="164146" y="84919"/>
                  </a:lnTo>
                  <a:lnTo>
                    <a:pt x="162895" y="86796"/>
                  </a:lnTo>
                  <a:lnTo>
                    <a:pt x="162870" y="117261"/>
                  </a:lnTo>
                  <a:lnTo>
                    <a:pt x="121298" y="124445"/>
                  </a:lnTo>
                  <a:lnTo>
                    <a:pt x="78149" y="171487"/>
                  </a:lnTo>
                  <a:lnTo>
                    <a:pt x="71036" y="209177"/>
                  </a:lnTo>
                  <a:lnTo>
                    <a:pt x="70953" y="210160"/>
                  </a:lnTo>
                  <a:lnTo>
                    <a:pt x="78082" y="213382"/>
                  </a:lnTo>
                  <a:lnTo>
                    <a:pt x="165801" y="213382"/>
                  </a:lnTo>
                  <a:lnTo>
                    <a:pt x="169194" y="214836"/>
                  </a:lnTo>
                  <a:lnTo>
                    <a:pt x="295913" y="214836"/>
                  </a:lnTo>
                  <a:lnTo>
                    <a:pt x="279697" y="246191"/>
                  </a:lnTo>
                  <a:lnTo>
                    <a:pt x="246191" y="279697"/>
                  </a:lnTo>
                  <a:lnTo>
                    <a:pt x="203702" y="301671"/>
                  </a:lnTo>
                  <a:lnTo>
                    <a:pt x="154781" y="309562"/>
                  </a:lnTo>
                  <a:close/>
                </a:path>
                <a:path w="309879" h="309879">
                  <a:moveTo>
                    <a:pt x="295913" y="214836"/>
                  </a:moveTo>
                  <a:lnTo>
                    <a:pt x="169194" y="214836"/>
                  </a:lnTo>
                  <a:lnTo>
                    <a:pt x="171416" y="214447"/>
                  </a:lnTo>
                  <a:lnTo>
                    <a:pt x="173384" y="212608"/>
                  </a:lnTo>
                  <a:lnTo>
                    <a:pt x="237484" y="152043"/>
                  </a:lnTo>
                  <a:lnTo>
                    <a:pt x="238124" y="150562"/>
                  </a:lnTo>
                  <a:lnTo>
                    <a:pt x="238124" y="147048"/>
                  </a:lnTo>
                  <a:lnTo>
                    <a:pt x="237484" y="145567"/>
                  </a:lnTo>
                  <a:lnTo>
                    <a:pt x="171319" y="83186"/>
                  </a:lnTo>
                  <a:lnTo>
                    <a:pt x="169097" y="82797"/>
                  </a:lnTo>
                  <a:lnTo>
                    <a:pt x="289744" y="82797"/>
                  </a:lnTo>
                  <a:lnTo>
                    <a:pt x="301671" y="105859"/>
                  </a:lnTo>
                  <a:lnTo>
                    <a:pt x="309562" y="154781"/>
                  </a:lnTo>
                  <a:lnTo>
                    <a:pt x="301671" y="203702"/>
                  </a:lnTo>
                  <a:lnTo>
                    <a:pt x="295913" y="214836"/>
                  </a:lnTo>
                  <a:close/>
                </a:path>
                <a:path w="309879" h="309879">
                  <a:moveTo>
                    <a:pt x="165801" y="213382"/>
                  </a:moveTo>
                  <a:lnTo>
                    <a:pt x="78082" y="213382"/>
                  </a:lnTo>
                  <a:lnTo>
                    <a:pt x="82168" y="209177"/>
                  </a:lnTo>
                  <a:lnTo>
                    <a:pt x="96377" y="196766"/>
                  </a:lnTo>
                  <a:lnTo>
                    <a:pt x="113358" y="187751"/>
                  </a:lnTo>
                  <a:lnTo>
                    <a:pt x="134944" y="182253"/>
                  </a:lnTo>
                  <a:lnTo>
                    <a:pt x="162966" y="180394"/>
                  </a:lnTo>
                  <a:lnTo>
                    <a:pt x="162992" y="210837"/>
                  </a:lnTo>
                  <a:lnTo>
                    <a:pt x="164172" y="212608"/>
                  </a:lnTo>
                  <a:lnTo>
                    <a:pt x="163996" y="212608"/>
                  </a:lnTo>
                  <a:lnTo>
                    <a:pt x="165801" y="213382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36343" y="3274218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0" y="154781"/>
                  </a:moveTo>
                  <a:lnTo>
                    <a:pt x="7891" y="203702"/>
                  </a:lnTo>
                  <a:lnTo>
                    <a:pt x="29864" y="246191"/>
                  </a:lnTo>
                  <a:lnTo>
                    <a:pt x="63371" y="279697"/>
                  </a:lnTo>
                  <a:lnTo>
                    <a:pt x="105859" y="301671"/>
                  </a:lnTo>
                  <a:lnTo>
                    <a:pt x="154781" y="309562"/>
                  </a:lnTo>
                  <a:lnTo>
                    <a:pt x="203702" y="301671"/>
                  </a:lnTo>
                  <a:lnTo>
                    <a:pt x="246191" y="279697"/>
                  </a:lnTo>
                  <a:lnTo>
                    <a:pt x="279697" y="246191"/>
                  </a:lnTo>
                  <a:lnTo>
                    <a:pt x="301671" y="203702"/>
                  </a:lnTo>
                  <a:lnTo>
                    <a:pt x="309562" y="154781"/>
                  </a:lnTo>
                  <a:lnTo>
                    <a:pt x="301671" y="105859"/>
                  </a:lnTo>
                  <a:lnTo>
                    <a:pt x="279697" y="63371"/>
                  </a:lnTo>
                  <a:lnTo>
                    <a:pt x="246191" y="29864"/>
                  </a:lnTo>
                  <a:lnTo>
                    <a:pt x="203702" y="7891"/>
                  </a:lnTo>
                  <a:lnTo>
                    <a:pt x="154781" y="0"/>
                  </a:lnTo>
                  <a:lnTo>
                    <a:pt x="105859" y="7891"/>
                  </a:lnTo>
                  <a:lnTo>
                    <a:pt x="63371" y="29864"/>
                  </a:lnTo>
                  <a:lnTo>
                    <a:pt x="29864" y="63371"/>
                  </a:lnTo>
                  <a:lnTo>
                    <a:pt x="7891" y="105859"/>
                  </a:lnTo>
                  <a:lnTo>
                    <a:pt x="0" y="154781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6925" y="3356644"/>
              <a:ext cx="167914" cy="132783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035971" y="4683546"/>
            <a:ext cx="310515" cy="310515"/>
            <a:chOff x="5035971" y="4683546"/>
            <a:chExt cx="310515" cy="310515"/>
          </a:xfrm>
        </p:grpSpPr>
        <p:sp>
          <p:nvSpPr>
            <p:cNvPr id="33" name="object 33"/>
            <p:cNvSpPr/>
            <p:nvPr/>
          </p:nvSpPr>
          <p:spPr>
            <a:xfrm>
              <a:off x="5036343" y="4683918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781" y="309562"/>
                  </a:moveTo>
                  <a:lnTo>
                    <a:pt x="105857" y="301672"/>
                  </a:lnTo>
                  <a:lnTo>
                    <a:pt x="63367" y="279699"/>
                  </a:lnTo>
                  <a:lnTo>
                    <a:pt x="29862" y="246194"/>
                  </a:lnTo>
                  <a:lnTo>
                    <a:pt x="7890" y="203705"/>
                  </a:lnTo>
                  <a:lnTo>
                    <a:pt x="0" y="154781"/>
                  </a:lnTo>
                  <a:lnTo>
                    <a:pt x="7890" y="105857"/>
                  </a:lnTo>
                  <a:lnTo>
                    <a:pt x="29862" y="63367"/>
                  </a:lnTo>
                  <a:lnTo>
                    <a:pt x="63367" y="29862"/>
                  </a:lnTo>
                  <a:lnTo>
                    <a:pt x="105857" y="7890"/>
                  </a:lnTo>
                  <a:lnTo>
                    <a:pt x="154781" y="0"/>
                  </a:lnTo>
                  <a:lnTo>
                    <a:pt x="203705" y="7890"/>
                  </a:lnTo>
                  <a:lnTo>
                    <a:pt x="234494" y="23812"/>
                  </a:lnTo>
                  <a:lnTo>
                    <a:pt x="151873" y="23812"/>
                  </a:lnTo>
                  <a:lnTo>
                    <a:pt x="149391" y="24840"/>
                  </a:lnTo>
                  <a:lnTo>
                    <a:pt x="145279" y="28952"/>
                  </a:lnTo>
                  <a:lnTo>
                    <a:pt x="144251" y="31434"/>
                  </a:lnTo>
                  <a:lnTo>
                    <a:pt x="144251" y="57382"/>
                  </a:lnTo>
                  <a:lnTo>
                    <a:pt x="68495" y="57382"/>
                  </a:lnTo>
                  <a:lnTo>
                    <a:pt x="39940" y="91609"/>
                  </a:lnTo>
                  <a:lnTo>
                    <a:pt x="26354" y="128614"/>
                  </a:lnTo>
                  <a:lnTo>
                    <a:pt x="23812" y="154781"/>
                  </a:lnTo>
                  <a:lnTo>
                    <a:pt x="34122" y="205696"/>
                  </a:lnTo>
                  <a:lnTo>
                    <a:pt x="62219" y="247333"/>
                  </a:lnTo>
                  <a:lnTo>
                    <a:pt x="103858" y="275436"/>
                  </a:lnTo>
                  <a:lnTo>
                    <a:pt x="154781" y="285750"/>
                  </a:lnTo>
                  <a:lnTo>
                    <a:pt x="234494" y="285750"/>
                  </a:lnTo>
                  <a:lnTo>
                    <a:pt x="203705" y="301672"/>
                  </a:lnTo>
                  <a:lnTo>
                    <a:pt x="154781" y="309562"/>
                  </a:lnTo>
                  <a:close/>
                </a:path>
                <a:path w="309879" h="309879">
                  <a:moveTo>
                    <a:pt x="234494" y="285750"/>
                  </a:moveTo>
                  <a:lnTo>
                    <a:pt x="154781" y="285750"/>
                  </a:lnTo>
                  <a:lnTo>
                    <a:pt x="205712" y="275436"/>
                  </a:lnTo>
                  <a:lnTo>
                    <a:pt x="247347" y="247333"/>
                  </a:lnTo>
                  <a:lnTo>
                    <a:pt x="275441" y="205696"/>
                  </a:lnTo>
                  <a:lnTo>
                    <a:pt x="285750" y="154781"/>
                  </a:lnTo>
                  <a:lnTo>
                    <a:pt x="275441" y="103865"/>
                  </a:lnTo>
                  <a:lnTo>
                    <a:pt x="247347" y="62228"/>
                  </a:lnTo>
                  <a:lnTo>
                    <a:pt x="205712" y="34125"/>
                  </a:lnTo>
                  <a:lnTo>
                    <a:pt x="154781" y="23812"/>
                  </a:lnTo>
                  <a:lnTo>
                    <a:pt x="234494" y="23812"/>
                  </a:lnTo>
                  <a:lnTo>
                    <a:pt x="246194" y="29862"/>
                  </a:lnTo>
                  <a:lnTo>
                    <a:pt x="279699" y="63367"/>
                  </a:lnTo>
                  <a:lnTo>
                    <a:pt x="301672" y="105857"/>
                  </a:lnTo>
                  <a:lnTo>
                    <a:pt x="309562" y="154781"/>
                  </a:lnTo>
                  <a:lnTo>
                    <a:pt x="301672" y="203705"/>
                  </a:lnTo>
                  <a:lnTo>
                    <a:pt x="279699" y="246194"/>
                  </a:lnTo>
                  <a:lnTo>
                    <a:pt x="246194" y="279699"/>
                  </a:lnTo>
                  <a:lnTo>
                    <a:pt x="234494" y="285750"/>
                  </a:lnTo>
                  <a:close/>
                </a:path>
                <a:path w="309879" h="309879">
                  <a:moveTo>
                    <a:pt x="246016" y="96849"/>
                  </a:moveTo>
                  <a:lnTo>
                    <a:pt x="157688" y="96849"/>
                  </a:lnTo>
                  <a:lnTo>
                    <a:pt x="160170" y="95821"/>
                  </a:lnTo>
                  <a:lnTo>
                    <a:pt x="163730" y="92261"/>
                  </a:lnTo>
                  <a:lnTo>
                    <a:pt x="164324" y="91609"/>
                  </a:lnTo>
                  <a:lnTo>
                    <a:pt x="165310" y="89227"/>
                  </a:lnTo>
                  <a:lnTo>
                    <a:pt x="165310" y="45392"/>
                  </a:lnTo>
                  <a:lnTo>
                    <a:pt x="204330" y="56696"/>
                  </a:lnTo>
                  <a:lnTo>
                    <a:pt x="235882" y="80678"/>
                  </a:lnTo>
                  <a:lnTo>
                    <a:pt x="246016" y="96849"/>
                  </a:lnTo>
                  <a:close/>
                </a:path>
                <a:path w="309879" h="309879">
                  <a:moveTo>
                    <a:pt x="154781" y="264690"/>
                  </a:moveTo>
                  <a:lnTo>
                    <a:pt x="112041" y="256039"/>
                  </a:lnTo>
                  <a:lnTo>
                    <a:pt x="77100" y="232462"/>
                  </a:lnTo>
                  <a:lnTo>
                    <a:pt x="53522" y="197521"/>
                  </a:lnTo>
                  <a:lnTo>
                    <a:pt x="44871" y="154781"/>
                  </a:lnTo>
                  <a:lnTo>
                    <a:pt x="45386" y="143689"/>
                  </a:lnTo>
                  <a:lnTo>
                    <a:pt x="58408" y="101765"/>
                  </a:lnTo>
                  <a:lnTo>
                    <a:pt x="80666" y="73635"/>
                  </a:lnTo>
                  <a:lnTo>
                    <a:pt x="81781" y="71161"/>
                  </a:lnTo>
                  <a:lnTo>
                    <a:pt x="81859" y="68220"/>
                  </a:lnTo>
                  <a:lnTo>
                    <a:pt x="81937" y="65279"/>
                  </a:lnTo>
                  <a:lnTo>
                    <a:pt x="80955" y="62750"/>
                  </a:lnTo>
                  <a:lnTo>
                    <a:pt x="76767" y="58406"/>
                  </a:lnTo>
                  <a:lnTo>
                    <a:pt x="76621" y="58406"/>
                  </a:lnTo>
                  <a:lnTo>
                    <a:pt x="74244" y="57382"/>
                  </a:lnTo>
                  <a:lnTo>
                    <a:pt x="144251" y="57382"/>
                  </a:lnTo>
                  <a:lnTo>
                    <a:pt x="144251" y="83845"/>
                  </a:lnTo>
                  <a:lnTo>
                    <a:pt x="91034" y="83845"/>
                  </a:lnTo>
                  <a:lnTo>
                    <a:pt x="88113" y="84103"/>
                  </a:lnTo>
                  <a:lnTo>
                    <a:pt x="86864" y="84686"/>
                  </a:lnTo>
                  <a:lnTo>
                    <a:pt x="84790" y="86760"/>
                  </a:lnTo>
                  <a:lnTo>
                    <a:pt x="84207" y="88008"/>
                  </a:lnTo>
                  <a:lnTo>
                    <a:pt x="83949" y="90930"/>
                  </a:lnTo>
                  <a:lnTo>
                    <a:pt x="84305" y="92261"/>
                  </a:lnTo>
                  <a:lnTo>
                    <a:pt x="85144" y="93464"/>
                  </a:lnTo>
                  <a:lnTo>
                    <a:pt x="137978" y="171598"/>
                  </a:lnTo>
                  <a:lnTo>
                    <a:pt x="155650" y="181864"/>
                  </a:lnTo>
                  <a:lnTo>
                    <a:pt x="259208" y="181864"/>
                  </a:lnTo>
                  <a:lnTo>
                    <a:pt x="256039" y="197521"/>
                  </a:lnTo>
                  <a:lnTo>
                    <a:pt x="232462" y="232462"/>
                  </a:lnTo>
                  <a:lnTo>
                    <a:pt x="197521" y="256039"/>
                  </a:lnTo>
                  <a:lnTo>
                    <a:pt x="154781" y="264690"/>
                  </a:lnTo>
                  <a:close/>
                </a:path>
                <a:path w="309879" h="309879">
                  <a:moveTo>
                    <a:pt x="259208" y="181864"/>
                  </a:moveTo>
                  <a:lnTo>
                    <a:pt x="158982" y="181864"/>
                  </a:lnTo>
                  <a:lnTo>
                    <a:pt x="165019" y="180753"/>
                  </a:lnTo>
                  <a:lnTo>
                    <a:pt x="167919" y="179606"/>
                  </a:lnTo>
                  <a:lnTo>
                    <a:pt x="181892" y="156629"/>
                  </a:lnTo>
                  <a:lnTo>
                    <a:pt x="180828" y="150362"/>
                  </a:lnTo>
                  <a:lnTo>
                    <a:pt x="97215" y="87586"/>
                  </a:lnTo>
                  <a:lnTo>
                    <a:pt x="92226" y="84103"/>
                  </a:lnTo>
                  <a:lnTo>
                    <a:pt x="92000" y="84103"/>
                  </a:lnTo>
                  <a:lnTo>
                    <a:pt x="91034" y="83845"/>
                  </a:lnTo>
                  <a:lnTo>
                    <a:pt x="144251" y="83845"/>
                  </a:lnTo>
                  <a:lnTo>
                    <a:pt x="144251" y="89227"/>
                  </a:lnTo>
                  <a:lnTo>
                    <a:pt x="145238" y="91609"/>
                  </a:lnTo>
                  <a:lnTo>
                    <a:pt x="145831" y="92261"/>
                  </a:lnTo>
                  <a:lnTo>
                    <a:pt x="149391" y="95821"/>
                  </a:lnTo>
                  <a:lnTo>
                    <a:pt x="151873" y="96849"/>
                  </a:lnTo>
                  <a:lnTo>
                    <a:pt x="246016" y="96849"/>
                  </a:lnTo>
                  <a:lnTo>
                    <a:pt x="256993" y="114365"/>
                  </a:lnTo>
                  <a:lnTo>
                    <a:pt x="264690" y="154781"/>
                  </a:lnTo>
                  <a:lnTo>
                    <a:pt x="259208" y="181864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036343" y="4683918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781" y="0"/>
                  </a:moveTo>
                  <a:lnTo>
                    <a:pt x="105857" y="7890"/>
                  </a:lnTo>
                  <a:lnTo>
                    <a:pt x="63367" y="29862"/>
                  </a:lnTo>
                  <a:lnTo>
                    <a:pt x="29862" y="63367"/>
                  </a:lnTo>
                  <a:lnTo>
                    <a:pt x="7890" y="105857"/>
                  </a:lnTo>
                  <a:lnTo>
                    <a:pt x="0" y="154781"/>
                  </a:lnTo>
                  <a:lnTo>
                    <a:pt x="7890" y="203705"/>
                  </a:lnTo>
                  <a:lnTo>
                    <a:pt x="29862" y="246194"/>
                  </a:lnTo>
                  <a:lnTo>
                    <a:pt x="63367" y="279699"/>
                  </a:lnTo>
                  <a:lnTo>
                    <a:pt x="105857" y="301671"/>
                  </a:lnTo>
                  <a:lnTo>
                    <a:pt x="154781" y="309562"/>
                  </a:lnTo>
                  <a:lnTo>
                    <a:pt x="203705" y="301671"/>
                  </a:lnTo>
                  <a:lnTo>
                    <a:pt x="246194" y="279699"/>
                  </a:lnTo>
                  <a:lnTo>
                    <a:pt x="279699" y="246194"/>
                  </a:lnTo>
                  <a:lnTo>
                    <a:pt x="301671" y="203705"/>
                  </a:lnTo>
                  <a:lnTo>
                    <a:pt x="309562" y="154781"/>
                  </a:lnTo>
                  <a:lnTo>
                    <a:pt x="301671" y="105857"/>
                  </a:lnTo>
                  <a:lnTo>
                    <a:pt x="279699" y="63367"/>
                  </a:lnTo>
                  <a:lnTo>
                    <a:pt x="246194" y="29862"/>
                  </a:lnTo>
                  <a:lnTo>
                    <a:pt x="203705" y="7890"/>
                  </a:lnTo>
                  <a:lnTo>
                    <a:pt x="154781" y="0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9921" y="4767392"/>
              <a:ext cx="98686" cy="9880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060155" y="4707731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4">
                  <a:moveTo>
                    <a:pt x="130968" y="261937"/>
                  </a:moveTo>
                  <a:lnTo>
                    <a:pt x="80053" y="251629"/>
                  </a:lnTo>
                  <a:lnTo>
                    <a:pt x="38416" y="223535"/>
                  </a:lnTo>
                  <a:lnTo>
                    <a:pt x="10313" y="181899"/>
                  </a:lnTo>
                  <a:lnTo>
                    <a:pt x="0" y="130968"/>
                  </a:lnTo>
                  <a:lnTo>
                    <a:pt x="612" y="117752"/>
                  </a:lnTo>
                  <a:lnTo>
                    <a:pt x="10352" y="79700"/>
                  </a:lnTo>
                  <a:lnTo>
                    <a:pt x="30994" y="46282"/>
                  </a:lnTo>
                  <a:lnTo>
                    <a:pt x="44683" y="33570"/>
                  </a:lnTo>
                  <a:lnTo>
                    <a:pt x="47625" y="33599"/>
                  </a:lnTo>
                  <a:lnTo>
                    <a:pt x="58046" y="44408"/>
                  </a:lnTo>
                  <a:lnTo>
                    <a:pt x="57968" y="47349"/>
                  </a:lnTo>
                  <a:lnTo>
                    <a:pt x="56853" y="49822"/>
                  </a:lnTo>
                  <a:lnTo>
                    <a:pt x="54701" y="51829"/>
                  </a:lnTo>
                  <a:lnTo>
                    <a:pt x="47072" y="59896"/>
                  </a:lnTo>
                  <a:lnTo>
                    <a:pt x="25919" y="98364"/>
                  </a:lnTo>
                  <a:lnTo>
                    <a:pt x="21059" y="130968"/>
                  </a:lnTo>
                  <a:lnTo>
                    <a:pt x="29710" y="173708"/>
                  </a:lnTo>
                  <a:lnTo>
                    <a:pt x="53287" y="208649"/>
                  </a:lnTo>
                  <a:lnTo>
                    <a:pt x="88228" y="232227"/>
                  </a:lnTo>
                  <a:lnTo>
                    <a:pt x="130968" y="240878"/>
                  </a:lnTo>
                  <a:lnTo>
                    <a:pt x="173708" y="232227"/>
                  </a:lnTo>
                  <a:lnTo>
                    <a:pt x="208649" y="208649"/>
                  </a:lnTo>
                  <a:lnTo>
                    <a:pt x="232227" y="173708"/>
                  </a:lnTo>
                  <a:lnTo>
                    <a:pt x="240878" y="130968"/>
                  </a:lnTo>
                  <a:lnTo>
                    <a:pt x="233180" y="90552"/>
                  </a:lnTo>
                  <a:lnTo>
                    <a:pt x="212069" y="56866"/>
                  </a:lnTo>
                  <a:lnTo>
                    <a:pt x="180518" y="32884"/>
                  </a:lnTo>
                  <a:lnTo>
                    <a:pt x="141498" y="21580"/>
                  </a:lnTo>
                  <a:lnTo>
                    <a:pt x="141498" y="62507"/>
                  </a:lnTo>
                  <a:lnTo>
                    <a:pt x="141498" y="65415"/>
                  </a:lnTo>
                  <a:lnTo>
                    <a:pt x="140470" y="67897"/>
                  </a:lnTo>
                  <a:lnTo>
                    <a:pt x="138414" y="69953"/>
                  </a:lnTo>
                  <a:lnTo>
                    <a:pt x="136358" y="72009"/>
                  </a:lnTo>
                  <a:lnTo>
                    <a:pt x="133876" y="73037"/>
                  </a:lnTo>
                  <a:lnTo>
                    <a:pt x="130968" y="73037"/>
                  </a:lnTo>
                  <a:lnTo>
                    <a:pt x="128061" y="73037"/>
                  </a:lnTo>
                  <a:lnTo>
                    <a:pt x="125579" y="72009"/>
                  </a:lnTo>
                  <a:lnTo>
                    <a:pt x="123523" y="69953"/>
                  </a:lnTo>
                  <a:lnTo>
                    <a:pt x="121467" y="67897"/>
                  </a:lnTo>
                  <a:lnTo>
                    <a:pt x="120439" y="65415"/>
                  </a:lnTo>
                  <a:lnTo>
                    <a:pt x="120439" y="62507"/>
                  </a:lnTo>
                  <a:lnTo>
                    <a:pt x="120439" y="10529"/>
                  </a:lnTo>
                  <a:lnTo>
                    <a:pt x="120439" y="7621"/>
                  </a:lnTo>
                  <a:lnTo>
                    <a:pt x="121467" y="5140"/>
                  </a:lnTo>
                  <a:lnTo>
                    <a:pt x="123523" y="3084"/>
                  </a:lnTo>
                  <a:lnTo>
                    <a:pt x="125579" y="1028"/>
                  </a:lnTo>
                  <a:lnTo>
                    <a:pt x="128061" y="0"/>
                  </a:lnTo>
                  <a:lnTo>
                    <a:pt x="130968" y="0"/>
                  </a:lnTo>
                  <a:lnTo>
                    <a:pt x="181899" y="10313"/>
                  </a:lnTo>
                  <a:lnTo>
                    <a:pt x="223535" y="38416"/>
                  </a:lnTo>
                  <a:lnTo>
                    <a:pt x="251629" y="80053"/>
                  </a:lnTo>
                  <a:lnTo>
                    <a:pt x="261937" y="130968"/>
                  </a:lnTo>
                  <a:lnTo>
                    <a:pt x="251629" y="181884"/>
                  </a:lnTo>
                  <a:lnTo>
                    <a:pt x="223535" y="223521"/>
                  </a:lnTo>
                  <a:lnTo>
                    <a:pt x="181899" y="251624"/>
                  </a:lnTo>
                  <a:lnTo>
                    <a:pt x="130968" y="261937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300" y="471169"/>
            <a:ext cx="5359400" cy="5422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核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心</a:t>
            </a:r>
            <a:r>
              <a:rPr spc="-370" dirty="0"/>
              <a:t>优势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三：聚焦宏</a:t>
            </a:r>
            <a:r>
              <a:rPr spc="-370" dirty="0"/>
              <a:t>观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，更</a:t>
            </a:r>
            <a:r>
              <a:rPr spc="-370" dirty="0"/>
              <a:t>强</a:t>
            </a:r>
            <a:r>
              <a:rPr spc="-420" dirty="0">
                <a:latin typeface="Malgun Gothic" panose="020B0503020000020004" charset="-127"/>
                <a:cs typeface="Malgun Gothic" panose="020B0503020000020004" charset="-127"/>
              </a:rPr>
              <a:t>大</a:t>
            </a:r>
            <a:endParaRPr spc="-420" dirty="0">
              <a:latin typeface="Malgun Gothic" panose="020B0503020000020004" charset="-127"/>
              <a:cs typeface="Malgun Gothic" panose="020B0503020000020004" charset="-127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1999" y="1504949"/>
            <a:ext cx="5048250" cy="2476500"/>
            <a:chOff x="761999" y="1504949"/>
            <a:chExt cx="5048250" cy="2476500"/>
          </a:xfrm>
        </p:grpSpPr>
        <p:sp>
          <p:nvSpPr>
            <p:cNvPr id="4" name="object 4"/>
            <p:cNvSpPr/>
            <p:nvPr/>
          </p:nvSpPr>
          <p:spPr>
            <a:xfrm>
              <a:off x="790574" y="1504949"/>
              <a:ext cx="5019675" cy="2476500"/>
            </a:xfrm>
            <a:custGeom>
              <a:avLst/>
              <a:gdLst/>
              <a:ahLst/>
              <a:cxnLst/>
              <a:rect l="l" t="t" r="r" b="b"/>
              <a:pathLst>
                <a:path w="5019675" h="2476500">
                  <a:moveTo>
                    <a:pt x="4912879" y="2476499"/>
                  </a:moveTo>
                  <a:lnTo>
                    <a:pt x="80096" y="2476499"/>
                  </a:lnTo>
                  <a:lnTo>
                    <a:pt x="74521" y="2475767"/>
                  </a:lnTo>
                  <a:lnTo>
                    <a:pt x="33418" y="2453066"/>
                  </a:lnTo>
                  <a:lnTo>
                    <a:pt x="11320" y="2419460"/>
                  </a:lnTo>
                  <a:lnTo>
                    <a:pt x="549" y="2377137"/>
                  </a:lnTo>
                  <a:lnTo>
                    <a:pt x="0" y="2369704"/>
                  </a:lnTo>
                  <a:lnTo>
                    <a:pt x="0" y="2362199"/>
                  </a:lnTo>
                  <a:lnTo>
                    <a:pt x="0" y="106794"/>
                  </a:lnTo>
                  <a:lnTo>
                    <a:pt x="8679" y="63625"/>
                  </a:lnTo>
                  <a:lnTo>
                    <a:pt x="29088" y="28170"/>
                  </a:lnTo>
                  <a:lnTo>
                    <a:pt x="63480" y="3660"/>
                  </a:lnTo>
                  <a:lnTo>
                    <a:pt x="80096" y="0"/>
                  </a:lnTo>
                  <a:lnTo>
                    <a:pt x="4912879" y="0"/>
                  </a:lnTo>
                  <a:lnTo>
                    <a:pt x="4956048" y="11572"/>
                  </a:lnTo>
                  <a:lnTo>
                    <a:pt x="4991503" y="38784"/>
                  </a:lnTo>
                  <a:lnTo>
                    <a:pt x="5013845" y="77492"/>
                  </a:lnTo>
                  <a:lnTo>
                    <a:pt x="5019674" y="106794"/>
                  </a:lnTo>
                  <a:lnTo>
                    <a:pt x="5019674" y="2369704"/>
                  </a:lnTo>
                  <a:lnTo>
                    <a:pt x="5008101" y="2412873"/>
                  </a:lnTo>
                  <a:lnTo>
                    <a:pt x="4980889" y="2448328"/>
                  </a:lnTo>
                  <a:lnTo>
                    <a:pt x="4942181" y="2470671"/>
                  </a:lnTo>
                  <a:lnTo>
                    <a:pt x="4920312" y="2475767"/>
                  </a:lnTo>
                  <a:lnTo>
                    <a:pt x="4912879" y="2476499"/>
                  </a:lnTo>
                  <a:close/>
                </a:path>
              </a:pathLst>
            </a:custGeom>
            <a:solidFill>
              <a:srgbClr val="2B3D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1999" y="1505366"/>
              <a:ext cx="106045" cy="2475865"/>
            </a:xfrm>
            <a:custGeom>
              <a:avLst/>
              <a:gdLst/>
              <a:ahLst/>
              <a:cxnLst/>
              <a:rect l="l" t="t" r="r" b="b"/>
              <a:pathLst>
                <a:path w="106044" h="2475865">
                  <a:moveTo>
                    <a:pt x="105674" y="2475666"/>
                  </a:moveTo>
                  <a:lnTo>
                    <a:pt x="60364" y="2462570"/>
                  </a:lnTo>
                  <a:lnTo>
                    <a:pt x="25900" y="2434258"/>
                  </a:lnTo>
                  <a:lnTo>
                    <a:pt x="4893" y="2394913"/>
                  </a:lnTo>
                  <a:lnTo>
                    <a:pt x="0" y="2361783"/>
                  </a:lnTo>
                  <a:lnTo>
                    <a:pt x="0" y="113883"/>
                  </a:lnTo>
                  <a:lnTo>
                    <a:pt x="8700" y="70142"/>
                  </a:lnTo>
                  <a:lnTo>
                    <a:pt x="33477" y="33061"/>
                  </a:lnTo>
                  <a:lnTo>
                    <a:pt x="70559" y="8283"/>
                  </a:lnTo>
                  <a:lnTo>
                    <a:pt x="105674" y="0"/>
                  </a:lnTo>
                  <a:lnTo>
                    <a:pt x="99431" y="2483"/>
                  </a:lnTo>
                  <a:lnTo>
                    <a:pt x="92429" y="8283"/>
                  </a:lnTo>
                  <a:lnTo>
                    <a:pt x="70100" y="41407"/>
                  </a:lnTo>
                  <a:lnTo>
                    <a:pt x="59596" y="80753"/>
                  </a:lnTo>
                  <a:lnTo>
                    <a:pt x="57150" y="113883"/>
                  </a:lnTo>
                  <a:lnTo>
                    <a:pt x="57150" y="2361783"/>
                  </a:lnTo>
                  <a:lnTo>
                    <a:pt x="61500" y="2405523"/>
                  </a:lnTo>
                  <a:lnTo>
                    <a:pt x="73888" y="2442605"/>
                  </a:lnTo>
                  <a:lnTo>
                    <a:pt x="99431" y="2473182"/>
                  </a:lnTo>
                  <a:lnTo>
                    <a:pt x="105674" y="2475666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835150" y="1914779"/>
            <a:ext cx="16256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-26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解放主</a:t>
            </a:r>
            <a:r>
              <a:rPr sz="2350" b="1" spc="-26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智</a:t>
            </a:r>
            <a:r>
              <a:rPr sz="2350" b="1" spc="-28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能体</a:t>
            </a:r>
            <a:endParaRPr sz="23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7449" y="2482583"/>
            <a:ext cx="4216400" cy="10922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27000"/>
              </a:lnSpc>
              <a:spcBef>
                <a:spcPts val="60"/>
              </a:spcBef>
            </a:pP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主智能体无需陷入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每个子任务</a:t>
            </a:r>
            <a:r>
              <a:rPr sz="185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的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执行细节</a:t>
            </a:r>
            <a:r>
              <a:rPr sz="1850" spc="-2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，只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需关注任务的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分解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、进度的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把</a:t>
            </a:r>
            <a:r>
              <a:rPr sz="185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控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和结果的</a:t>
            </a:r>
            <a:r>
              <a:rPr sz="1850" b="1" spc="-5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整</a:t>
            </a:r>
            <a:r>
              <a:rPr sz="1850" b="1" spc="-5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合</a:t>
            </a:r>
            <a:r>
              <a:rPr sz="185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2000" y="4362450"/>
            <a:ext cx="5048250" cy="2333625"/>
            <a:chOff x="761999" y="4362450"/>
            <a:chExt cx="5048250" cy="2476500"/>
          </a:xfrm>
        </p:grpSpPr>
        <p:sp>
          <p:nvSpPr>
            <p:cNvPr id="9" name="object 9"/>
            <p:cNvSpPr/>
            <p:nvPr/>
          </p:nvSpPr>
          <p:spPr>
            <a:xfrm>
              <a:off x="790574" y="4362450"/>
              <a:ext cx="5019675" cy="2476500"/>
            </a:xfrm>
            <a:custGeom>
              <a:avLst/>
              <a:gdLst/>
              <a:ahLst/>
              <a:cxnLst/>
              <a:rect l="l" t="t" r="r" b="b"/>
              <a:pathLst>
                <a:path w="5019675" h="2476500">
                  <a:moveTo>
                    <a:pt x="4912879" y="2476499"/>
                  </a:moveTo>
                  <a:lnTo>
                    <a:pt x="80096" y="2476499"/>
                  </a:lnTo>
                  <a:lnTo>
                    <a:pt x="74521" y="2475767"/>
                  </a:lnTo>
                  <a:lnTo>
                    <a:pt x="33418" y="2453066"/>
                  </a:lnTo>
                  <a:lnTo>
                    <a:pt x="11320" y="2419460"/>
                  </a:lnTo>
                  <a:lnTo>
                    <a:pt x="549" y="2377137"/>
                  </a:lnTo>
                  <a:lnTo>
                    <a:pt x="0" y="2369704"/>
                  </a:lnTo>
                  <a:lnTo>
                    <a:pt x="0" y="2362199"/>
                  </a:lnTo>
                  <a:lnTo>
                    <a:pt x="0" y="106794"/>
                  </a:lnTo>
                  <a:lnTo>
                    <a:pt x="8679" y="63624"/>
                  </a:lnTo>
                  <a:lnTo>
                    <a:pt x="29088" y="28169"/>
                  </a:lnTo>
                  <a:lnTo>
                    <a:pt x="63480" y="3659"/>
                  </a:lnTo>
                  <a:lnTo>
                    <a:pt x="80096" y="0"/>
                  </a:lnTo>
                  <a:lnTo>
                    <a:pt x="4912879" y="0"/>
                  </a:lnTo>
                  <a:lnTo>
                    <a:pt x="4956048" y="11571"/>
                  </a:lnTo>
                  <a:lnTo>
                    <a:pt x="4991503" y="38783"/>
                  </a:lnTo>
                  <a:lnTo>
                    <a:pt x="5013845" y="77491"/>
                  </a:lnTo>
                  <a:lnTo>
                    <a:pt x="5019674" y="106794"/>
                  </a:lnTo>
                  <a:lnTo>
                    <a:pt x="5019674" y="2369704"/>
                  </a:lnTo>
                  <a:lnTo>
                    <a:pt x="5008101" y="2412873"/>
                  </a:lnTo>
                  <a:lnTo>
                    <a:pt x="4980889" y="2448327"/>
                  </a:lnTo>
                  <a:lnTo>
                    <a:pt x="4942181" y="2470670"/>
                  </a:lnTo>
                  <a:lnTo>
                    <a:pt x="4920312" y="2475767"/>
                  </a:lnTo>
                  <a:lnTo>
                    <a:pt x="4912879" y="2476499"/>
                  </a:lnTo>
                  <a:close/>
                </a:path>
              </a:pathLst>
            </a:custGeom>
            <a:solidFill>
              <a:srgbClr val="2B3D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61999" y="4362866"/>
              <a:ext cx="106045" cy="2475865"/>
            </a:xfrm>
            <a:custGeom>
              <a:avLst/>
              <a:gdLst/>
              <a:ahLst/>
              <a:cxnLst/>
              <a:rect l="l" t="t" r="r" b="b"/>
              <a:pathLst>
                <a:path w="106044" h="2475865">
                  <a:moveTo>
                    <a:pt x="105675" y="2475666"/>
                  </a:moveTo>
                  <a:lnTo>
                    <a:pt x="60364" y="2462570"/>
                  </a:lnTo>
                  <a:lnTo>
                    <a:pt x="25900" y="2434258"/>
                  </a:lnTo>
                  <a:lnTo>
                    <a:pt x="4893" y="2394912"/>
                  </a:lnTo>
                  <a:lnTo>
                    <a:pt x="0" y="2361783"/>
                  </a:lnTo>
                  <a:lnTo>
                    <a:pt x="0" y="113883"/>
                  </a:lnTo>
                  <a:lnTo>
                    <a:pt x="8700" y="70142"/>
                  </a:lnTo>
                  <a:lnTo>
                    <a:pt x="33477" y="33060"/>
                  </a:lnTo>
                  <a:lnTo>
                    <a:pt x="70559" y="8283"/>
                  </a:lnTo>
                  <a:lnTo>
                    <a:pt x="105674" y="0"/>
                  </a:lnTo>
                  <a:lnTo>
                    <a:pt x="99431" y="2483"/>
                  </a:lnTo>
                  <a:lnTo>
                    <a:pt x="92429" y="8283"/>
                  </a:lnTo>
                  <a:lnTo>
                    <a:pt x="70100" y="41406"/>
                  </a:lnTo>
                  <a:lnTo>
                    <a:pt x="59596" y="80752"/>
                  </a:lnTo>
                  <a:lnTo>
                    <a:pt x="57150" y="113883"/>
                  </a:lnTo>
                  <a:lnTo>
                    <a:pt x="57150" y="2361783"/>
                  </a:lnTo>
                  <a:lnTo>
                    <a:pt x="61500" y="2405522"/>
                  </a:lnTo>
                  <a:lnTo>
                    <a:pt x="73888" y="2442605"/>
                  </a:lnTo>
                  <a:lnTo>
                    <a:pt x="99431" y="2473182"/>
                  </a:lnTo>
                  <a:lnTo>
                    <a:pt x="105675" y="2475666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835150" y="4772278"/>
            <a:ext cx="21590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-26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处理更复杂</a:t>
            </a:r>
            <a:r>
              <a:rPr sz="2350" b="1" spc="-26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的</a:t>
            </a:r>
            <a:r>
              <a:rPr sz="2350" b="1" spc="-28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任务</a:t>
            </a:r>
            <a:endParaRPr sz="23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7449" y="5330558"/>
            <a:ext cx="4216400" cy="11017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27000"/>
              </a:lnSpc>
              <a:spcBef>
                <a:spcPts val="135"/>
              </a:spcBef>
            </a:pP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这种</a:t>
            </a:r>
            <a:r>
              <a:rPr sz="185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分而治之</a:t>
            </a:r>
            <a:r>
              <a:rPr sz="185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的策略，使得整个系统能够处理远超单个智能体能力范围的、更加宏大和开放性的任务，有效扩展了</a:t>
            </a:r>
            <a:r>
              <a:rPr sz="1800" spc="-75" dirty="0">
                <a:solidFill>
                  <a:srgbClr val="C4CCD4"/>
                </a:solidFill>
                <a:latin typeface="Franklin Gothic Demi" panose="020B0703020102020204"/>
                <a:cs typeface="Franklin Gothic Demi" panose="020B0703020102020204"/>
              </a:rPr>
              <a:t>AI</a:t>
            </a:r>
            <a:r>
              <a:rPr sz="1850" spc="-18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的能力边界。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71587" y="4814887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314325" y="214312"/>
                </a:moveTo>
                <a:lnTo>
                  <a:pt x="314325" y="314325"/>
                </a:lnTo>
                <a:lnTo>
                  <a:pt x="214312" y="314325"/>
                </a:lnTo>
              </a:path>
              <a:path w="314325" h="314325">
                <a:moveTo>
                  <a:pt x="305216" y="305189"/>
                </a:moveTo>
                <a:lnTo>
                  <a:pt x="200025" y="200025"/>
                </a:lnTo>
              </a:path>
              <a:path w="314325" h="314325">
                <a:moveTo>
                  <a:pt x="0" y="100012"/>
                </a:moveTo>
                <a:lnTo>
                  <a:pt x="0" y="0"/>
                </a:lnTo>
                <a:lnTo>
                  <a:pt x="100012" y="0"/>
                </a:lnTo>
              </a:path>
              <a:path w="314325" h="314325">
                <a:moveTo>
                  <a:pt x="9108" y="9135"/>
                </a:moveTo>
                <a:lnTo>
                  <a:pt x="114300" y="114300"/>
                </a:lnTo>
              </a:path>
              <a:path w="314325" h="314325">
                <a:moveTo>
                  <a:pt x="214312" y="0"/>
                </a:moveTo>
                <a:lnTo>
                  <a:pt x="314325" y="0"/>
                </a:lnTo>
                <a:lnTo>
                  <a:pt x="314325" y="100012"/>
                </a:lnTo>
              </a:path>
              <a:path w="314325" h="314325">
                <a:moveTo>
                  <a:pt x="305189" y="9108"/>
                </a:moveTo>
                <a:lnTo>
                  <a:pt x="200025" y="114300"/>
                </a:lnTo>
              </a:path>
              <a:path w="314325" h="314325">
                <a:moveTo>
                  <a:pt x="100012" y="314325"/>
                </a:moveTo>
                <a:lnTo>
                  <a:pt x="0" y="314325"/>
                </a:lnTo>
                <a:lnTo>
                  <a:pt x="0" y="214312"/>
                </a:lnTo>
              </a:path>
              <a:path w="314325" h="314325">
                <a:moveTo>
                  <a:pt x="9135" y="305216"/>
                </a:moveTo>
                <a:lnTo>
                  <a:pt x="114300" y="200025"/>
                </a:lnTo>
              </a:path>
            </a:pathLst>
          </a:custGeom>
          <a:ln w="28575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38999" y="2505074"/>
            <a:ext cx="3333750" cy="333374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214320" y="1591309"/>
            <a:ext cx="10949104" cy="4352290"/>
            <a:chOff x="1214320" y="1591309"/>
            <a:chExt cx="10949104" cy="4352290"/>
          </a:xfrm>
        </p:grpSpPr>
        <p:sp>
          <p:nvSpPr>
            <p:cNvPr id="16" name="object 16"/>
            <p:cNvSpPr/>
            <p:nvPr/>
          </p:nvSpPr>
          <p:spPr>
            <a:xfrm>
              <a:off x="1214321" y="1943335"/>
              <a:ext cx="429259" cy="342900"/>
            </a:xfrm>
            <a:custGeom>
              <a:avLst/>
              <a:gdLst/>
              <a:ahLst/>
              <a:cxnLst/>
              <a:rect l="l" t="t" r="r" b="b"/>
              <a:pathLst>
                <a:path w="429260" h="342900">
                  <a:moveTo>
                    <a:pt x="374479" y="342662"/>
                  </a:moveTo>
                  <a:lnTo>
                    <a:pt x="367624" y="342662"/>
                  </a:lnTo>
                  <a:lnTo>
                    <a:pt x="364276" y="341274"/>
                  </a:lnTo>
                  <a:lnTo>
                    <a:pt x="47166" y="24151"/>
                  </a:lnTo>
                  <a:lnTo>
                    <a:pt x="43214" y="15990"/>
                  </a:lnTo>
                  <a:lnTo>
                    <a:pt x="43262" y="12264"/>
                  </a:lnTo>
                  <a:lnTo>
                    <a:pt x="53911" y="327"/>
                  </a:lnTo>
                  <a:lnTo>
                    <a:pt x="54137" y="327"/>
                  </a:lnTo>
                  <a:lnTo>
                    <a:pt x="55707" y="0"/>
                  </a:lnTo>
                  <a:lnTo>
                    <a:pt x="59204" y="0"/>
                  </a:lnTo>
                  <a:lnTo>
                    <a:pt x="61003" y="327"/>
                  </a:lnTo>
                  <a:lnTo>
                    <a:pt x="383732" y="320320"/>
                  </a:lnTo>
                  <a:lnTo>
                    <a:pt x="386161" y="328423"/>
                  </a:lnTo>
                  <a:lnTo>
                    <a:pt x="385890" y="331174"/>
                  </a:lnTo>
                  <a:lnTo>
                    <a:pt x="383679" y="336511"/>
                  </a:lnTo>
                  <a:lnTo>
                    <a:pt x="381926" y="338648"/>
                  </a:lnTo>
                  <a:lnTo>
                    <a:pt x="377124" y="341859"/>
                  </a:lnTo>
                  <a:lnTo>
                    <a:pt x="374479" y="342662"/>
                  </a:lnTo>
                  <a:close/>
                </a:path>
                <a:path w="429260" h="342900">
                  <a:moveTo>
                    <a:pt x="167962" y="63258"/>
                  </a:moveTo>
                  <a:lnTo>
                    <a:pt x="166524" y="62888"/>
                  </a:lnTo>
                  <a:lnTo>
                    <a:pt x="166734" y="62888"/>
                  </a:lnTo>
                  <a:lnTo>
                    <a:pt x="146111" y="42286"/>
                  </a:lnTo>
                  <a:lnTo>
                    <a:pt x="197042" y="29078"/>
                  </a:lnTo>
                  <a:lnTo>
                    <a:pt x="214125" y="28339"/>
                  </a:lnTo>
                  <a:lnTo>
                    <a:pt x="245199" y="30753"/>
                  </a:lnTo>
                  <a:lnTo>
                    <a:pt x="276069" y="37907"/>
                  </a:lnTo>
                  <a:lnTo>
                    <a:pt x="306307" y="49669"/>
                  </a:lnTo>
                  <a:lnTo>
                    <a:pt x="319328" y="56914"/>
                  </a:lnTo>
                  <a:lnTo>
                    <a:pt x="214125" y="56914"/>
                  </a:lnTo>
                  <a:lnTo>
                    <a:pt x="202767" y="57293"/>
                  </a:lnTo>
                  <a:lnTo>
                    <a:pt x="191509" y="58415"/>
                  </a:lnTo>
                  <a:lnTo>
                    <a:pt x="180349" y="60280"/>
                  </a:lnTo>
                  <a:lnTo>
                    <a:pt x="169289" y="62888"/>
                  </a:lnTo>
                  <a:lnTo>
                    <a:pt x="167962" y="63258"/>
                  </a:lnTo>
                  <a:close/>
                </a:path>
                <a:path w="429260" h="342900">
                  <a:moveTo>
                    <a:pt x="362137" y="257473"/>
                  </a:moveTo>
                  <a:lnTo>
                    <a:pt x="361286" y="257473"/>
                  </a:lnTo>
                  <a:lnTo>
                    <a:pt x="341831" y="238009"/>
                  </a:lnTo>
                  <a:lnTo>
                    <a:pt x="341876" y="237131"/>
                  </a:lnTo>
                  <a:lnTo>
                    <a:pt x="342882" y="236302"/>
                  </a:lnTo>
                  <a:lnTo>
                    <a:pt x="359120" y="221761"/>
                  </a:lnTo>
                  <a:lnTo>
                    <a:pt x="374134" y="206018"/>
                  </a:lnTo>
                  <a:lnTo>
                    <a:pt x="387748" y="189289"/>
                  </a:lnTo>
                  <a:lnTo>
                    <a:pt x="399929" y="171660"/>
                  </a:lnTo>
                  <a:lnTo>
                    <a:pt x="400044" y="171082"/>
                  </a:lnTo>
                  <a:lnTo>
                    <a:pt x="382925" y="147346"/>
                  </a:lnTo>
                  <a:lnTo>
                    <a:pt x="342570" y="106428"/>
                  </a:lnTo>
                  <a:lnTo>
                    <a:pt x="294251" y="75535"/>
                  </a:lnTo>
                  <a:lnTo>
                    <a:pt x="241226" y="58991"/>
                  </a:lnTo>
                  <a:lnTo>
                    <a:pt x="214125" y="56914"/>
                  </a:lnTo>
                  <a:lnTo>
                    <a:pt x="319328" y="56914"/>
                  </a:lnTo>
                  <a:lnTo>
                    <a:pt x="360512" y="84155"/>
                  </a:lnTo>
                  <a:lnTo>
                    <a:pt x="405146" y="129354"/>
                  </a:lnTo>
                  <a:lnTo>
                    <a:pt x="428636" y="165303"/>
                  </a:lnTo>
                  <a:lnTo>
                    <a:pt x="428748" y="176813"/>
                  </a:lnTo>
                  <a:lnTo>
                    <a:pt x="427245" y="181994"/>
                  </a:lnTo>
                  <a:lnTo>
                    <a:pt x="396266" y="224126"/>
                  </a:lnTo>
                  <a:lnTo>
                    <a:pt x="362929" y="256814"/>
                  </a:lnTo>
                  <a:lnTo>
                    <a:pt x="362137" y="257473"/>
                  </a:lnTo>
                  <a:close/>
                </a:path>
                <a:path w="429260" h="342900">
                  <a:moveTo>
                    <a:pt x="214125" y="314089"/>
                  </a:moveTo>
                  <a:lnTo>
                    <a:pt x="151553" y="304754"/>
                  </a:lnTo>
                  <a:lnTo>
                    <a:pt x="92404" y="276914"/>
                  </a:lnTo>
                  <a:lnTo>
                    <a:pt x="44683" y="237608"/>
                  </a:lnTo>
                  <a:lnTo>
                    <a:pt x="4643" y="187037"/>
                  </a:lnTo>
                  <a:lnTo>
                    <a:pt x="0" y="176813"/>
                  </a:lnTo>
                  <a:lnTo>
                    <a:pt x="92" y="171660"/>
                  </a:lnTo>
                  <a:lnTo>
                    <a:pt x="207" y="165303"/>
                  </a:lnTo>
                  <a:lnTo>
                    <a:pt x="1796" y="160398"/>
                  </a:lnTo>
                  <a:lnTo>
                    <a:pt x="1911" y="160043"/>
                  </a:lnTo>
                  <a:lnTo>
                    <a:pt x="5215" y="155301"/>
                  </a:lnTo>
                  <a:lnTo>
                    <a:pt x="34755" y="117890"/>
                  </a:lnTo>
                  <a:lnTo>
                    <a:pt x="66901" y="86614"/>
                  </a:lnTo>
                  <a:lnTo>
                    <a:pt x="67741" y="85905"/>
                  </a:lnTo>
                  <a:lnTo>
                    <a:pt x="68512" y="85905"/>
                  </a:lnTo>
                  <a:lnTo>
                    <a:pt x="88018" y="105402"/>
                  </a:lnTo>
                  <a:lnTo>
                    <a:pt x="87976" y="106278"/>
                  </a:lnTo>
                  <a:lnTo>
                    <a:pt x="86984" y="107107"/>
                  </a:lnTo>
                  <a:lnTo>
                    <a:pt x="71547" y="120933"/>
                  </a:lnTo>
                  <a:lnTo>
                    <a:pt x="56677" y="136304"/>
                  </a:lnTo>
                  <a:lnTo>
                    <a:pt x="42395" y="153197"/>
                  </a:lnTo>
                  <a:lnTo>
                    <a:pt x="28727" y="171660"/>
                  </a:lnTo>
                  <a:lnTo>
                    <a:pt x="45851" y="195718"/>
                  </a:lnTo>
                  <a:lnTo>
                    <a:pt x="85731" y="236643"/>
                  </a:lnTo>
                  <a:lnTo>
                    <a:pt x="133412" y="267137"/>
                  </a:lnTo>
                  <a:lnTo>
                    <a:pt x="186601" y="283462"/>
                  </a:lnTo>
                  <a:lnTo>
                    <a:pt x="214125" y="285514"/>
                  </a:lnTo>
                  <a:lnTo>
                    <a:pt x="268114" y="285514"/>
                  </a:lnTo>
                  <a:lnTo>
                    <a:pt x="282968" y="300367"/>
                  </a:lnTo>
                  <a:lnTo>
                    <a:pt x="231389" y="313346"/>
                  </a:lnTo>
                  <a:lnTo>
                    <a:pt x="214125" y="314089"/>
                  </a:lnTo>
                  <a:close/>
                </a:path>
                <a:path w="429260" h="342900">
                  <a:moveTo>
                    <a:pt x="268114" y="285514"/>
                  </a:moveTo>
                  <a:lnTo>
                    <a:pt x="214126" y="285514"/>
                  </a:lnTo>
                  <a:lnTo>
                    <a:pt x="225683" y="285156"/>
                  </a:lnTo>
                  <a:lnTo>
                    <a:pt x="237150" y="284074"/>
                  </a:lnTo>
                  <a:lnTo>
                    <a:pt x="248526" y="282268"/>
                  </a:lnTo>
                  <a:lnTo>
                    <a:pt x="260010" y="279682"/>
                  </a:lnTo>
                  <a:lnTo>
                    <a:pt x="261119" y="279385"/>
                  </a:lnTo>
                  <a:lnTo>
                    <a:pt x="262259" y="279682"/>
                  </a:lnTo>
                  <a:lnTo>
                    <a:pt x="263229" y="280629"/>
                  </a:lnTo>
                  <a:lnTo>
                    <a:pt x="268114" y="285514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14320" y="1943335"/>
              <a:ext cx="429259" cy="342900"/>
            </a:xfrm>
            <a:custGeom>
              <a:avLst/>
              <a:gdLst/>
              <a:ahLst/>
              <a:cxnLst/>
              <a:rect l="l" t="t" r="r" b="b"/>
              <a:pathLst>
                <a:path w="429260" h="342900">
                  <a:moveTo>
                    <a:pt x="371592" y="342664"/>
                  </a:moveTo>
                  <a:lnTo>
                    <a:pt x="367644" y="342670"/>
                  </a:lnTo>
                  <a:lnTo>
                    <a:pt x="364277" y="341274"/>
                  </a:lnTo>
                  <a:lnTo>
                    <a:pt x="361492" y="338476"/>
                  </a:lnTo>
                  <a:lnTo>
                    <a:pt x="47167" y="24151"/>
                  </a:lnTo>
                  <a:lnTo>
                    <a:pt x="43215" y="15990"/>
                  </a:lnTo>
                  <a:lnTo>
                    <a:pt x="43239" y="14127"/>
                  </a:lnTo>
                  <a:lnTo>
                    <a:pt x="43263" y="12264"/>
                  </a:lnTo>
                  <a:lnTo>
                    <a:pt x="51973" y="1145"/>
                  </a:lnTo>
                  <a:lnTo>
                    <a:pt x="53690" y="421"/>
                  </a:lnTo>
                  <a:lnTo>
                    <a:pt x="55480" y="47"/>
                  </a:lnTo>
                  <a:lnTo>
                    <a:pt x="57342" y="23"/>
                  </a:lnTo>
                  <a:lnTo>
                    <a:pt x="59205" y="0"/>
                  </a:lnTo>
                  <a:lnTo>
                    <a:pt x="61004" y="327"/>
                  </a:lnTo>
                  <a:lnTo>
                    <a:pt x="381691" y="318277"/>
                  </a:lnTo>
                  <a:lnTo>
                    <a:pt x="386162" y="328423"/>
                  </a:lnTo>
                  <a:lnTo>
                    <a:pt x="385891" y="331174"/>
                  </a:lnTo>
                  <a:lnTo>
                    <a:pt x="384785" y="333843"/>
                  </a:lnTo>
                  <a:lnTo>
                    <a:pt x="383680" y="336511"/>
                  </a:lnTo>
                  <a:lnTo>
                    <a:pt x="381927" y="338648"/>
                  </a:lnTo>
                  <a:lnTo>
                    <a:pt x="379526" y="340254"/>
                  </a:lnTo>
                  <a:lnTo>
                    <a:pt x="377125" y="341859"/>
                  </a:lnTo>
                  <a:lnTo>
                    <a:pt x="374480" y="342662"/>
                  </a:lnTo>
                  <a:lnTo>
                    <a:pt x="371592" y="342664"/>
                  </a:lnTo>
                  <a:close/>
                </a:path>
                <a:path w="429260" h="342900">
                  <a:moveTo>
                    <a:pt x="214126" y="285514"/>
                  </a:moveTo>
                  <a:lnTo>
                    <a:pt x="159667" y="277327"/>
                  </a:lnTo>
                  <a:lnTo>
                    <a:pt x="107934" y="252920"/>
                  </a:lnTo>
                  <a:lnTo>
                    <a:pt x="64945" y="217477"/>
                  </a:lnTo>
                  <a:lnTo>
                    <a:pt x="28727" y="171660"/>
                  </a:lnTo>
                  <a:lnTo>
                    <a:pt x="56677" y="136304"/>
                  </a:lnTo>
                  <a:lnTo>
                    <a:pt x="86985" y="107107"/>
                  </a:lnTo>
                  <a:lnTo>
                    <a:pt x="87977" y="106278"/>
                  </a:lnTo>
                  <a:lnTo>
                    <a:pt x="88019" y="105402"/>
                  </a:lnTo>
                  <a:lnTo>
                    <a:pt x="87110" y="104482"/>
                  </a:lnTo>
                  <a:lnTo>
                    <a:pt x="69322" y="86721"/>
                  </a:lnTo>
                  <a:lnTo>
                    <a:pt x="68548" y="85941"/>
                  </a:lnTo>
                  <a:lnTo>
                    <a:pt x="34756" y="117890"/>
                  </a:lnTo>
                  <a:lnTo>
                    <a:pt x="5216" y="155301"/>
                  </a:lnTo>
                  <a:lnTo>
                    <a:pt x="104" y="171082"/>
                  </a:lnTo>
                  <a:lnTo>
                    <a:pt x="0" y="176861"/>
                  </a:lnTo>
                  <a:lnTo>
                    <a:pt x="23549" y="213572"/>
                  </a:lnTo>
                  <a:lnTo>
                    <a:pt x="67739" y="258827"/>
                  </a:lnTo>
                  <a:lnTo>
                    <a:pt x="121494" y="293132"/>
                  </a:lnTo>
                  <a:lnTo>
                    <a:pt x="182470" y="311750"/>
                  </a:lnTo>
                  <a:lnTo>
                    <a:pt x="214126" y="314089"/>
                  </a:lnTo>
                  <a:lnTo>
                    <a:pt x="231390" y="313346"/>
                  </a:lnTo>
                  <a:lnTo>
                    <a:pt x="281813" y="302855"/>
                  </a:lnTo>
                  <a:lnTo>
                    <a:pt x="283129" y="300923"/>
                  </a:lnTo>
                  <a:lnTo>
                    <a:pt x="282969" y="300367"/>
                  </a:lnTo>
                  <a:lnTo>
                    <a:pt x="282500" y="299899"/>
                  </a:lnTo>
                  <a:lnTo>
                    <a:pt x="263230" y="280629"/>
                  </a:lnTo>
                  <a:lnTo>
                    <a:pt x="262259" y="279682"/>
                  </a:lnTo>
                  <a:lnTo>
                    <a:pt x="261119" y="279385"/>
                  </a:lnTo>
                  <a:lnTo>
                    <a:pt x="259810" y="279736"/>
                  </a:lnTo>
                  <a:lnTo>
                    <a:pt x="248526" y="282268"/>
                  </a:lnTo>
                  <a:lnTo>
                    <a:pt x="237151" y="284074"/>
                  </a:lnTo>
                  <a:lnTo>
                    <a:pt x="225684" y="285156"/>
                  </a:lnTo>
                  <a:lnTo>
                    <a:pt x="214126" y="285514"/>
                  </a:lnTo>
                  <a:close/>
                </a:path>
                <a:path w="429260" h="342900">
                  <a:moveTo>
                    <a:pt x="424134" y="155676"/>
                  </a:moveTo>
                  <a:lnTo>
                    <a:pt x="383837" y="105410"/>
                  </a:lnTo>
                  <a:lnTo>
                    <a:pt x="335489" y="65906"/>
                  </a:lnTo>
                  <a:lnTo>
                    <a:pt x="276070" y="37907"/>
                  </a:lnTo>
                  <a:lnTo>
                    <a:pt x="214126" y="28339"/>
                  </a:lnTo>
                  <a:lnTo>
                    <a:pt x="197043" y="29078"/>
                  </a:lnTo>
                  <a:lnTo>
                    <a:pt x="147251" y="39795"/>
                  </a:lnTo>
                  <a:lnTo>
                    <a:pt x="146096" y="41087"/>
                  </a:lnTo>
                  <a:lnTo>
                    <a:pt x="145950" y="41732"/>
                  </a:lnTo>
                  <a:lnTo>
                    <a:pt x="146112" y="42286"/>
                  </a:lnTo>
                  <a:lnTo>
                    <a:pt x="146581" y="42751"/>
                  </a:lnTo>
                  <a:lnTo>
                    <a:pt x="165825" y="61995"/>
                  </a:lnTo>
                  <a:lnTo>
                    <a:pt x="166808" y="62961"/>
                  </a:lnTo>
                  <a:lnTo>
                    <a:pt x="167963" y="63258"/>
                  </a:lnTo>
                  <a:lnTo>
                    <a:pt x="169290" y="62888"/>
                  </a:lnTo>
                  <a:lnTo>
                    <a:pt x="180350" y="60280"/>
                  </a:lnTo>
                  <a:lnTo>
                    <a:pt x="191510" y="58415"/>
                  </a:lnTo>
                  <a:lnTo>
                    <a:pt x="202768" y="57293"/>
                  </a:lnTo>
                  <a:lnTo>
                    <a:pt x="214126" y="56914"/>
                  </a:lnTo>
                  <a:lnTo>
                    <a:pt x="241227" y="58991"/>
                  </a:lnTo>
                  <a:lnTo>
                    <a:pt x="294252" y="75535"/>
                  </a:lnTo>
                  <a:lnTo>
                    <a:pt x="342571" y="106428"/>
                  </a:lnTo>
                  <a:lnTo>
                    <a:pt x="382926" y="147346"/>
                  </a:lnTo>
                  <a:lnTo>
                    <a:pt x="400140" y="171214"/>
                  </a:lnTo>
                  <a:lnTo>
                    <a:pt x="400140" y="171356"/>
                  </a:lnTo>
                  <a:lnTo>
                    <a:pt x="387749" y="189289"/>
                  </a:lnTo>
                  <a:lnTo>
                    <a:pt x="374076" y="206090"/>
                  </a:lnTo>
                  <a:lnTo>
                    <a:pt x="359121" y="221761"/>
                  </a:lnTo>
                  <a:lnTo>
                    <a:pt x="342883" y="236302"/>
                  </a:lnTo>
                  <a:lnTo>
                    <a:pt x="341877" y="237131"/>
                  </a:lnTo>
                  <a:lnTo>
                    <a:pt x="341832" y="238009"/>
                  </a:lnTo>
                  <a:lnTo>
                    <a:pt x="342749" y="238936"/>
                  </a:lnTo>
                  <a:lnTo>
                    <a:pt x="360519" y="256698"/>
                  </a:lnTo>
                  <a:lnTo>
                    <a:pt x="361287" y="257473"/>
                  </a:lnTo>
                  <a:lnTo>
                    <a:pt x="396267" y="224126"/>
                  </a:lnTo>
                  <a:lnTo>
                    <a:pt x="424223" y="186733"/>
                  </a:lnTo>
                  <a:lnTo>
                    <a:pt x="428749" y="176813"/>
                  </a:lnTo>
                  <a:lnTo>
                    <a:pt x="428733" y="171192"/>
                  </a:lnTo>
                  <a:lnTo>
                    <a:pt x="428716" y="165570"/>
                  </a:lnTo>
                  <a:lnTo>
                    <a:pt x="427184" y="160398"/>
                  </a:lnTo>
                  <a:lnTo>
                    <a:pt x="424134" y="155676"/>
                  </a:lnTo>
                  <a:close/>
                </a:path>
              </a:pathLst>
            </a:custGeom>
            <a:ln w="31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2493" y="2028374"/>
              <a:ext cx="172431" cy="17248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400799" y="1630044"/>
              <a:ext cx="1752600" cy="609600"/>
            </a:xfrm>
            <a:custGeom>
              <a:avLst/>
              <a:gdLst/>
              <a:ahLst/>
              <a:cxnLst/>
              <a:rect l="l" t="t" r="r" b="b"/>
              <a:pathLst>
                <a:path w="1752600" h="609600">
                  <a:moveTo>
                    <a:pt x="1672503" y="609599"/>
                  </a:moveTo>
                  <a:lnTo>
                    <a:pt x="80096" y="609599"/>
                  </a:lnTo>
                  <a:lnTo>
                    <a:pt x="74521" y="609050"/>
                  </a:lnTo>
                  <a:lnTo>
                    <a:pt x="33418" y="592025"/>
                  </a:lnTo>
                  <a:lnTo>
                    <a:pt x="8679" y="561880"/>
                  </a:lnTo>
                  <a:lnTo>
                    <a:pt x="0" y="529503"/>
                  </a:lnTo>
                  <a:lnTo>
                    <a:pt x="0" y="523874"/>
                  </a:lnTo>
                  <a:lnTo>
                    <a:pt x="0" y="80096"/>
                  </a:lnTo>
                  <a:lnTo>
                    <a:pt x="11320" y="42778"/>
                  </a:lnTo>
                  <a:lnTo>
                    <a:pt x="42778" y="11320"/>
                  </a:lnTo>
                  <a:lnTo>
                    <a:pt x="80096" y="0"/>
                  </a:lnTo>
                  <a:lnTo>
                    <a:pt x="1672503" y="0"/>
                  </a:lnTo>
                  <a:lnTo>
                    <a:pt x="1709820" y="11320"/>
                  </a:lnTo>
                  <a:lnTo>
                    <a:pt x="1741279" y="42778"/>
                  </a:lnTo>
                  <a:lnTo>
                    <a:pt x="1752599" y="80096"/>
                  </a:lnTo>
                  <a:lnTo>
                    <a:pt x="1752599" y="529503"/>
                  </a:lnTo>
                  <a:lnTo>
                    <a:pt x="1741279" y="566821"/>
                  </a:lnTo>
                  <a:lnTo>
                    <a:pt x="1709820" y="598279"/>
                  </a:lnTo>
                  <a:lnTo>
                    <a:pt x="1678078" y="609050"/>
                  </a:lnTo>
                  <a:lnTo>
                    <a:pt x="1672503" y="609599"/>
                  </a:lnTo>
                  <a:close/>
                </a:path>
              </a:pathLst>
            </a:custGeom>
            <a:solidFill>
              <a:srgbClr val="1A2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553199" y="1591309"/>
              <a:ext cx="1752600" cy="609600"/>
            </a:xfrm>
            <a:custGeom>
              <a:avLst/>
              <a:gdLst/>
              <a:ahLst/>
              <a:cxnLst/>
              <a:rect l="l" t="t" r="r" b="b"/>
              <a:pathLst>
                <a:path w="1752600" h="609600">
                  <a:moveTo>
                    <a:pt x="0" y="523874"/>
                  </a:moveTo>
                  <a:lnTo>
                    <a:pt x="0" y="85724"/>
                  </a:lnTo>
                  <a:lnTo>
                    <a:pt x="0" y="80096"/>
                  </a:lnTo>
                  <a:lnTo>
                    <a:pt x="549" y="74521"/>
                  </a:lnTo>
                  <a:lnTo>
                    <a:pt x="14447" y="38098"/>
                  </a:lnTo>
                  <a:lnTo>
                    <a:pt x="42778" y="11320"/>
                  </a:lnTo>
                  <a:lnTo>
                    <a:pt x="80096" y="0"/>
                  </a:lnTo>
                  <a:lnTo>
                    <a:pt x="85724" y="0"/>
                  </a:lnTo>
                  <a:lnTo>
                    <a:pt x="1666874" y="0"/>
                  </a:lnTo>
                  <a:lnTo>
                    <a:pt x="1672503" y="0"/>
                  </a:lnTo>
                  <a:lnTo>
                    <a:pt x="1678078" y="549"/>
                  </a:lnTo>
                  <a:lnTo>
                    <a:pt x="1714500" y="14447"/>
                  </a:lnTo>
                  <a:lnTo>
                    <a:pt x="1719181" y="17574"/>
                  </a:lnTo>
                  <a:lnTo>
                    <a:pt x="1723511" y="21128"/>
                  </a:lnTo>
                  <a:lnTo>
                    <a:pt x="1727491" y="25108"/>
                  </a:lnTo>
                  <a:lnTo>
                    <a:pt x="1731471" y="29088"/>
                  </a:lnTo>
                  <a:lnTo>
                    <a:pt x="1735025" y="33418"/>
                  </a:lnTo>
                  <a:lnTo>
                    <a:pt x="1738152" y="38098"/>
                  </a:lnTo>
                  <a:lnTo>
                    <a:pt x="1741279" y="42778"/>
                  </a:lnTo>
                  <a:lnTo>
                    <a:pt x="1743920" y="47719"/>
                  </a:lnTo>
                  <a:lnTo>
                    <a:pt x="1746074" y="52919"/>
                  </a:lnTo>
                  <a:lnTo>
                    <a:pt x="1748228" y="58119"/>
                  </a:lnTo>
                  <a:lnTo>
                    <a:pt x="1752599" y="85724"/>
                  </a:lnTo>
                  <a:lnTo>
                    <a:pt x="1752599" y="523874"/>
                  </a:lnTo>
                  <a:lnTo>
                    <a:pt x="1743920" y="561880"/>
                  </a:lnTo>
                  <a:lnTo>
                    <a:pt x="1727491" y="584491"/>
                  </a:lnTo>
                  <a:lnTo>
                    <a:pt x="1723511" y="588471"/>
                  </a:lnTo>
                  <a:lnTo>
                    <a:pt x="1719181" y="592025"/>
                  </a:lnTo>
                  <a:lnTo>
                    <a:pt x="1714500" y="595152"/>
                  </a:lnTo>
                  <a:lnTo>
                    <a:pt x="1709820" y="598279"/>
                  </a:lnTo>
                  <a:lnTo>
                    <a:pt x="1672503" y="609599"/>
                  </a:lnTo>
                  <a:lnTo>
                    <a:pt x="1666874" y="609599"/>
                  </a:lnTo>
                  <a:lnTo>
                    <a:pt x="85724" y="609599"/>
                  </a:lnTo>
                  <a:lnTo>
                    <a:pt x="47719" y="600920"/>
                  </a:lnTo>
                  <a:lnTo>
                    <a:pt x="38098" y="595152"/>
                  </a:lnTo>
                  <a:lnTo>
                    <a:pt x="33418" y="592025"/>
                  </a:lnTo>
                  <a:lnTo>
                    <a:pt x="29088" y="588471"/>
                  </a:lnTo>
                  <a:lnTo>
                    <a:pt x="25108" y="584491"/>
                  </a:lnTo>
                  <a:lnTo>
                    <a:pt x="21128" y="580511"/>
                  </a:lnTo>
                  <a:lnTo>
                    <a:pt x="17574" y="576181"/>
                  </a:lnTo>
                  <a:lnTo>
                    <a:pt x="14447" y="571501"/>
                  </a:lnTo>
                  <a:lnTo>
                    <a:pt x="11320" y="566821"/>
                  </a:lnTo>
                  <a:lnTo>
                    <a:pt x="0" y="529503"/>
                  </a:lnTo>
                  <a:lnTo>
                    <a:pt x="0" y="523874"/>
                  </a:lnTo>
                  <a:close/>
                </a:path>
              </a:pathLst>
            </a:custGeom>
            <a:ln w="19049">
              <a:solidFill>
                <a:srgbClr val="3C566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0"/>
            <p:cNvSpPr/>
            <p:nvPr/>
          </p:nvSpPr>
          <p:spPr>
            <a:xfrm>
              <a:off x="10410824" y="5333999"/>
              <a:ext cx="1752600" cy="609600"/>
            </a:xfrm>
            <a:custGeom>
              <a:avLst/>
              <a:gdLst/>
              <a:ahLst/>
              <a:cxnLst/>
              <a:rect l="l" t="t" r="r" b="b"/>
              <a:pathLst>
                <a:path w="1752600" h="609600">
                  <a:moveTo>
                    <a:pt x="0" y="523874"/>
                  </a:moveTo>
                  <a:lnTo>
                    <a:pt x="0" y="85724"/>
                  </a:lnTo>
                  <a:lnTo>
                    <a:pt x="0" y="80096"/>
                  </a:lnTo>
                  <a:lnTo>
                    <a:pt x="549" y="74521"/>
                  </a:lnTo>
                  <a:lnTo>
                    <a:pt x="14447" y="38098"/>
                  </a:lnTo>
                  <a:lnTo>
                    <a:pt x="42778" y="11320"/>
                  </a:lnTo>
                  <a:lnTo>
                    <a:pt x="80096" y="0"/>
                  </a:lnTo>
                  <a:lnTo>
                    <a:pt x="85724" y="0"/>
                  </a:lnTo>
                  <a:lnTo>
                    <a:pt x="1666874" y="0"/>
                  </a:lnTo>
                  <a:lnTo>
                    <a:pt x="1672503" y="0"/>
                  </a:lnTo>
                  <a:lnTo>
                    <a:pt x="1678078" y="549"/>
                  </a:lnTo>
                  <a:lnTo>
                    <a:pt x="1714500" y="14447"/>
                  </a:lnTo>
                  <a:lnTo>
                    <a:pt x="1719181" y="17574"/>
                  </a:lnTo>
                  <a:lnTo>
                    <a:pt x="1723511" y="21128"/>
                  </a:lnTo>
                  <a:lnTo>
                    <a:pt x="1727491" y="25108"/>
                  </a:lnTo>
                  <a:lnTo>
                    <a:pt x="1731471" y="29088"/>
                  </a:lnTo>
                  <a:lnTo>
                    <a:pt x="1735025" y="33418"/>
                  </a:lnTo>
                  <a:lnTo>
                    <a:pt x="1738152" y="38098"/>
                  </a:lnTo>
                  <a:lnTo>
                    <a:pt x="1741279" y="42778"/>
                  </a:lnTo>
                  <a:lnTo>
                    <a:pt x="1743920" y="47719"/>
                  </a:lnTo>
                  <a:lnTo>
                    <a:pt x="1746074" y="52919"/>
                  </a:lnTo>
                  <a:lnTo>
                    <a:pt x="1748228" y="58119"/>
                  </a:lnTo>
                  <a:lnTo>
                    <a:pt x="1752599" y="85724"/>
                  </a:lnTo>
                  <a:lnTo>
                    <a:pt x="1752599" y="523874"/>
                  </a:lnTo>
                  <a:lnTo>
                    <a:pt x="1743920" y="561880"/>
                  </a:lnTo>
                  <a:lnTo>
                    <a:pt x="1727491" y="584491"/>
                  </a:lnTo>
                  <a:lnTo>
                    <a:pt x="1723511" y="588471"/>
                  </a:lnTo>
                  <a:lnTo>
                    <a:pt x="1719181" y="592025"/>
                  </a:lnTo>
                  <a:lnTo>
                    <a:pt x="1714500" y="595152"/>
                  </a:lnTo>
                  <a:lnTo>
                    <a:pt x="1709820" y="598279"/>
                  </a:lnTo>
                  <a:lnTo>
                    <a:pt x="1672503" y="609599"/>
                  </a:lnTo>
                  <a:lnTo>
                    <a:pt x="1666874" y="609599"/>
                  </a:lnTo>
                  <a:lnTo>
                    <a:pt x="85724" y="609599"/>
                  </a:lnTo>
                  <a:lnTo>
                    <a:pt x="47719" y="600920"/>
                  </a:lnTo>
                  <a:lnTo>
                    <a:pt x="38098" y="595152"/>
                  </a:lnTo>
                  <a:lnTo>
                    <a:pt x="33418" y="592025"/>
                  </a:lnTo>
                  <a:lnTo>
                    <a:pt x="29088" y="588471"/>
                  </a:lnTo>
                  <a:lnTo>
                    <a:pt x="25108" y="584491"/>
                  </a:lnTo>
                  <a:lnTo>
                    <a:pt x="21128" y="580511"/>
                  </a:lnTo>
                  <a:lnTo>
                    <a:pt x="17574" y="576181"/>
                  </a:lnTo>
                  <a:lnTo>
                    <a:pt x="14447" y="571501"/>
                  </a:lnTo>
                  <a:lnTo>
                    <a:pt x="11320" y="566821"/>
                  </a:lnTo>
                  <a:lnTo>
                    <a:pt x="0" y="529503"/>
                  </a:lnTo>
                  <a:lnTo>
                    <a:pt x="0" y="523874"/>
                  </a:lnTo>
                  <a:close/>
                </a:path>
              </a:pathLst>
            </a:custGeom>
            <a:ln w="19049">
              <a:solidFill>
                <a:srgbClr val="3C566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781799" y="1718373"/>
            <a:ext cx="1282700" cy="3098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b="1" spc="-210" dirty="0">
                <a:solidFill>
                  <a:srgbClr val="C4C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专注</a:t>
            </a:r>
            <a:r>
              <a:rPr sz="1850" b="1" spc="-210" dirty="0">
                <a:solidFill>
                  <a:srgbClr val="00B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战</a:t>
            </a:r>
            <a:r>
              <a:rPr sz="1850" b="1" spc="-210" dirty="0">
                <a:solidFill>
                  <a:srgbClr val="00BCD4"/>
                </a:solidFill>
                <a:latin typeface="Malgun Gothic" panose="020B0503020000020004" charset="-127"/>
                <a:cs typeface="Malgun Gothic" panose="020B0503020000020004" charset="-127"/>
              </a:rPr>
              <a:t>略</a:t>
            </a:r>
            <a:r>
              <a:rPr sz="1850" b="1" spc="-175" dirty="0">
                <a:solidFill>
                  <a:srgbClr val="00B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规划</a:t>
            </a:r>
            <a:endParaRPr sz="18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401300" y="5324474"/>
            <a:ext cx="1343025" cy="628650"/>
            <a:chOff x="10858500" y="5019674"/>
            <a:chExt cx="1343025" cy="628650"/>
          </a:xfrm>
        </p:grpSpPr>
        <p:sp>
          <p:nvSpPr>
            <p:cNvPr id="23" name="object 23"/>
            <p:cNvSpPr/>
            <p:nvPr/>
          </p:nvSpPr>
          <p:spPr>
            <a:xfrm>
              <a:off x="10868024" y="5029199"/>
              <a:ext cx="1323975" cy="609600"/>
            </a:xfrm>
            <a:custGeom>
              <a:avLst/>
              <a:gdLst/>
              <a:ahLst/>
              <a:cxnLst/>
              <a:rect l="l" t="t" r="r" b="b"/>
              <a:pathLst>
                <a:path w="1323975" h="609600">
                  <a:moveTo>
                    <a:pt x="1323975" y="609599"/>
                  </a:moveTo>
                  <a:lnTo>
                    <a:pt x="80096" y="609599"/>
                  </a:lnTo>
                  <a:lnTo>
                    <a:pt x="42778" y="598279"/>
                  </a:lnTo>
                  <a:lnTo>
                    <a:pt x="11320" y="566820"/>
                  </a:lnTo>
                  <a:lnTo>
                    <a:pt x="0" y="529503"/>
                  </a:lnTo>
                  <a:lnTo>
                    <a:pt x="0" y="80096"/>
                  </a:lnTo>
                  <a:lnTo>
                    <a:pt x="11320" y="42778"/>
                  </a:lnTo>
                  <a:lnTo>
                    <a:pt x="42778" y="11320"/>
                  </a:lnTo>
                  <a:lnTo>
                    <a:pt x="80096" y="0"/>
                  </a:lnTo>
                  <a:lnTo>
                    <a:pt x="1323975" y="0"/>
                  </a:lnTo>
                  <a:lnTo>
                    <a:pt x="1323975" y="609599"/>
                  </a:lnTo>
                  <a:close/>
                </a:path>
              </a:pathLst>
            </a:custGeom>
            <a:solidFill>
              <a:srgbClr val="1A2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868024" y="5029199"/>
              <a:ext cx="1323975" cy="609600"/>
            </a:xfrm>
            <a:custGeom>
              <a:avLst/>
              <a:gdLst/>
              <a:ahLst/>
              <a:cxnLst/>
              <a:rect l="l" t="t" r="r" b="b"/>
              <a:pathLst>
                <a:path w="1323975" h="609600">
                  <a:moveTo>
                    <a:pt x="1323975" y="609599"/>
                  </a:moveTo>
                  <a:lnTo>
                    <a:pt x="85724" y="609599"/>
                  </a:lnTo>
                  <a:lnTo>
                    <a:pt x="80096" y="609599"/>
                  </a:lnTo>
                  <a:lnTo>
                    <a:pt x="42778" y="598279"/>
                  </a:lnTo>
                  <a:lnTo>
                    <a:pt x="38098" y="595152"/>
                  </a:lnTo>
                  <a:lnTo>
                    <a:pt x="33418" y="592025"/>
                  </a:lnTo>
                  <a:lnTo>
                    <a:pt x="29088" y="588471"/>
                  </a:lnTo>
                  <a:lnTo>
                    <a:pt x="25108" y="584491"/>
                  </a:lnTo>
                  <a:lnTo>
                    <a:pt x="21128" y="580511"/>
                  </a:lnTo>
                  <a:lnTo>
                    <a:pt x="17574" y="576181"/>
                  </a:lnTo>
                  <a:lnTo>
                    <a:pt x="14447" y="571501"/>
                  </a:lnTo>
                  <a:lnTo>
                    <a:pt x="11320" y="566820"/>
                  </a:lnTo>
                  <a:lnTo>
                    <a:pt x="0" y="529503"/>
                  </a:lnTo>
                  <a:lnTo>
                    <a:pt x="0" y="523874"/>
                  </a:lnTo>
                  <a:lnTo>
                    <a:pt x="0" y="85724"/>
                  </a:lnTo>
                  <a:lnTo>
                    <a:pt x="8679" y="47719"/>
                  </a:lnTo>
                  <a:lnTo>
                    <a:pt x="25108" y="25108"/>
                  </a:lnTo>
                  <a:lnTo>
                    <a:pt x="29088" y="21128"/>
                  </a:lnTo>
                  <a:lnTo>
                    <a:pt x="63480" y="2745"/>
                  </a:lnTo>
                  <a:lnTo>
                    <a:pt x="80096" y="0"/>
                  </a:lnTo>
                  <a:lnTo>
                    <a:pt x="85724" y="0"/>
                  </a:lnTo>
                  <a:lnTo>
                    <a:pt x="1323975" y="0"/>
                  </a:lnTo>
                </a:path>
              </a:pathLst>
            </a:custGeom>
            <a:ln w="19049">
              <a:solidFill>
                <a:srgbClr val="3C566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0645775" y="5484495"/>
            <a:ext cx="1454785" cy="2990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b="1" spc="-210" dirty="0">
                <a:solidFill>
                  <a:srgbClr val="C4C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扩</a:t>
            </a:r>
            <a:r>
              <a:rPr sz="1850" b="1" spc="-210" dirty="0">
                <a:solidFill>
                  <a:srgbClr val="C4CCD4"/>
                </a:solidFill>
                <a:latin typeface="Malgun Gothic" panose="020B0503020000020004" charset="-127"/>
                <a:cs typeface="Malgun Gothic" panose="020B0503020000020004" charset="-127"/>
              </a:rPr>
              <a:t>展</a:t>
            </a:r>
            <a:r>
              <a:rPr sz="1850" b="1" spc="-210" dirty="0">
                <a:solidFill>
                  <a:srgbClr val="00BCD4"/>
                </a:solidFill>
                <a:latin typeface="Malgun Gothic" panose="020B0503020000020004" charset="-127"/>
                <a:cs typeface="Malgun Gothic" panose="020B0503020000020004" charset="-127"/>
              </a:rPr>
              <a:t>能力</a:t>
            </a:r>
            <a:r>
              <a:rPr sz="1850" b="1" spc="-145" dirty="0">
                <a:solidFill>
                  <a:srgbClr val="00B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边</a:t>
            </a:r>
            <a:r>
              <a:rPr lang="zh-CN" altLang="" sz="1850" b="1" spc="-145" dirty="0">
                <a:solidFill>
                  <a:srgbClr val="00BCD4"/>
                </a:solidFill>
                <a:latin typeface="Microsoft JhengHei" panose="020B0604030504040204" charset="-120"/>
                <a:ea typeface="宋体" panose="02010600030101010101" pitchFamily="2" charset="-122"/>
                <a:cs typeface="Microsoft JhengHei" panose="020B0604030504040204" charset="-120"/>
              </a:rPr>
              <a:t>界</a:t>
            </a:r>
            <a:endParaRPr lang="zh-CN" altLang="" sz="1850" b="1" spc="-145" dirty="0">
              <a:solidFill>
                <a:srgbClr val="00BCD4"/>
              </a:solidFill>
              <a:latin typeface="Microsoft JhengHei" panose="020B0604030504040204" charset="-120"/>
              <a:ea typeface="宋体" panose="02010600030101010101" pitchFamily="2" charset="-122"/>
              <a:cs typeface="Microsoft JhengHei" panose="020B060403050404020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5299" y="566419"/>
            <a:ext cx="6121400" cy="5422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典型场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景：</a:t>
            </a:r>
            <a:r>
              <a:rPr spc="-375" dirty="0"/>
              <a:t>从复杂研究到自动化开发</a:t>
            </a:r>
            <a:endParaRPr spc="-375" dirty="0"/>
          </a:p>
        </p:txBody>
      </p:sp>
      <p:sp>
        <p:nvSpPr>
          <p:cNvPr id="3" name="object 3"/>
          <p:cNvSpPr txBox="1"/>
          <p:nvPr/>
        </p:nvSpPr>
        <p:spPr>
          <a:xfrm>
            <a:off x="1130300" y="1758081"/>
            <a:ext cx="4787900" cy="408940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000" b="1" spc="-18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复杂任务规划与执行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ct val="118000"/>
              </a:lnSpc>
              <a:spcBef>
                <a:spcPts val="765"/>
              </a:spcBef>
            </a:pP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自动将</a:t>
            </a:r>
            <a:r>
              <a:rPr sz="1700" spc="91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策划一次旅行</a:t>
            </a:r>
            <a:r>
              <a:rPr sz="1700" spc="91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700" spc="-20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分解为搜索航班、预订酒店、规</a:t>
            </a:r>
            <a:r>
              <a:rPr sz="1700" spc="-2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划行程等子任务并依次执行。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2000" b="1" spc="-18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专业化模块协作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196215">
              <a:lnSpc>
                <a:spcPct val="118000"/>
              </a:lnSpc>
              <a:spcBef>
                <a:spcPts val="765"/>
              </a:spcBef>
            </a:pP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在编程任务中，由不同子智能体分别负责代码编写、调</a:t>
            </a:r>
            <a:r>
              <a:rPr sz="1700" spc="-19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试、测试和审查。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2000" b="1" spc="-18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并行信息检索与决策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ct val="118000"/>
              </a:lnSpc>
              <a:spcBef>
                <a:spcPts val="770"/>
              </a:spcBef>
            </a:pP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面对</a:t>
            </a:r>
            <a:r>
              <a:rPr sz="1700" spc="91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分析半导体行业现状</a:t>
            </a:r>
            <a:r>
              <a:rPr sz="1700" spc="919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700" spc="-20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等问题时，多个子智能体同时从不同角度进行信息搜集，形成全面报告。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286499" y="2181225"/>
            <a:ext cx="5143499" cy="34289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95337" y="2028825"/>
            <a:ext cx="200025" cy="133350"/>
          </a:xfrm>
          <a:custGeom>
            <a:avLst/>
            <a:gdLst/>
            <a:ahLst/>
            <a:cxnLst/>
            <a:rect l="l" t="t" r="r" b="b"/>
            <a:pathLst>
              <a:path w="200025" h="133350">
                <a:moveTo>
                  <a:pt x="50006" y="8334"/>
                </a:moveTo>
                <a:lnTo>
                  <a:pt x="200025" y="8334"/>
                </a:lnTo>
              </a:path>
              <a:path w="200025" h="133350">
                <a:moveTo>
                  <a:pt x="50006" y="66675"/>
                </a:moveTo>
                <a:lnTo>
                  <a:pt x="200025" y="66675"/>
                </a:lnTo>
              </a:path>
              <a:path w="200025" h="133350">
                <a:moveTo>
                  <a:pt x="50006" y="125015"/>
                </a:moveTo>
                <a:lnTo>
                  <a:pt x="200025" y="125015"/>
                </a:lnTo>
              </a:path>
              <a:path w="200025" h="133350">
                <a:moveTo>
                  <a:pt x="16668" y="8334"/>
                </a:moveTo>
                <a:lnTo>
                  <a:pt x="16668" y="10635"/>
                </a:lnTo>
                <a:lnTo>
                  <a:pt x="15855" y="12600"/>
                </a:lnTo>
                <a:lnTo>
                  <a:pt x="14227" y="14227"/>
                </a:lnTo>
                <a:lnTo>
                  <a:pt x="12600" y="15855"/>
                </a:lnTo>
                <a:lnTo>
                  <a:pt x="10635" y="16668"/>
                </a:lnTo>
                <a:lnTo>
                  <a:pt x="8334" y="16668"/>
                </a:lnTo>
                <a:lnTo>
                  <a:pt x="6032" y="16668"/>
                </a:lnTo>
                <a:lnTo>
                  <a:pt x="4068" y="15855"/>
                </a:lnTo>
                <a:lnTo>
                  <a:pt x="2441" y="14227"/>
                </a:lnTo>
                <a:lnTo>
                  <a:pt x="813" y="12600"/>
                </a:lnTo>
                <a:lnTo>
                  <a:pt x="0" y="10635"/>
                </a:lnTo>
                <a:lnTo>
                  <a:pt x="0" y="8334"/>
                </a:lnTo>
                <a:lnTo>
                  <a:pt x="0" y="6032"/>
                </a:lnTo>
                <a:lnTo>
                  <a:pt x="813" y="4068"/>
                </a:lnTo>
                <a:lnTo>
                  <a:pt x="2441" y="2441"/>
                </a:lnTo>
                <a:lnTo>
                  <a:pt x="4068" y="813"/>
                </a:lnTo>
                <a:lnTo>
                  <a:pt x="6032" y="0"/>
                </a:lnTo>
                <a:lnTo>
                  <a:pt x="8334" y="0"/>
                </a:lnTo>
                <a:lnTo>
                  <a:pt x="10635" y="0"/>
                </a:lnTo>
                <a:lnTo>
                  <a:pt x="12600" y="813"/>
                </a:lnTo>
                <a:lnTo>
                  <a:pt x="14227" y="2441"/>
                </a:lnTo>
                <a:lnTo>
                  <a:pt x="15855" y="4068"/>
                </a:lnTo>
                <a:lnTo>
                  <a:pt x="16668" y="6032"/>
                </a:lnTo>
                <a:lnTo>
                  <a:pt x="16668" y="8334"/>
                </a:lnTo>
                <a:close/>
              </a:path>
              <a:path w="200025" h="133350">
                <a:moveTo>
                  <a:pt x="16668" y="66675"/>
                </a:moveTo>
                <a:lnTo>
                  <a:pt x="16668" y="68976"/>
                </a:lnTo>
                <a:lnTo>
                  <a:pt x="15855" y="70940"/>
                </a:lnTo>
                <a:lnTo>
                  <a:pt x="14227" y="72568"/>
                </a:lnTo>
                <a:lnTo>
                  <a:pt x="12600" y="74195"/>
                </a:lnTo>
                <a:lnTo>
                  <a:pt x="10635" y="75009"/>
                </a:lnTo>
                <a:lnTo>
                  <a:pt x="8334" y="75009"/>
                </a:lnTo>
                <a:lnTo>
                  <a:pt x="6032" y="75009"/>
                </a:lnTo>
                <a:lnTo>
                  <a:pt x="4068" y="74195"/>
                </a:lnTo>
                <a:lnTo>
                  <a:pt x="2441" y="72568"/>
                </a:lnTo>
                <a:lnTo>
                  <a:pt x="813" y="70940"/>
                </a:lnTo>
                <a:lnTo>
                  <a:pt x="0" y="68976"/>
                </a:lnTo>
                <a:lnTo>
                  <a:pt x="0" y="66675"/>
                </a:lnTo>
                <a:lnTo>
                  <a:pt x="0" y="64373"/>
                </a:lnTo>
                <a:lnTo>
                  <a:pt x="813" y="62409"/>
                </a:lnTo>
                <a:lnTo>
                  <a:pt x="2441" y="60781"/>
                </a:lnTo>
                <a:lnTo>
                  <a:pt x="4068" y="59154"/>
                </a:lnTo>
                <a:lnTo>
                  <a:pt x="6032" y="58340"/>
                </a:lnTo>
                <a:lnTo>
                  <a:pt x="8334" y="58340"/>
                </a:lnTo>
                <a:lnTo>
                  <a:pt x="10635" y="58340"/>
                </a:lnTo>
                <a:lnTo>
                  <a:pt x="12600" y="59154"/>
                </a:lnTo>
                <a:lnTo>
                  <a:pt x="14227" y="60781"/>
                </a:lnTo>
                <a:lnTo>
                  <a:pt x="15855" y="62409"/>
                </a:lnTo>
                <a:lnTo>
                  <a:pt x="16668" y="64373"/>
                </a:lnTo>
                <a:lnTo>
                  <a:pt x="16668" y="66675"/>
                </a:lnTo>
                <a:close/>
              </a:path>
              <a:path w="200025" h="133350">
                <a:moveTo>
                  <a:pt x="16668" y="125015"/>
                </a:moveTo>
                <a:lnTo>
                  <a:pt x="8334" y="133350"/>
                </a:lnTo>
                <a:lnTo>
                  <a:pt x="6032" y="133349"/>
                </a:lnTo>
                <a:lnTo>
                  <a:pt x="4068" y="132536"/>
                </a:lnTo>
                <a:lnTo>
                  <a:pt x="2441" y="130908"/>
                </a:lnTo>
                <a:lnTo>
                  <a:pt x="813" y="129281"/>
                </a:lnTo>
                <a:lnTo>
                  <a:pt x="0" y="127317"/>
                </a:lnTo>
                <a:lnTo>
                  <a:pt x="0" y="125015"/>
                </a:lnTo>
                <a:lnTo>
                  <a:pt x="0" y="122714"/>
                </a:lnTo>
                <a:lnTo>
                  <a:pt x="813" y="120749"/>
                </a:lnTo>
                <a:lnTo>
                  <a:pt x="2441" y="119122"/>
                </a:lnTo>
                <a:lnTo>
                  <a:pt x="4068" y="117494"/>
                </a:lnTo>
                <a:lnTo>
                  <a:pt x="6032" y="116681"/>
                </a:lnTo>
                <a:lnTo>
                  <a:pt x="8334" y="116681"/>
                </a:lnTo>
                <a:lnTo>
                  <a:pt x="10635" y="116681"/>
                </a:lnTo>
                <a:lnTo>
                  <a:pt x="12600" y="117494"/>
                </a:lnTo>
                <a:lnTo>
                  <a:pt x="14227" y="119122"/>
                </a:lnTo>
                <a:lnTo>
                  <a:pt x="15855" y="120749"/>
                </a:lnTo>
                <a:lnTo>
                  <a:pt x="16668" y="122714"/>
                </a:lnTo>
                <a:lnTo>
                  <a:pt x="16668" y="125015"/>
                </a:lnTo>
                <a:close/>
              </a:path>
            </a:pathLst>
          </a:custGeom>
          <a:ln w="16668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8668" y="3450431"/>
            <a:ext cx="233679" cy="167005"/>
          </a:xfrm>
          <a:custGeom>
            <a:avLst/>
            <a:gdLst/>
            <a:ahLst/>
            <a:cxnLst/>
            <a:rect l="l" t="t" r="r" b="b"/>
            <a:pathLst>
              <a:path w="233680" h="167004">
                <a:moveTo>
                  <a:pt x="66675" y="141684"/>
                </a:moveTo>
                <a:lnTo>
                  <a:pt x="0" y="83343"/>
                </a:lnTo>
                <a:lnTo>
                  <a:pt x="66675" y="25003"/>
                </a:lnTo>
              </a:path>
              <a:path w="233680" h="167004">
                <a:moveTo>
                  <a:pt x="166687" y="141684"/>
                </a:moveTo>
                <a:lnTo>
                  <a:pt x="233362" y="83343"/>
                </a:lnTo>
                <a:lnTo>
                  <a:pt x="166687" y="25003"/>
                </a:lnTo>
              </a:path>
              <a:path w="233680" h="167004">
                <a:moveTo>
                  <a:pt x="141684" y="0"/>
                </a:moveTo>
                <a:lnTo>
                  <a:pt x="91678" y="166687"/>
                </a:lnTo>
              </a:path>
            </a:pathLst>
          </a:custGeom>
          <a:ln w="16668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334" y="4905374"/>
            <a:ext cx="250031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393" rIns="0" bIns="0" rtlCol="0">
            <a:spAutoFit/>
          </a:bodyPr>
          <a:lstStyle/>
          <a:p>
            <a:pPr marL="2516505">
              <a:lnSpc>
                <a:spcPct val="100000"/>
              </a:lnSpc>
              <a:spcBef>
                <a:spcPts val="140"/>
              </a:spcBef>
            </a:pP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知名</a:t>
            </a:r>
            <a:r>
              <a:rPr spc="-370" dirty="0"/>
              <a:t>项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目巡</a:t>
            </a:r>
            <a:r>
              <a:rPr spc="-370" dirty="0"/>
              <a:t>礼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（一</a:t>
            </a:r>
            <a:r>
              <a:rPr spc="-420" dirty="0">
                <a:latin typeface="Malgun Gothic" panose="020B0503020000020004" charset="-127"/>
                <a:cs typeface="Malgun Gothic" panose="020B0503020000020004" charset="-127"/>
              </a:rPr>
              <a:t>）</a:t>
            </a:r>
            <a:endParaRPr spc="-420" dirty="0">
              <a:latin typeface="Malgun Gothic" panose="020B0503020000020004" charset="-127"/>
              <a:cs typeface="Malgun Gothic" panose="020B0503020000020004" charset="-127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1999" y="1600199"/>
            <a:ext cx="5143500" cy="4686300"/>
            <a:chOff x="761999" y="1600199"/>
            <a:chExt cx="5143500" cy="4686300"/>
          </a:xfrm>
        </p:grpSpPr>
        <p:sp>
          <p:nvSpPr>
            <p:cNvPr id="4" name="object 4"/>
            <p:cNvSpPr/>
            <p:nvPr/>
          </p:nvSpPr>
          <p:spPr>
            <a:xfrm>
              <a:off x="766762" y="1604962"/>
              <a:ext cx="5133975" cy="4676775"/>
            </a:xfrm>
            <a:custGeom>
              <a:avLst/>
              <a:gdLst/>
              <a:ahLst/>
              <a:cxnLst/>
              <a:rect l="l" t="t" r="r" b="b"/>
              <a:pathLst>
                <a:path w="5133975" h="4676775">
                  <a:moveTo>
                    <a:pt x="5031629" y="4676774"/>
                  </a:moveTo>
                  <a:lnTo>
                    <a:pt x="102345" y="4676774"/>
                  </a:lnTo>
                  <a:lnTo>
                    <a:pt x="95221" y="4676072"/>
                  </a:lnTo>
                  <a:lnTo>
                    <a:pt x="54661" y="4662309"/>
                  </a:lnTo>
                  <a:lnTo>
                    <a:pt x="22456" y="4634072"/>
                  </a:lnTo>
                  <a:lnTo>
                    <a:pt x="3507" y="4595660"/>
                  </a:lnTo>
                  <a:lnTo>
                    <a:pt x="0" y="4574429"/>
                  </a:lnTo>
                  <a:lnTo>
                    <a:pt x="0" y="45672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031629" y="0"/>
                  </a:lnTo>
                  <a:lnTo>
                    <a:pt x="5072999" y="11090"/>
                  </a:lnTo>
                  <a:lnTo>
                    <a:pt x="5106976" y="37168"/>
                  </a:lnTo>
                  <a:lnTo>
                    <a:pt x="5128388" y="74263"/>
                  </a:lnTo>
                  <a:lnTo>
                    <a:pt x="5133974" y="102345"/>
                  </a:lnTo>
                  <a:lnTo>
                    <a:pt x="5133974" y="4574429"/>
                  </a:lnTo>
                  <a:lnTo>
                    <a:pt x="5122882" y="4615799"/>
                  </a:lnTo>
                  <a:lnTo>
                    <a:pt x="5096805" y="4649777"/>
                  </a:lnTo>
                  <a:lnTo>
                    <a:pt x="5059709" y="4671188"/>
                  </a:lnTo>
                  <a:lnTo>
                    <a:pt x="5038752" y="4676072"/>
                  </a:lnTo>
                  <a:lnTo>
                    <a:pt x="5031629" y="4676774"/>
                  </a:lnTo>
                  <a:close/>
                </a:path>
              </a:pathLst>
            </a:custGeom>
            <a:solidFill>
              <a:srgbClr val="212E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6762" y="1604962"/>
              <a:ext cx="5133975" cy="4676775"/>
            </a:xfrm>
            <a:custGeom>
              <a:avLst/>
              <a:gdLst/>
              <a:ahLst/>
              <a:cxnLst/>
              <a:rect l="l" t="t" r="r" b="b"/>
              <a:pathLst>
                <a:path w="5133975" h="4676775">
                  <a:moveTo>
                    <a:pt x="0" y="45672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024437" y="0"/>
                  </a:lnTo>
                  <a:lnTo>
                    <a:pt x="5031629" y="0"/>
                  </a:lnTo>
                  <a:lnTo>
                    <a:pt x="5038752" y="701"/>
                  </a:lnTo>
                  <a:lnTo>
                    <a:pt x="5045806" y="2104"/>
                  </a:lnTo>
                  <a:lnTo>
                    <a:pt x="5052859" y="3507"/>
                  </a:lnTo>
                  <a:lnTo>
                    <a:pt x="5059709" y="5585"/>
                  </a:lnTo>
                  <a:lnTo>
                    <a:pt x="5066354" y="8337"/>
                  </a:lnTo>
                  <a:lnTo>
                    <a:pt x="5072999" y="11090"/>
                  </a:lnTo>
                  <a:lnTo>
                    <a:pt x="5079311" y="14464"/>
                  </a:lnTo>
                  <a:lnTo>
                    <a:pt x="5085292" y="18460"/>
                  </a:lnTo>
                  <a:lnTo>
                    <a:pt x="5091272" y="22456"/>
                  </a:lnTo>
                  <a:lnTo>
                    <a:pt x="5119508" y="54661"/>
                  </a:lnTo>
                  <a:lnTo>
                    <a:pt x="5125635" y="67619"/>
                  </a:lnTo>
                  <a:lnTo>
                    <a:pt x="5128388" y="74263"/>
                  </a:lnTo>
                  <a:lnTo>
                    <a:pt x="5133974" y="109537"/>
                  </a:lnTo>
                  <a:lnTo>
                    <a:pt x="5133974" y="4567237"/>
                  </a:lnTo>
                  <a:lnTo>
                    <a:pt x="5125635" y="4609154"/>
                  </a:lnTo>
                  <a:lnTo>
                    <a:pt x="5122882" y="4615799"/>
                  </a:lnTo>
                  <a:lnTo>
                    <a:pt x="5096805" y="4649777"/>
                  </a:lnTo>
                  <a:lnTo>
                    <a:pt x="5066354" y="4668435"/>
                  </a:lnTo>
                  <a:lnTo>
                    <a:pt x="5059709" y="4671188"/>
                  </a:lnTo>
                  <a:lnTo>
                    <a:pt x="5052859" y="4673266"/>
                  </a:lnTo>
                  <a:lnTo>
                    <a:pt x="5045806" y="4674669"/>
                  </a:lnTo>
                  <a:lnTo>
                    <a:pt x="5038752" y="4676072"/>
                  </a:lnTo>
                  <a:lnTo>
                    <a:pt x="5031629" y="4676774"/>
                  </a:lnTo>
                  <a:lnTo>
                    <a:pt x="5024437" y="4676774"/>
                  </a:lnTo>
                  <a:lnTo>
                    <a:pt x="109537" y="4676774"/>
                  </a:lnTo>
                  <a:lnTo>
                    <a:pt x="102345" y="4676774"/>
                  </a:lnTo>
                  <a:lnTo>
                    <a:pt x="95221" y="4676072"/>
                  </a:lnTo>
                  <a:lnTo>
                    <a:pt x="88167" y="4674669"/>
                  </a:lnTo>
                  <a:lnTo>
                    <a:pt x="81113" y="4673266"/>
                  </a:lnTo>
                  <a:lnTo>
                    <a:pt x="74264" y="4671188"/>
                  </a:lnTo>
                  <a:lnTo>
                    <a:pt x="67619" y="4668435"/>
                  </a:lnTo>
                  <a:lnTo>
                    <a:pt x="60974" y="4665683"/>
                  </a:lnTo>
                  <a:lnTo>
                    <a:pt x="26996" y="4639605"/>
                  </a:lnTo>
                  <a:lnTo>
                    <a:pt x="8337" y="4609154"/>
                  </a:lnTo>
                  <a:lnTo>
                    <a:pt x="5585" y="4602510"/>
                  </a:lnTo>
                  <a:lnTo>
                    <a:pt x="3507" y="4595660"/>
                  </a:lnTo>
                  <a:lnTo>
                    <a:pt x="2104" y="4588606"/>
                  </a:lnTo>
                  <a:lnTo>
                    <a:pt x="701" y="4581552"/>
                  </a:lnTo>
                  <a:lnTo>
                    <a:pt x="0" y="4574429"/>
                  </a:lnTo>
                  <a:lnTo>
                    <a:pt x="0" y="4567237"/>
                  </a:lnTo>
                  <a:close/>
                </a:path>
              </a:pathLst>
            </a:custGeom>
            <a:ln w="9524">
              <a:solidFill>
                <a:srgbClr val="3A45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669331" y="2675757"/>
            <a:ext cx="1329055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b="1" spc="-175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AutoGPT</a:t>
            </a:r>
            <a:endParaRPr sz="265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5549" y="3287903"/>
            <a:ext cx="4216400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25000"/>
              </a:lnSpc>
              <a:spcBef>
                <a:spcPts val="100"/>
              </a:spcBef>
            </a:pP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开源的自主代理先驱。用户给出一个高层目标，它能自动分解任务、上网搜索、执行操作，展现了强大的</a:t>
            </a:r>
            <a:r>
              <a:rPr sz="170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任务自主执行能力</a:t>
            </a:r>
            <a:r>
              <a:rPr sz="17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286498" y="1600199"/>
            <a:ext cx="5143500" cy="4686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77460" y="2675757"/>
            <a:ext cx="1362075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b="1" spc="-175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MetaGPT</a:t>
            </a:r>
            <a:endParaRPr sz="265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1915" y="3287808"/>
            <a:ext cx="4372610" cy="99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5000"/>
              </a:lnSpc>
              <a:spcBef>
                <a:spcPts val="100"/>
              </a:spcBef>
            </a:pP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模拟一家软件公司。通过为</a:t>
            </a:r>
            <a:r>
              <a:rPr sz="1700" spc="-10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AI</a:t>
            </a:r>
            <a:r>
              <a:rPr sz="1700" spc="-3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700" spc="-12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Agent</a:t>
            </a:r>
            <a:r>
              <a:rPr sz="1700" spc="-20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分配产品经理、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工程师、测试等角色，以</a:t>
            </a:r>
            <a:r>
              <a:rPr sz="170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标准流程协作</a:t>
            </a:r>
            <a:r>
              <a:rPr sz="1700" spc="-18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完成整个软</a:t>
            </a:r>
            <a:r>
              <a:rPr sz="1700" spc="-19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件项目的开发。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90874" y="2019294"/>
            <a:ext cx="285750" cy="400685"/>
          </a:xfrm>
          <a:custGeom>
            <a:avLst/>
            <a:gdLst/>
            <a:ahLst/>
            <a:cxnLst/>
            <a:rect l="l" t="t" r="r" b="b"/>
            <a:pathLst>
              <a:path w="285750" h="400685">
                <a:moveTo>
                  <a:pt x="195801" y="898"/>
                </a:moveTo>
                <a:lnTo>
                  <a:pt x="0" y="242893"/>
                </a:lnTo>
                <a:lnTo>
                  <a:pt x="114300" y="242893"/>
                </a:lnTo>
                <a:lnTo>
                  <a:pt x="86162" y="397582"/>
                </a:lnTo>
                <a:lnTo>
                  <a:pt x="86048" y="398228"/>
                </a:lnTo>
                <a:lnTo>
                  <a:pt x="86202" y="398802"/>
                </a:lnTo>
                <a:lnTo>
                  <a:pt x="86625" y="399304"/>
                </a:lnTo>
                <a:lnTo>
                  <a:pt x="87047" y="399807"/>
                </a:lnTo>
                <a:lnTo>
                  <a:pt x="87586" y="400057"/>
                </a:lnTo>
                <a:lnTo>
                  <a:pt x="88243" y="400055"/>
                </a:lnTo>
                <a:lnTo>
                  <a:pt x="88947" y="400054"/>
                </a:lnTo>
                <a:lnTo>
                  <a:pt x="89510" y="399772"/>
                </a:lnTo>
                <a:lnTo>
                  <a:pt x="89930" y="399207"/>
                </a:lnTo>
                <a:lnTo>
                  <a:pt x="285750" y="157168"/>
                </a:lnTo>
                <a:lnTo>
                  <a:pt x="171450" y="157168"/>
                </a:lnTo>
                <a:lnTo>
                  <a:pt x="199721" y="2461"/>
                </a:lnTo>
                <a:lnTo>
                  <a:pt x="199924" y="818"/>
                </a:lnTo>
                <a:lnTo>
                  <a:pt x="199197" y="0"/>
                </a:lnTo>
                <a:lnTo>
                  <a:pt x="197542" y="5"/>
                </a:lnTo>
                <a:lnTo>
                  <a:pt x="196810" y="8"/>
                </a:lnTo>
                <a:lnTo>
                  <a:pt x="196230" y="306"/>
                </a:lnTo>
                <a:lnTo>
                  <a:pt x="195801" y="898"/>
                </a:lnTo>
                <a:close/>
              </a:path>
            </a:pathLst>
          </a:custGeom>
          <a:ln w="28575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393" rIns="0" bIns="0" rtlCol="0">
            <a:spAutoFit/>
          </a:bodyPr>
          <a:lstStyle/>
          <a:p>
            <a:pPr marL="2516505">
              <a:lnSpc>
                <a:spcPct val="100000"/>
              </a:lnSpc>
              <a:spcBef>
                <a:spcPts val="140"/>
              </a:spcBef>
            </a:pP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知名</a:t>
            </a:r>
            <a:r>
              <a:rPr spc="-370" dirty="0"/>
              <a:t>项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目巡</a:t>
            </a:r>
            <a:r>
              <a:rPr spc="-370" dirty="0"/>
              <a:t>礼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（二</a:t>
            </a:r>
            <a:r>
              <a:rPr spc="-420" dirty="0">
                <a:latin typeface="Malgun Gothic" panose="020B0503020000020004" charset="-127"/>
                <a:cs typeface="Malgun Gothic" panose="020B0503020000020004" charset="-127"/>
              </a:rPr>
              <a:t>）</a:t>
            </a:r>
            <a:endParaRPr spc="-420" dirty="0">
              <a:latin typeface="Malgun Gothic" panose="020B0503020000020004" charset="-127"/>
              <a:cs typeface="Malgun Gothic" panose="020B0503020000020004" charset="-127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1999" y="1600199"/>
            <a:ext cx="5143500" cy="4686300"/>
            <a:chOff x="761999" y="1600199"/>
            <a:chExt cx="5143500" cy="4686300"/>
          </a:xfrm>
        </p:grpSpPr>
        <p:sp>
          <p:nvSpPr>
            <p:cNvPr id="4" name="object 4"/>
            <p:cNvSpPr/>
            <p:nvPr/>
          </p:nvSpPr>
          <p:spPr>
            <a:xfrm>
              <a:off x="766762" y="1604962"/>
              <a:ext cx="5133975" cy="4676775"/>
            </a:xfrm>
            <a:custGeom>
              <a:avLst/>
              <a:gdLst/>
              <a:ahLst/>
              <a:cxnLst/>
              <a:rect l="l" t="t" r="r" b="b"/>
              <a:pathLst>
                <a:path w="5133975" h="4676775">
                  <a:moveTo>
                    <a:pt x="5031629" y="4676774"/>
                  </a:moveTo>
                  <a:lnTo>
                    <a:pt x="102345" y="4676774"/>
                  </a:lnTo>
                  <a:lnTo>
                    <a:pt x="95221" y="4676072"/>
                  </a:lnTo>
                  <a:lnTo>
                    <a:pt x="54661" y="4662309"/>
                  </a:lnTo>
                  <a:lnTo>
                    <a:pt x="22456" y="4634072"/>
                  </a:lnTo>
                  <a:lnTo>
                    <a:pt x="3507" y="4595660"/>
                  </a:lnTo>
                  <a:lnTo>
                    <a:pt x="0" y="4574429"/>
                  </a:lnTo>
                  <a:lnTo>
                    <a:pt x="0" y="45672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031629" y="0"/>
                  </a:lnTo>
                  <a:lnTo>
                    <a:pt x="5072999" y="11090"/>
                  </a:lnTo>
                  <a:lnTo>
                    <a:pt x="5106976" y="37168"/>
                  </a:lnTo>
                  <a:lnTo>
                    <a:pt x="5128388" y="74263"/>
                  </a:lnTo>
                  <a:lnTo>
                    <a:pt x="5133974" y="102345"/>
                  </a:lnTo>
                  <a:lnTo>
                    <a:pt x="5133974" y="4574429"/>
                  </a:lnTo>
                  <a:lnTo>
                    <a:pt x="5122882" y="4615799"/>
                  </a:lnTo>
                  <a:lnTo>
                    <a:pt x="5096805" y="4649777"/>
                  </a:lnTo>
                  <a:lnTo>
                    <a:pt x="5059709" y="4671188"/>
                  </a:lnTo>
                  <a:lnTo>
                    <a:pt x="5038752" y="4676072"/>
                  </a:lnTo>
                  <a:lnTo>
                    <a:pt x="5031629" y="4676774"/>
                  </a:lnTo>
                  <a:close/>
                </a:path>
              </a:pathLst>
            </a:custGeom>
            <a:solidFill>
              <a:srgbClr val="212E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6762" y="1604962"/>
              <a:ext cx="5133975" cy="4676775"/>
            </a:xfrm>
            <a:custGeom>
              <a:avLst/>
              <a:gdLst/>
              <a:ahLst/>
              <a:cxnLst/>
              <a:rect l="l" t="t" r="r" b="b"/>
              <a:pathLst>
                <a:path w="5133975" h="4676775">
                  <a:moveTo>
                    <a:pt x="0" y="45672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024437" y="0"/>
                  </a:lnTo>
                  <a:lnTo>
                    <a:pt x="5031629" y="0"/>
                  </a:lnTo>
                  <a:lnTo>
                    <a:pt x="5038752" y="701"/>
                  </a:lnTo>
                  <a:lnTo>
                    <a:pt x="5045806" y="2104"/>
                  </a:lnTo>
                  <a:lnTo>
                    <a:pt x="5052859" y="3507"/>
                  </a:lnTo>
                  <a:lnTo>
                    <a:pt x="5059709" y="5585"/>
                  </a:lnTo>
                  <a:lnTo>
                    <a:pt x="5066354" y="8337"/>
                  </a:lnTo>
                  <a:lnTo>
                    <a:pt x="5072999" y="11090"/>
                  </a:lnTo>
                  <a:lnTo>
                    <a:pt x="5079311" y="14464"/>
                  </a:lnTo>
                  <a:lnTo>
                    <a:pt x="5085292" y="18460"/>
                  </a:lnTo>
                  <a:lnTo>
                    <a:pt x="5091272" y="22456"/>
                  </a:lnTo>
                  <a:lnTo>
                    <a:pt x="5119508" y="54661"/>
                  </a:lnTo>
                  <a:lnTo>
                    <a:pt x="5125635" y="67619"/>
                  </a:lnTo>
                  <a:lnTo>
                    <a:pt x="5128388" y="74263"/>
                  </a:lnTo>
                  <a:lnTo>
                    <a:pt x="5133974" y="109537"/>
                  </a:lnTo>
                  <a:lnTo>
                    <a:pt x="5133974" y="4567237"/>
                  </a:lnTo>
                  <a:lnTo>
                    <a:pt x="5125635" y="4609154"/>
                  </a:lnTo>
                  <a:lnTo>
                    <a:pt x="5122882" y="4615799"/>
                  </a:lnTo>
                  <a:lnTo>
                    <a:pt x="5096805" y="4649777"/>
                  </a:lnTo>
                  <a:lnTo>
                    <a:pt x="5066354" y="4668435"/>
                  </a:lnTo>
                  <a:lnTo>
                    <a:pt x="5059709" y="4671188"/>
                  </a:lnTo>
                  <a:lnTo>
                    <a:pt x="5052859" y="4673266"/>
                  </a:lnTo>
                  <a:lnTo>
                    <a:pt x="5045806" y="4674669"/>
                  </a:lnTo>
                  <a:lnTo>
                    <a:pt x="5038752" y="4676072"/>
                  </a:lnTo>
                  <a:lnTo>
                    <a:pt x="5031629" y="4676774"/>
                  </a:lnTo>
                  <a:lnTo>
                    <a:pt x="5024437" y="4676774"/>
                  </a:lnTo>
                  <a:lnTo>
                    <a:pt x="109537" y="4676774"/>
                  </a:lnTo>
                  <a:lnTo>
                    <a:pt x="102345" y="4676774"/>
                  </a:lnTo>
                  <a:lnTo>
                    <a:pt x="95221" y="4676072"/>
                  </a:lnTo>
                  <a:lnTo>
                    <a:pt x="88167" y="4674669"/>
                  </a:lnTo>
                  <a:lnTo>
                    <a:pt x="81113" y="4673266"/>
                  </a:lnTo>
                  <a:lnTo>
                    <a:pt x="74264" y="4671188"/>
                  </a:lnTo>
                  <a:lnTo>
                    <a:pt x="67619" y="4668435"/>
                  </a:lnTo>
                  <a:lnTo>
                    <a:pt x="60974" y="4665683"/>
                  </a:lnTo>
                  <a:lnTo>
                    <a:pt x="26996" y="4639605"/>
                  </a:lnTo>
                  <a:lnTo>
                    <a:pt x="8337" y="4609154"/>
                  </a:lnTo>
                  <a:lnTo>
                    <a:pt x="5585" y="4602510"/>
                  </a:lnTo>
                  <a:lnTo>
                    <a:pt x="3507" y="4595660"/>
                  </a:lnTo>
                  <a:lnTo>
                    <a:pt x="2104" y="4588606"/>
                  </a:lnTo>
                  <a:lnTo>
                    <a:pt x="701" y="4581552"/>
                  </a:lnTo>
                  <a:lnTo>
                    <a:pt x="0" y="4574429"/>
                  </a:lnTo>
                  <a:lnTo>
                    <a:pt x="0" y="4567237"/>
                  </a:lnTo>
                  <a:close/>
                </a:path>
              </a:pathLst>
            </a:custGeom>
            <a:ln w="9524">
              <a:solidFill>
                <a:srgbClr val="3A45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799109" y="2646802"/>
            <a:ext cx="1069340" cy="469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00" b="1" spc="-305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Claude</a:t>
            </a:r>
            <a:endParaRPr sz="290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9590" y="3277726"/>
            <a:ext cx="4328795" cy="10077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ctr">
              <a:lnSpc>
                <a:spcPct val="124000"/>
              </a:lnSpc>
              <a:spcBef>
                <a:spcPts val="125"/>
              </a:spcBef>
            </a:pPr>
            <a:r>
              <a:rPr sz="1750" spc="-14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Anthropic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公司的内部研究系统。一个主智能体可以</a:t>
            </a:r>
            <a:r>
              <a:rPr sz="1700" spc="-20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并行调用多个子智能体进行网页搜索，在处理开放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式研究问题时效率和质量提升了约</a:t>
            </a:r>
            <a:r>
              <a:rPr sz="1650" b="1" spc="-13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90%</a:t>
            </a:r>
            <a:r>
              <a:rPr sz="17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86498" y="1600199"/>
            <a:ext cx="5143500" cy="4686300"/>
            <a:chOff x="6286498" y="1600199"/>
            <a:chExt cx="5143500" cy="4686300"/>
          </a:xfrm>
        </p:grpSpPr>
        <p:sp>
          <p:nvSpPr>
            <p:cNvPr id="9" name="object 9"/>
            <p:cNvSpPr/>
            <p:nvPr/>
          </p:nvSpPr>
          <p:spPr>
            <a:xfrm>
              <a:off x="6291261" y="1604962"/>
              <a:ext cx="5133975" cy="4676775"/>
            </a:xfrm>
            <a:custGeom>
              <a:avLst/>
              <a:gdLst/>
              <a:ahLst/>
              <a:cxnLst/>
              <a:rect l="l" t="t" r="r" b="b"/>
              <a:pathLst>
                <a:path w="5133975" h="4676775">
                  <a:moveTo>
                    <a:pt x="5031630" y="4676774"/>
                  </a:moveTo>
                  <a:lnTo>
                    <a:pt x="102345" y="4676774"/>
                  </a:lnTo>
                  <a:lnTo>
                    <a:pt x="95222" y="4676072"/>
                  </a:lnTo>
                  <a:lnTo>
                    <a:pt x="54661" y="4662309"/>
                  </a:lnTo>
                  <a:lnTo>
                    <a:pt x="22455" y="4634072"/>
                  </a:lnTo>
                  <a:lnTo>
                    <a:pt x="3507" y="4595660"/>
                  </a:lnTo>
                  <a:lnTo>
                    <a:pt x="0" y="4574429"/>
                  </a:lnTo>
                  <a:lnTo>
                    <a:pt x="0" y="45672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7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5031630" y="0"/>
                  </a:lnTo>
                  <a:lnTo>
                    <a:pt x="5072998" y="11090"/>
                  </a:lnTo>
                  <a:lnTo>
                    <a:pt x="5106976" y="37168"/>
                  </a:lnTo>
                  <a:lnTo>
                    <a:pt x="5128388" y="74263"/>
                  </a:lnTo>
                  <a:lnTo>
                    <a:pt x="5133975" y="102345"/>
                  </a:lnTo>
                  <a:lnTo>
                    <a:pt x="5133975" y="4574429"/>
                  </a:lnTo>
                  <a:lnTo>
                    <a:pt x="5122883" y="4615799"/>
                  </a:lnTo>
                  <a:lnTo>
                    <a:pt x="5096805" y="4649777"/>
                  </a:lnTo>
                  <a:lnTo>
                    <a:pt x="5059709" y="4671188"/>
                  </a:lnTo>
                  <a:lnTo>
                    <a:pt x="5038753" y="4676072"/>
                  </a:lnTo>
                  <a:lnTo>
                    <a:pt x="5031630" y="4676774"/>
                  </a:lnTo>
                  <a:close/>
                </a:path>
              </a:pathLst>
            </a:custGeom>
            <a:solidFill>
              <a:srgbClr val="212E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91261" y="1604962"/>
              <a:ext cx="5133975" cy="4676775"/>
            </a:xfrm>
            <a:custGeom>
              <a:avLst/>
              <a:gdLst/>
              <a:ahLst/>
              <a:cxnLst/>
              <a:rect l="l" t="t" r="r" b="b"/>
              <a:pathLst>
                <a:path w="5133975" h="4676775">
                  <a:moveTo>
                    <a:pt x="0" y="45672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5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42700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3" y="11090"/>
                  </a:lnTo>
                  <a:lnTo>
                    <a:pt x="67618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5024437" y="0"/>
                  </a:lnTo>
                  <a:lnTo>
                    <a:pt x="5031630" y="0"/>
                  </a:lnTo>
                  <a:lnTo>
                    <a:pt x="5038753" y="701"/>
                  </a:lnTo>
                  <a:lnTo>
                    <a:pt x="5045806" y="2104"/>
                  </a:lnTo>
                  <a:lnTo>
                    <a:pt x="5052860" y="3507"/>
                  </a:lnTo>
                  <a:lnTo>
                    <a:pt x="5091271" y="22456"/>
                  </a:lnTo>
                  <a:lnTo>
                    <a:pt x="5101891" y="32082"/>
                  </a:lnTo>
                  <a:lnTo>
                    <a:pt x="5106976" y="37168"/>
                  </a:lnTo>
                  <a:lnTo>
                    <a:pt x="5125636" y="67619"/>
                  </a:lnTo>
                  <a:lnTo>
                    <a:pt x="5128388" y="74263"/>
                  </a:lnTo>
                  <a:lnTo>
                    <a:pt x="5130466" y="81113"/>
                  </a:lnTo>
                  <a:lnTo>
                    <a:pt x="5131869" y="88167"/>
                  </a:lnTo>
                  <a:lnTo>
                    <a:pt x="5133272" y="95221"/>
                  </a:lnTo>
                  <a:lnTo>
                    <a:pt x="5133975" y="102345"/>
                  </a:lnTo>
                  <a:lnTo>
                    <a:pt x="5133975" y="109537"/>
                  </a:lnTo>
                  <a:lnTo>
                    <a:pt x="5133975" y="4567237"/>
                  </a:lnTo>
                  <a:lnTo>
                    <a:pt x="5133975" y="4574429"/>
                  </a:lnTo>
                  <a:lnTo>
                    <a:pt x="5133272" y="4581552"/>
                  </a:lnTo>
                  <a:lnTo>
                    <a:pt x="5131869" y="4588606"/>
                  </a:lnTo>
                  <a:lnTo>
                    <a:pt x="5130466" y="4595660"/>
                  </a:lnTo>
                  <a:lnTo>
                    <a:pt x="5128388" y="4602510"/>
                  </a:lnTo>
                  <a:lnTo>
                    <a:pt x="5125636" y="4609154"/>
                  </a:lnTo>
                  <a:lnTo>
                    <a:pt x="5122883" y="4615799"/>
                  </a:lnTo>
                  <a:lnTo>
                    <a:pt x="5096805" y="4649777"/>
                  </a:lnTo>
                  <a:lnTo>
                    <a:pt x="5085290" y="4658313"/>
                  </a:lnTo>
                  <a:lnTo>
                    <a:pt x="5079311" y="4662309"/>
                  </a:lnTo>
                  <a:lnTo>
                    <a:pt x="5072998" y="4665683"/>
                  </a:lnTo>
                  <a:lnTo>
                    <a:pt x="5066354" y="4668435"/>
                  </a:lnTo>
                  <a:lnTo>
                    <a:pt x="5059709" y="4671188"/>
                  </a:lnTo>
                  <a:lnTo>
                    <a:pt x="5052860" y="4673266"/>
                  </a:lnTo>
                  <a:lnTo>
                    <a:pt x="5045806" y="4674669"/>
                  </a:lnTo>
                  <a:lnTo>
                    <a:pt x="5038753" y="4676072"/>
                  </a:lnTo>
                  <a:lnTo>
                    <a:pt x="5031630" y="4676774"/>
                  </a:lnTo>
                  <a:lnTo>
                    <a:pt x="5024437" y="4676774"/>
                  </a:lnTo>
                  <a:lnTo>
                    <a:pt x="109538" y="4676774"/>
                  </a:lnTo>
                  <a:lnTo>
                    <a:pt x="102345" y="4676774"/>
                  </a:lnTo>
                  <a:lnTo>
                    <a:pt x="95222" y="4676072"/>
                  </a:lnTo>
                  <a:lnTo>
                    <a:pt x="88167" y="4674669"/>
                  </a:lnTo>
                  <a:lnTo>
                    <a:pt x="81113" y="4673266"/>
                  </a:lnTo>
                  <a:lnTo>
                    <a:pt x="74263" y="4671188"/>
                  </a:lnTo>
                  <a:lnTo>
                    <a:pt x="67618" y="4668435"/>
                  </a:lnTo>
                  <a:lnTo>
                    <a:pt x="60973" y="4665683"/>
                  </a:lnTo>
                  <a:lnTo>
                    <a:pt x="54661" y="4662309"/>
                  </a:lnTo>
                  <a:lnTo>
                    <a:pt x="48681" y="4658313"/>
                  </a:lnTo>
                  <a:lnTo>
                    <a:pt x="42700" y="4654317"/>
                  </a:lnTo>
                  <a:lnTo>
                    <a:pt x="37167" y="4649777"/>
                  </a:lnTo>
                  <a:lnTo>
                    <a:pt x="32082" y="4644691"/>
                  </a:lnTo>
                  <a:lnTo>
                    <a:pt x="26996" y="4639605"/>
                  </a:lnTo>
                  <a:lnTo>
                    <a:pt x="22455" y="4634072"/>
                  </a:lnTo>
                  <a:lnTo>
                    <a:pt x="18459" y="4628092"/>
                  </a:lnTo>
                  <a:lnTo>
                    <a:pt x="14464" y="4622111"/>
                  </a:lnTo>
                  <a:lnTo>
                    <a:pt x="2105" y="4588606"/>
                  </a:lnTo>
                  <a:lnTo>
                    <a:pt x="701" y="4581552"/>
                  </a:lnTo>
                  <a:lnTo>
                    <a:pt x="0" y="4574429"/>
                  </a:lnTo>
                  <a:lnTo>
                    <a:pt x="0" y="4567237"/>
                  </a:lnTo>
                  <a:close/>
                </a:path>
              </a:pathLst>
            </a:custGeom>
            <a:ln w="9524">
              <a:solidFill>
                <a:srgbClr val="3A45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047087" y="2646802"/>
            <a:ext cx="1622425" cy="469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00" b="1" spc="-310" dirty="0">
                <a:solidFill>
                  <a:srgbClr val="FFFFFF"/>
                </a:solidFill>
                <a:latin typeface="Noto Sans SC" panose="020B0500000000000000" charset="-122"/>
                <a:cs typeface="Noto Sans SC" panose="020B0500000000000000" charset="-122"/>
              </a:rPr>
              <a:t>LangChain</a:t>
            </a:r>
            <a:endParaRPr sz="290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50050" y="3299516"/>
            <a:ext cx="4216400" cy="985519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algn="ctr">
              <a:lnSpc>
                <a:spcPct val="123000"/>
              </a:lnSpc>
              <a:spcBef>
                <a:spcPts val="45"/>
              </a:spcBef>
            </a:pP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流行的开源框架。它为开发者提供了构建多智能体系统的工具，让一个</a:t>
            </a:r>
            <a:r>
              <a:rPr sz="1750" spc="-26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“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中央助理</a:t>
            </a:r>
            <a:r>
              <a:rPr sz="1750" spc="-26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”</a:t>
            </a:r>
            <a:r>
              <a:rPr sz="1700" spc="-204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可以方便地调用</a:t>
            </a:r>
            <a:r>
              <a:rPr sz="170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多个子</a:t>
            </a:r>
            <a:r>
              <a:rPr sz="1700" b="1" spc="-2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代</a:t>
            </a:r>
            <a:r>
              <a:rPr sz="1700" b="1" spc="-21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理协同工作</a:t>
            </a:r>
            <a:r>
              <a:rPr sz="17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48012" y="2033587"/>
            <a:ext cx="371475" cy="371475"/>
            <a:chOff x="3148012" y="2033587"/>
            <a:chExt cx="371475" cy="371475"/>
          </a:xfrm>
        </p:grpSpPr>
        <p:sp>
          <p:nvSpPr>
            <p:cNvPr id="14" name="object 14"/>
            <p:cNvSpPr/>
            <p:nvPr/>
          </p:nvSpPr>
          <p:spPr>
            <a:xfrm>
              <a:off x="3162299" y="2047875"/>
              <a:ext cx="280670" cy="280670"/>
            </a:xfrm>
            <a:custGeom>
              <a:avLst/>
              <a:gdLst/>
              <a:ahLst/>
              <a:cxnLst/>
              <a:rect l="l" t="t" r="r" b="b"/>
              <a:pathLst>
                <a:path w="280670" h="280669">
                  <a:moveTo>
                    <a:pt x="140276" y="0"/>
                  </a:moveTo>
                  <a:lnTo>
                    <a:pt x="99555" y="6038"/>
                  </a:lnTo>
                  <a:lnTo>
                    <a:pt x="62343" y="23640"/>
                  </a:lnTo>
                  <a:lnTo>
                    <a:pt x="31840" y="51284"/>
                  </a:lnTo>
                  <a:lnTo>
                    <a:pt x="10677" y="86594"/>
                  </a:lnTo>
                  <a:lnTo>
                    <a:pt x="673" y="126526"/>
                  </a:lnTo>
                  <a:lnTo>
                    <a:pt x="0" y="140276"/>
                  </a:lnTo>
                  <a:lnTo>
                    <a:pt x="168" y="147167"/>
                  </a:lnTo>
                  <a:lnTo>
                    <a:pt x="8196" y="187526"/>
                  </a:lnTo>
                  <a:lnTo>
                    <a:pt x="27609" y="223846"/>
                  </a:lnTo>
                  <a:lnTo>
                    <a:pt x="56706" y="252943"/>
                  </a:lnTo>
                  <a:lnTo>
                    <a:pt x="93026" y="272356"/>
                  </a:lnTo>
                  <a:lnTo>
                    <a:pt x="133385" y="280384"/>
                  </a:lnTo>
                  <a:lnTo>
                    <a:pt x="140276" y="280552"/>
                  </a:lnTo>
                  <a:lnTo>
                    <a:pt x="147167" y="280384"/>
                  </a:lnTo>
                  <a:lnTo>
                    <a:pt x="187526" y="272356"/>
                  </a:lnTo>
                  <a:lnTo>
                    <a:pt x="223846" y="252943"/>
                  </a:lnTo>
                  <a:lnTo>
                    <a:pt x="252943" y="223846"/>
                  </a:lnTo>
                  <a:lnTo>
                    <a:pt x="272356" y="187526"/>
                  </a:lnTo>
                  <a:lnTo>
                    <a:pt x="280384" y="147167"/>
                  </a:lnTo>
                  <a:lnTo>
                    <a:pt x="280552" y="140276"/>
                  </a:lnTo>
                  <a:lnTo>
                    <a:pt x="280384" y="133385"/>
                  </a:lnTo>
                  <a:lnTo>
                    <a:pt x="272354" y="93027"/>
                  </a:lnTo>
                  <a:lnTo>
                    <a:pt x="252940" y="56708"/>
                  </a:lnTo>
                  <a:lnTo>
                    <a:pt x="223843" y="27612"/>
                  </a:lnTo>
                  <a:lnTo>
                    <a:pt x="187525" y="8198"/>
                  </a:lnTo>
                  <a:lnTo>
                    <a:pt x="147167" y="168"/>
                  </a:lnTo>
                  <a:lnTo>
                    <a:pt x="140276" y="0"/>
                  </a:lnTo>
                  <a:close/>
                </a:path>
              </a:pathLst>
            </a:custGeom>
            <a:ln w="285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07232" y="2292807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0" y="0"/>
                  </a:moveTo>
                  <a:lnTo>
                    <a:pt x="97967" y="97967"/>
                  </a:lnTo>
                </a:path>
              </a:pathLst>
            </a:custGeom>
            <a:ln w="28575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8686800" y="2047875"/>
            <a:ext cx="343535" cy="342900"/>
          </a:xfrm>
          <a:custGeom>
            <a:avLst/>
            <a:gdLst/>
            <a:ahLst/>
            <a:cxnLst/>
            <a:rect l="l" t="t" r="r" b="b"/>
            <a:pathLst>
              <a:path w="343534" h="342900">
                <a:moveTo>
                  <a:pt x="331112" y="65767"/>
                </a:moveTo>
                <a:lnTo>
                  <a:pt x="197739" y="4955"/>
                </a:lnTo>
                <a:lnTo>
                  <a:pt x="185457" y="1238"/>
                </a:lnTo>
                <a:lnTo>
                  <a:pt x="171450" y="0"/>
                </a:lnTo>
                <a:lnTo>
                  <a:pt x="157442" y="1238"/>
                </a:lnTo>
                <a:lnTo>
                  <a:pt x="145161" y="4955"/>
                </a:lnTo>
                <a:lnTo>
                  <a:pt x="11876" y="65767"/>
                </a:lnTo>
                <a:lnTo>
                  <a:pt x="3036" y="71835"/>
                </a:lnTo>
                <a:lnTo>
                  <a:pt x="89" y="78755"/>
                </a:lnTo>
                <a:lnTo>
                  <a:pt x="3036" y="85675"/>
                </a:lnTo>
                <a:lnTo>
                  <a:pt x="11876" y="91743"/>
                </a:lnTo>
                <a:lnTo>
                  <a:pt x="144035" y="152018"/>
                </a:lnTo>
                <a:lnTo>
                  <a:pt x="156869" y="155886"/>
                </a:lnTo>
                <a:lnTo>
                  <a:pt x="171530" y="157175"/>
                </a:lnTo>
                <a:lnTo>
                  <a:pt x="186190" y="155886"/>
                </a:lnTo>
                <a:lnTo>
                  <a:pt x="199024" y="152018"/>
                </a:lnTo>
                <a:lnTo>
                  <a:pt x="331184" y="91743"/>
                </a:lnTo>
                <a:lnTo>
                  <a:pt x="339983" y="85674"/>
                </a:lnTo>
                <a:lnTo>
                  <a:pt x="342908" y="78752"/>
                </a:lnTo>
                <a:lnTo>
                  <a:pt x="339954" y="71831"/>
                </a:lnTo>
                <a:lnTo>
                  <a:pt x="331112" y="65767"/>
                </a:lnTo>
                <a:close/>
              </a:path>
              <a:path w="343534" h="342900">
                <a:moveTo>
                  <a:pt x="85725" y="218348"/>
                </a:moveTo>
                <a:lnTo>
                  <a:pt x="11876" y="251486"/>
                </a:lnTo>
                <a:lnTo>
                  <a:pt x="3036" y="257556"/>
                </a:lnTo>
                <a:lnTo>
                  <a:pt x="89" y="264479"/>
                </a:lnTo>
                <a:lnTo>
                  <a:pt x="3036" y="271402"/>
                </a:lnTo>
                <a:lnTo>
                  <a:pt x="11876" y="277472"/>
                </a:lnTo>
                <a:lnTo>
                  <a:pt x="144035" y="337747"/>
                </a:lnTo>
                <a:lnTo>
                  <a:pt x="156869" y="341610"/>
                </a:lnTo>
                <a:lnTo>
                  <a:pt x="171530" y="342897"/>
                </a:lnTo>
                <a:lnTo>
                  <a:pt x="186190" y="341610"/>
                </a:lnTo>
                <a:lnTo>
                  <a:pt x="199024" y="337747"/>
                </a:lnTo>
                <a:lnTo>
                  <a:pt x="331184" y="277472"/>
                </a:lnTo>
                <a:lnTo>
                  <a:pt x="340024" y="271402"/>
                </a:lnTo>
                <a:lnTo>
                  <a:pt x="342971" y="264479"/>
                </a:lnTo>
                <a:lnTo>
                  <a:pt x="340024" y="257556"/>
                </a:lnTo>
                <a:lnTo>
                  <a:pt x="331184" y="251486"/>
                </a:lnTo>
                <a:lnTo>
                  <a:pt x="259800" y="217134"/>
                </a:lnTo>
              </a:path>
              <a:path w="343534" h="342900">
                <a:moveTo>
                  <a:pt x="85725" y="125444"/>
                </a:moveTo>
                <a:lnTo>
                  <a:pt x="11787" y="158626"/>
                </a:lnTo>
                <a:lnTo>
                  <a:pt x="2946" y="164696"/>
                </a:lnTo>
                <a:lnTo>
                  <a:pt x="0" y="171619"/>
                </a:lnTo>
                <a:lnTo>
                  <a:pt x="2946" y="178542"/>
                </a:lnTo>
                <a:lnTo>
                  <a:pt x="11787" y="184612"/>
                </a:lnTo>
                <a:lnTo>
                  <a:pt x="143946" y="244878"/>
                </a:lnTo>
                <a:lnTo>
                  <a:pt x="156780" y="248746"/>
                </a:lnTo>
                <a:lnTo>
                  <a:pt x="171441" y="250035"/>
                </a:lnTo>
                <a:lnTo>
                  <a:pt x="186101" y="248746"/>
                </a:lnTo>
                <a:lnTo>
                  <a:pt x="198935" y="244878"/>
                </a:lnTo>
                <a:lnTo>
                  <a:pt x="331094" y="184612"/>
                </a:lnTo>
                <a:lnTo>
                  <a:pt x="339986" y="178542"/>
                </a:lnTo>
                <a:lnTo>
                  <a:pt x="342960" y="171619"/>
                </a:lnTo>
                <a:lnTo>
                  <a:pt x="340023" y="164696"/>
                </a:lnTo>
                <a:lnTo>
                  <a:pt x="331184" y="158626"/>
                </a:lnTo>
                <a:lnTo>
                  <a:pt x="257175" y="125444"/>
                </a:lnTo>
              </a:path>
            </a:pathLst>
          </a:custGeom>
          <a:ln w="28575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4360" y="456565"/>
            <a:ext cx="8462645" cy="916305"/>
          </a:xfrm>
          <a:prstGeom prst="rect">
            <a:avLst/>
          </a:prstGeom>
        </p:spPr>
        <p:txBody>
          <a:bodyPr vert="horz" wrap="square" lIns="0" tIns="117868" rIns="0" bIns="0" rtlCol="0">
            <a:noAutofit/>
          </a:bodyPr>
          <a:lstStyle/>
          <a:p>
            <a:pPr marL="611505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研究趋势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：</a:t>
            </a:r>
            <a:r>
              <a:rPr spc="-370" dirty="0"/>
              <a:t>从</a:t>
            </a:r>
            <a:r>
              <a:rPr spc="1320" dirty="0">
                <a:latin typeface="Arial" panose="020B0604020202020204"/>
                <a:cs typeface="Arial" panose="020B0604020202020204"/>
              </a:rPr>
              <a:t>“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固定</a:t>
            </a:r>
            <a:r>
              <a:rPr spc="-370" dirty="0"/>
              <a:t>团队</a:t>
            </a:r>
            <a:r>
              <a:rPr spc="1320" dirty="0">
                <a:latin typeface="Arial" panose="020B0604020202020204"/>
                <a:cs typeface="Arial" panose="020B0604020202020204"/>
              </a:rPr>
              <a:t>”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到</a:t>
            </a:r>
            <a:r>
              <a:rPr spc="1320" dirty="0">
                <a:latin typeface="Arial" panose="020B0604020202020204"/>
                <a:cs typeface="Arial" panose="020B0604020202020204"/>
              </a:rPr>
              <a:t>“</a:t>
            </a:r>
            <a:r>
              <a:rPr spc="-370" dirty="0"/>
              <a:t>按需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生成</a:t>
            </a:r>
            <a:r>
              <a:rPr spc="1270" dirty="0">
                <a:latin typeface="Arial" panose="020B0604020202020204"/>
                <a:cs typeface="Arial" panose="020B0604020202020204"/>
              </a:rPr>
              <a:t>”</a:t>
            </a:r>
            <a:endParaRPr spc="127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33487" y="1843087"/>
            <a:ext cx="8662988" cy="2205036"/>
            <a:chOff x="1233487" y="1843087"/>
            <a:chExt cx="8662988" cy="2205036"/>
          </a:xfrm>
        </p:grpSpPr>
        <p:sp>
          <p:nvSpPr>
            <p:cNvPr id="4" name="object 4"/>
            <p:cNvSpPr/>
            <p:nvPr/>
          </p:nvSpPr>
          <p:spPr>
            <a:xfrm>
              <a:off x="2295525" y="3914774"/>
              <a:ext cx="7600950" cy="38100"/>
            </a:xfrm>
            <a:custGeom>
              <a:avLst/>
              <a:gdLst/>
              <a:ahLst/>
              <a:cxnLst/>
              <a:rect l="l" t="t" r="r" b="b"/>
              <a:pathLst>
                <a:path w="7600950" h="38100">
                  <a:moveTo>
                    <a:pt x="76009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7600949" y="0"/>
                  </a:lnTo>
                  <a:lnTo>
                    <a:pt x="7600949" y="38099"/>
                  </a:lnTo>
                  <a:close/>
                </a:path>
              </a:pathLst>
            </a:custGeom>
            <a:solidFill>
              <a:srgbClr val="00BC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81225" y="3819524"/>
              <a:ext cx="228599" cy="228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553575" y="3819524"/>
              <a:ext cx="228599" cy="2285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33487" y="1843087"/>
              <a:ext cx="4876800" cy="1600200"/>
            </a:xfrm>
            <a:custGeom>
              <a:avLst/>
              <a:gdLst/>
              <a:ahLst/>
              <a:cxnLst/>
              <a:rect l="l" t="t" r="r" b="b"/>
              <a:pathLst>
                <a:path w="4876800" h="1600200">
                  <a:moveTo>
                    <a:pt x="4810052" y="1600199"/>
                  </a:moveTo>
                  <a:lnTo>
                    <a:pt x="66746" y="1600199"/>
                  </a:lnTo>
                  <a:lnTo>
                    <a:pt x="62101" y="1599742"/>
                  </a:lnTo>
                  <a:lnTo>
                    <a:pt x="24240" y="1582592"/>
                  </a:lnTo>
                  <a:lnTo>
                    <a:pt x="2287" y="1547299"/>
                  </a:lnTo>
                  <a:lnTo>
                    <a:pt x="0" y="1533452"/>
                  </a:lnTo>
                  <a:lnTo>
                    <a:pt x="0" y="15287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810052" y="0"/>
                  </a:lnTo>
                  <a:lnTo>
                    <a:pt x="4848950" y="14645"/>
                  </a:lnTo>
                  <a:lnTo>
                    <a:pt x="4873156" y="48432"/>
                  </a:lnTo>
                  <a:lnTo>
                    <a:pt x="4876799" y="66746"/>
                  </a:lnTo>
                  <a:lnTo>
                    <a:pt x="4876799" y="1533452"/>
                  </a:lnTo>
                  <a:lnTo>
                    <a:pt x="4862153" y="1572350"/>
                  </a:lnTo>
                  <a:lnTo>
                    <a:pt x="4828366" y="1596556"/>
                  </a:lnTo>
                  <a:lnTo>
                    <a:pt x="4814698" y="1599742"/>
                  </a:lnTo>
                  <a:lnTo>
                    <a:pt x="4810052" y="1600199"/>
                  </a:lnTo>
                  <a:close/>
                </a:path>
              </a:pathLst>
            </a:custGeom>
            <a:solidFill>
              <a:srgbClr val="2337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33487" y="1843087"/>
              <a:ext cx="4876800" cy="1600200"/>
            </a:xfrm>
            <a:custGeom>
              <a:avLst/>
              <a:gdLst/>
              <a:ahLst/>
              <a:cxnLst/>
              <a:rect l="l" t="t" r="r" b="b"/>
              <a:pathLst>
                <a:path w="4876800" h="1600200">
                  <a:moveTo>
                    <a:pt x="0" y="15287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9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805362" y="0"/>
                  </a:lnTo>
                  <a:lnTo>
                    <a:pt x="4810052" y="0"/>
                  </a:lnTo>
                  <a:lnTo>
                    <a:pt x="4814698" y="457"/>
                  </a:lnTo>
                  <a:lnTo>
                    <a:pt x="4819298" y="1372"/>
                  </a:lnTo>
                  <a:lnTo>
                    <a:pt x="4823899" y="2287"/>
                  </a:lnTo>
                  <a:lnTo>
                    <a:pt x="4828366" y="3642"/>
                  </a:lnTo>
                  <a:lnTo>
                    <a:pt x="4832699" y="5437"/>
                  </a:lnTo>
                  <a:lnTo>
                    <a:pt x="4837033" y="7232"/>
                  </a:lnTo>
                  <a:lnTo>
                    <a:pt x="4841150" y="9433"/>
                  </a:lnTo>
                  <a:lnTo>
                    <a:pt x="4845050" y="12039"/>
                  </a:lnTo>
                  <a:lnTo>
                    <a:pt x="4848950" y="14645"/>
                  </a:lnTo>
                  <a:lnTo>
                    <a:pt x="4852558" y="17606"/>
                  </a:lnTo>
                  <a:lnTo>
                    <a:pt x="4855875" y="20923"/>
                  </a:lnTo>
                  <a:lnTo>
                    <a:pt x="4859192" y="24240"/>
                  </a:lnTo>
                  <a:lnTo>
                    <a:pt x="4871361" y="44099"/>
                  </a:lnTo>
                  <a:lnTo>
                    <a:pt x="4873156" y="48432"/>
                  </a:lnTo>
                  <a:lnTo>
                    <a:pt x="4874511" y="52900"/>
                  </a:lnTo>
                  <a:lnTo>
                    <a:pt x="4875426" y="57500"/>
                  </a:lnTo>
                  <a:lnTo>
                    <a:pt x="4876342" y="62101"/>
                  </a:lnTo>
                  <a:lnTo>
                    <a:pt x="4876799" y="66746"/>
                  </a:lnTo>
                  <a:lnTo>
                    <a:pt x="4876799" y="71437"/>
                  </a:lnTo>
                  <a:lnTo>
                    <a:pt x="4876799" y="1528762"/>
                  </a:lnTo>
                  <a:lnTo>
                    <a:pt x="4876799" y="1533452"/>
                  </a:lnTo>
                  <a:lnTo>
                    <a:pt x="4876342" y="1538098"/>
                  </a:lnTo>
                  <a:lnTo>
                    <a:pt x="4875426" y="1542699"/>
                  </a:lnTo>
                  <a:lnTo>
                    <a:pt x="4874511" y="1547299"/>
                  </a:lnTo>
                  <a:lnTo>
                    <a:pt x="4873156" y="1551766"/>
                  </a:lnTo>
                  <a:lnTo>
                    <a:pt x="4871361" y="1556099"/>
                  </a:lnTo>
                  <a:lnTo>
                    <a:pt x="4869566" y="1560433"/>
                  </a:lnTo>
                  <a:lnTo>
                    <a:pt x="4867366" y="1564549"/>
                  </a:lnTo>
                  <a:lnTo>
                    <a:pt x="4864759" y="1568450"/>
                  </a:lnTo>
                  <a:lnTo>
                    <a:pt x="4862153" y="1572350"/>
                  </a:lnTo>
                  <a:lnTo>
                    <a:pt x="4845050" y="1588159"/>
                  </a:lnTo>
                  <a:lnTo>
                    <a:pt x="4841150" y="1590765"/>
                  </a:lnTo>
                  <a:lnTo>
                    <a:pt x="4819298" y="1598826"/>
                  </a:lnTo>
                  <a:lnTo>
                    <a:pt x="4814698" y="1599742"/>
                  </a:lnTo>
                  <a:lnTo>
                    <a:pt x="4810052" y="1600199"/>
                  </a:lnTo>
                  <a:lnTo>
                    <a:pt x="4805362" y="1600199"/>
                  </a:lnTo>
                  <a:lnTo>
                    <a:pt x="71437" y="1600199"/>
                  </a:lnTo>
                  <a:lnTo>
                    <a:pt x="66746" y="1600199"/>
                  </a:lnTo>
                  <a:lnTo>
                    <a:pt x="62101" y="1599742"/>
                  </a:lnTo>
                  <a:lnTo>
                    <a:pt x="57500" y="1598826"/>
                  </a:lnTo>
                  <a:lnTo>
                    <a:pt x="52900" y="1597911"/>
                  </a:lnTo>
                  <a:lnTo>
                    <a:pt x="17606" y="1575958"/>
                  </a:lnTo>
                  <a:lnTo>
                    <a:pt x="12039" y="1568450"/>
                  </a:lnTo>
                  <a:lnTo>
                    <a:pt x="9433" y="1564549"/>
                  </a:lnTo>
                  <a:lnTo>
                    <a:pt x="7232" y="1560433"/>
                  </a:lnTo>
                  <a:lnTo>
                    <a:pt x="5437" y="1556099"/>
                  </a:lnTo>
                  <a:lnTo>
                    <a:pt x="3642" y="1551766"/>
                  </a:lnTo>
                  <a:lnTo>
                    <a:pt x="2287" y="1547299"/>
                  </a:lnTo>
                  <a:lnTo>
                    <a:pt x="1372" y="1542699"/>
                  </a:lnTo>
                  <a:lnTo>
                    <a:pt x="457" y="1538098"/>
                  </a:lnTo>
                  <a:lnTo>
                    <a:pt x="0" y="1533452"/>
                  </a:lnTo>
                  <a:lnTo>
                    <a:pt x="0" y="1528762"/>
                  </a:lnTo>
                  <a:close/>
                </a:path>
              </a:pathLst>
            </a:custGeom>
            <a:ln w="9524">
              <a:solidFill>
                <a:srgbClr val="3A4A5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35099" y="2076704"/>
            <a:ext cx="18923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-26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当前</a:t>
            </a:r>
            <a:r>
              <a:rPr sz="2350" b="1" spc="-26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：固</a:t>
            </a:r>
            <a:r>
              <a:rPr sz="2350" b="1" spc="-28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定团队</a:t>
            </a:r>
            <a:endParaRPr sz="23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5099" y="2616847"/>
            <a:ext cx="4311650" cy="577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95"/>
              </a:spcBef>
            </a:pPr>
            <a:r>
              <a:rPr sz="1500" spc="-15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使用预先定义好角色的子智能体，团队成员和职责是固定</a:t>
            </a:r>
            <a:r>
              <a:rPr sz="1500" spc="-1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90999" y="1768157"/>
            <a:ext cx="7163118" cy="4813616"/>
            <a:chOff x="4190999" y="1768157"/>
            <a:chExt cx="7163118" cy="4813616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0999" y="4190999"/>
              <a:ext cx="3914774" cy="23907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77304" y="1791017"/>
              <a:ext cx="4876800" cy="2028825"/>
            </a:xfrm>
            <a:custGeom>
              <a:avLst/>
              <a:gdLst/>
              <a:ahLst/>
              <a:cxnLst/>
              <a:rect l="l" t="t" r="r" b="b"/>
              <a:pathLst>
                <a:path w="4876800" h="2028825">
                  <a:moveTo>
                    <a:pt x="4876800" y="66751"/>
                  </a:moveTo>
                  <a:lnTo>
                    <a:pt x="4862157" y="27851"/>
                  </a:lnTo>
                  <a:lnTo>
                    <a:pt x="4828375" y="3644"/>
                  </a:lnTo>
                  <a:lnTo>
                    <a:pt x="4810061" y="0"/>
                  </a:lnTo>
                  <a:lnTo>
                    <a:pt x="66751" y="0"/>
                  </a:lnTo>
                  <a:lnTo>
                    <a:pt x="27851" y="14655"/>
                  </a:lnTo>
                  <a:lnTo>
                    <a:pt x="3644" y="48437"/>
                  </a:lnTo>
                  <a:lnTo>
                    <a:pt x="0" y="1957387"/>
                  </a:lnTo>
                  <a:lnTo>
                    <a:pt x="12" y="1962086"/>
                  </a:lnTo>
                  <a:lnTo>
                    <a:pt x="14655" y="2000986"/>
                  </a:lnTo>
                  <a:lnTo>
                    <a:pt x="48437" y="2025192"/>
                  </a:lnTo>
                  <a:lnTo>
                    <a:pt x="66751" y="2028825"/>
                  </a:lnTo>
                  <a:lnTo>
                    <a:pt x="4810061" y="2028825"/>
                  </a:lnTo>
                  <a:lnTo>
                    <a:pt x="4848961" y="2014181"/>
                  </a:lnTo>
                  <a:lnTo>
                    <a:pt x="4873168" y="1980399"/>
                  </a:lnTo>
                  <a:lnTo>
                    <a:pt x="4876800" y="1962086"/>
                  </a:lnTo>
                  <a:lnTo>
                    <a:pt x="4876800" y="66751"/>
                  </a:lnTo>
                  <a:close/>
                </a:path>
              </a:pathLst>
            </a:custGeom>
            <a:solidFill>
              <a:srgbClr val="2337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77317" y="1768157"/>
              <a:ext cx="4876800" cy="2028825"/>
            </a:xfrm>
            <a:custGeom>
              <a:avLst/>
              <a:gdLst/>
              <a:ahLst/>
              <a:cxnLst/>
              <a:rect l="l" t="t" r="r" b="b"/>
              <a:pathLst>
                <a:path w="4876800" h="2028825">
                  <a:moveTo>
                    <a:pt x="0" y="19573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805362" y="0"/>
                  </a:lnTo>
                  <a:lnTo>
                    <a:pt x="4810052" y="0"/>
                  </a:lnTo>
                  <a:lnTo>
                    <a:pt x="4814697" y="457"/>
                  </a:lnTo>
                  <a:lnTo>
                    <a:pt x="4819297" y="1372"/>
                  </a:lnTo>
                  <a:lnTo>
                    <a:pt x="4823898" y="2287"/>
                  </a:lnTo>
                  <a:lnTo>
                    <a:pt x="4845049" y="12038"/>
                  </a:lnTo>
                  <a:lnTo>
                    <a:pt x="4848950" y="14644"/>
                  </a:lnTo>
                  <a:lnTo>
                    <a:pt x="4852558" y="17606"/>
                  </a:lnTo>
                  <a:lnTo>
                    <a:pt x="4855875" y="20923"/>
                  </a:lnTo>
                  <a:lnTo>
                    <a:pt x="4859192" y="24239"/>
                  </a:lnTo>
                  <a:lnTo>
                    <a:pt x="4862152" y="27848"/>
                  </a:lnTo>
                  <a:lnTo>
                    <a:pt x="4864758" y="31748"/>
                  </a:lnTo>
                  <a:lnTo>
                    <a:pt x="4867364" y="35648"/>
                  </a:lnTo>
                  <a:lnTo>
                    <a:pt x="4876799" y="71437"/>
                  </a:lnTo>
                  <a:lnTo>
                    <a:pt x="4876799" y="1957387"/>
                  </a:lnTo>
                  <a:lnTo>
                    <a:pt x="4876798" y="1962077"/>
                  </a:lnTo>
                  <a:lnTo>
                    <a:pt x="4876340" y="1966723"/>
                  </a:lnTo>
                  <a:lnTo>
                    <a:pt x="4875425" y="1971323"/>
                  </a:lnTo>
                  <a:lnTo>
                    <a:pt x="4874510" y="1975924"/>
                  </a:lnTo>
                  <a:lnTo>
                    <a:pt x="4855875" y="2007901"/>
                  </a:lnTo>
                  <a:lnTo>
                    <a:pt x="4852558" y="2011217"/>
                  </a:lnTo>
                  <a:lnTo>
                    <a:pt x="4848950" y="2014179"/>
                  </a:lnTo>
                  <a:lnTo>
                    <a:pt x="4845049" y="2016784"/>
                  </a:lnTo>
                  <a:lnTo>
                    <a:pt x="4841149" y="2019391"/>
                  </a:lnTo>
                  <a:lnTo>
                    <a:pt x="4819297" y="2027451"/>
                  </a:lnTo>
                  <a:lnTo>
                    <a:pt x="4814697" y="2028367"/>
                  </a:lnTo>
                  <a:lnTo>
                    <a:pt x="4810052" y="2028824"/>
                  </a:lnTo>
                  <a:lnTo>
                    <a:pt x="4805362" y="2028824"/>
                  </a:lnTo>
                  <a:lnTo>
                    <a:pt x="71437" y="2028824"/>
                  </a:lnTo>
                  <a:lnTo>
                    <a:pt x="66746" y="2028824"/>
                  </a:lnTo>
                  <a:lnTo>
                    <a:pt x="62100" y="2028367"/>
                  </a:lnTo>
                  <a:lnTo>
                    <a:pt x="57500" y="2027451"/>
                  </a:lnTo>
                  <a:lnTo>
                    <a:pt x="52900" y="2026535"/>
                  </a:lnTo>
                  <a:lnTo>
                    <a:pt x="31748" y="2016784"/>
                  </a:lnTo>
                  <a:lnTo>
                    <a:pt x="27848" y="2014179"/>
                  </a:lnTo>
                  <a:lnTo>
                    <a:pt x="24239" y="2011217"/>
                  </a:lnTo>
                  <a:lnTo>
                    <a:pt x="20923" y="2007901"/>
                  </a:lnTo>
                  <a:lnTo>
                    <a:pt x="17606" y="2004584"/>
                  </a:lnTo>
                  <a:lnTo>
                    <a:pt x="14645" y="2000975"/>
                  </a:lnTo>
                  <a:lnTo>
                    <a:pt x="12039" y="1997075"/>
                  </a:lnTo>
                  <a:lnTo>
                    <a:pt x="9433" y="1993175"/>
                  </a:lnTo>
                  <a:lnTo>
                    <a:pt x="0" y="1962077"/>
                  </a:lnTo>
                  <a:lnTo>
                    <a:pt x="0" y="1957387"/>
                  </a:lnTo>
                  <a:close/>
                </a:path>
              </a:pathLst>
            </a:custGeom>
            <a:ln w="9524">
              <a:solidFill>
                <a:srgbClr val="3A4A5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857999" y="2036699"/>
            <a:ext cx="4311650" cy="1537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31415">
              <a:lnSpc>
                <a:spcPct val="100000"/>
              </a:lnSpc>
              <a:spcBef>
                <a:spcPts val="120"/>
              </a:spcBef>
            </a:pPr>
            <a:r>
              <a:rPr sz="2350" b="1" spc="-26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未来</a:t>
            </a:r>
            <a:r>
              <a:rPr sz="2350" b="1" spc="-26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：</a:t>
            </a:r>
            <a:r>
              <a:rPr sz="2350" b="1" spc="-27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按需生成</a:t>
            </a:r>
            <a:endParaRPr sz="235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R="5080" algn="r">
              <a:lnSpc>
                <a:spcPct val="100000"/>
              </a:lnSpc>
              <a:spcBef>
                <a:spcPts val="1655"/>
              </a:spcBef>
            </a:pPr>
            <a:r>
              <a:rPr sz="1700" spc="-210" dirty="0">
                <a:solidFill>
                  <a:srgbClr val="00B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动态创建</a:t>
            </a:r>
            <a:r>
              <a:rPr sz="1700" spc="919" dirty="0">
                <a:solidFill>
                  <a:srgbClr val="00B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700" spc="-210" dirty="0">
                <a:solidFill>
                  <a:srgbClr val="00B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特种任务小组</a:t>
            </a:r>
            <a:r>
              <a:rPr sz="1700" spc="869" dirty="0">
                <a:solidFill>
                  <a:srgbClr val="00BCD4"/>
                </a:solidFill>
                <a:latin typeface="Arial" panose="020B0604020202020204"/>
                <a:cs typeface="Arial" panose="020B0604020202020204"/>
              </a:rPr>
              <a:t>”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R="5080" algn="r">
              <a:lnSpc>
                <a:spcPct val="100000"/>
              </a:lnSpc>
              <a:spcBef>
                <a:spcPts val="1385"/>
              </a:spcBef>
            </a:pPr>
            <a:r>
              <a:rPr sz="1500" spc="-12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主智能体根据子任务的实际需求，</a:t>
            </a:r>
            <a:r>
              <a:rPr sz="1500" spc="3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动态地</a:t>
            </a:r>
            <a:r>
              <a:rPr sz="1500" spc="850" dirty="0">
                <a:solidFill>
                  <a:srgbClr val="C4C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14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生成最合适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5080" algn="r">
              <a:lnSpc>
                <a:spcPct val="100000"/>
              </a:lnSpc>
              <a:spcBef>
                <a:spcPts val="375"/>
              </a:spcBef>
            </a:pPr>
            <a:r>
              <a:rPr sz="1500" spc="-14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的、定制化的子智能体。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300" y="556894"/>
            <a:ext cx="5359400" cy="5422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核</a:t>
            </a:r>
            <a:r>
              <a:rPr spc="-370" dirty="0"/>
              <a:t>心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挑</a:t>
            </a:r>
            <a:r>
              <a:rPr spc="-370" dirty="0"/>
              <a:t>战</a:t>
            </a: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：</a:t>
            </a:r>
            <a:r>
              <a:rPr spc="-370" dirty="0"/>
              <a:t>高效协同与安全可</a:t>
            </a:r>
            <a:r>
              <a:rPr spc="-420" dirty="0">
                <a:latin typeface="Malgun Gothic" panose="020B0503020000020004" charset="-127"/>
                <a:cs typeface="Malgun Gothic" panose="020B0503020000020004" charset="-127"/>
              </a:rPr>
              <a:t>控</a:t>
            </a:r>
            <a:endParaRPr spc="-420" dirty="0">
              <a:latin typeface="Malgun Gothic" panose="020B0503020000020004" charset="-127"/>
              <a:cs typeface="Malgun Gothic" panose="020B0503020000020004" charset="-127"/>
            </a:endParaRPr>
          </a:p>
        </p:txBody>
      </p:sp>
      <p:grpSp>
        <p:nvGrpSpPr>
          <p:cNvPr id="3" name="object 3"/>
          <p:cNvGrpSpPr/>
          <p:nvPr>
            <p:custDataLst>
              <p:tags r:id="rId1"/>
            </p:custDataLst>
          </p:nvPr>
        </p:nvGrpSpPr>
        <p:grpSpPr>
          <a:xfrm>
            <a:off x="1867978" y="1581149"/>
            <a:ext cx="8456043" cy="1644231"/>
            <a:chOff x="1809749" y="1581149"/>
            <a:chExt cx="8572500" cy="1666875"/>
          </a:xfrm>
        </p:grpSpPr>
        <p:sp>
          <p:nvSpPr>
            <p:cNvPr id="4" name="object 4"/>
            <p:cNvSpPr/>
            <p:nvPr>
              <p:custDataLst>
                <p:tags r:id="rId2"/>
              </p:custDataLst>
            </p:nvPr>
          </p:nvSpPr>
          <p:spPr>
            <a:xfrm>
              <a:off x="1814512" y="1585912"/>
              <a:ext cx="8562975" cy="1657350"/>
            </a:xfrm>
            <a:custGeom>
              <a:avLst/>
              <a:gdLst/>
              <a:ahLst/>
              <a:cxnLst/>
              <a:rect l="l" t="t" r="r" b="b"/>
              <a:pathLst>
                <a:path w="8562975" h="1657350">
                  <a:moveTo>
                    <a:pt x="8496227" y="1657349"/>
                  </a:moveTo>
                  <a:lnTo>
                    <a:pt x="66746" y="1657349"/>
                  </a:lnTo>
                  <a:lnTo>
                    <a:pt x="62101" y="1656892"/>
                  </a:lnTo>
                  <a:lnTo>
                    <a:pt x="24240" y="1639742"/>
                  </a:lnTo>
                  <a:lnTo>
                    <a:pt x="2287" y="1604449"/>
                  </a:lnTo>
                  <a:lnTo>
                    <a:pt x="0" y="1590602"/>
                  </a:lnTo>
                  <a:lnTo>
                    <a:pt x="0" y="15859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1590602"/>
                  </a:lnTo>
                  <a:lnTo>
                    <a:pt x="8548327" y="1629500"/>
                  </a:lnTo>
                  <a:lnTo>
                    <a:pt x="8514540" y="1653706"/>
                  </a:lnTo>
                  <a:lnTo>
                    <a:pt x="8500872" y="1656892"/>
                  </a:lnTo>
                  <a:lnTo>
                    <a:pt x="8496227" y="1657349"/>
                  </a:lnTo>
                  <a:close/>
                </a:path>
              </a:pathLst>
            </a:custGeom>
            <a:solidFill>
              <a:srgbClr val="2337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>
              <p:custDataLst>
                <p:tags r:id="rId3"/>
              </p:custDataLst>
            </p:nvPr>
          </p:nvSpPr>
          <p:spPr>
            <a:xfrm>
              <a:off x="1814512" y="1585912"/>
              <a:ext cx="8562975" cy="1657350"/>
            </a:xfrm>
            <a:custGeom>
              <a:avLst/>
              <a:gdLst/>
              <a:ahLst/>
              <a:cxnLst/>
              <a:rect l="l" t="t" r="r" b="b"/>
              <a:pathLst>
                <a:path w="8562975" h="1657350">
                  <a:moveTo>
                    <a:pt x="0" y="15859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2"/>
                  </a:lnTo>
                  <a:lnTo>
                    <a:pt x="8510074" y="2287"/>
                  </a:lnTo>
                  <a:lnTo>
                    <a:pt x="8531223" y="12039"/>
                  </a:lnTo>
                  <a:lnTo>
                    <a:pt x="8535124" y="14645"/>
                  </a:lnTo>
                  <a:lnTo>
                    <a:pt x="8550933" y="31748"/>
                  </a:lnTo>
                  <a:lnTo>
                    <a:pt x="8553538" y="35648"/>
                  </a:lnTo>
                  <a:lnTo>
                    <a:pt x="8562974" y="71437"/>
                  </a:lnTo>
                  <a:lnTo>
                    <a:pt x="8562974" y="1585912"/>
                  </a:lnTo>
                  <a:lnTo>
                    <a:pt x="8562973" y="1590602"/>
                  </a:lnTo>
                  <a:lnTo>
                    <a:pt x="8562515" y="1595248"/>
                  </a:lnTo>
                  <a:lnTo>
                    <a:pt x="8561599" y="1599848"/>
                  </a:lnTo>
                  <a:lnTo>
                    <a:pt x="8560684" y="1604449"/>
                  </a:lnTo>
                  <a:lnTo>
                    <a:pt x="8538732" y="1639742"/>
                  </a:lnTo>
                  <a:lnTo>
                    <a:pt x="8531223" y="1645309"/>
                  </a:lnTo>
                  <a:lnTo>
                    <a:pt x="8527324" y="1647915"/>
                  </a:lnTo>
                  <a:lnTo>
                    <a:pt x="8491536" y="1657349"/>
                  </a:lnTo>
                  <a:lnTo>
                    <a:pt x="71437" y="1657349"/>
                  </a:lnTo>
                  <a:lnTo>
                    <a:pt x="31749" y="1645309"/>
                  </a:lnTo>
                  <a:lnTo>
                    <a:pt x="27848" y="1642703"/>
                  </a:lnTo>
                  <a:lnTo>
                    <a:pt x="24240" y="1639742"/>
                  </a:lnTo>
                  <a:lnTo>
                    <a:pt x="20923" y="1636425"/>
                  </a:lnTo>
                  <a:lnTo>
                    <a:pt x="17606" y="1633108"/>
                  </a:lnTo>
                  <a:lnTo>
                    <a:pt x="14645" y="1629500"/>
                  </a:lnTo>
                  <a:lnTo>
                    <a:pt x="12039" y="1625600"/>
                  </a:lnTo>
                  <a:lnTo>
                    <a:pt x="9433" y="1621700"/>
                  </a:lnTo>
                  <a:lnTo>
                    <a:pt x="1372" y="1599848"/>
                  </a:lnTo>
                  <a:lnTo>
                    <a:pt x="457" y="1595248"/>
                  </a:lnTo>
                  <a:lnTo>
                    <a:pt x="0" y="1590602"/>
                  </a:lnTo>
                  <a:lnTo>
                    <a:pt x="0" y="1585912"/>
                  </a:lnTo>
                  <a:close/>
                </a:path>
              </a:pathLst>
            </a:custGeom>
            <a:ln w="9524">
              <a:solidFill>
                <a:srgbClr val="3A4A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>
              <p:custDataLst>
                <p:tags r:id="rId4"/>
              </p:custDataLst>
            </p:nvPr>
          </p:nvSpPr>
          <p:spPr>
            <a:xfrm>
              <a:off x="2114549" y="1885949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276224" y="552449"/>
                  </a:moveTo>
                  <a:lnTo>
                    <a:pt x="235694" y="549460"/>
                  </a:lnTo>
                  <a:lnTo>
                    <a:pt x="196040" y="540555"/>
                  </a:lnTo>
                  <a:lnTo>
                    <a:pt x="158123" y="525929"/>
                  </a:lnTo>
                  <a:lnTo>
                    <a:pt x="122762" y="505897"/>
                  </a:lnTo>
                  <a:lnTo>
                    <a:pt x="90723" y="480894"/>
                  </a:lnTo>
                  <a:lnTo>
                    <a:pt x="62699" y="451460"/>
                  </a:lnTo>
                  <a:lnTo>
                    <a:pt x="39298" y="418233"/>
                  </a:lnTo>
                  <a:lnTo>
                    <a:pt x="21026" y="381931"/>
                  </a:lnTo>
                  <a:lnTo>
                    <a:pt x="8277" y="343342"/>
                  </a:lnTo>
                  <a:lnTo>
                    <a:pt x="1330" y="303299"/>
                  </a:lnTo>
                  <a:lnTo>
                    <a:pt x="0" y="276224"/>
                  </a:lnTo>
                  <a:lnTo>
                    <a:pt x="332" y="262671"/>
                  </a:lnTo>
                  <a:lnTo>
                    <a:pt x="5307" y="222335"/>
                  </a:lnTo>
                  <a:lnTo>
                    <a:pt x="16146" y="183167"/>
                  </a:lnTo>
                  <a:lnTo>
                    <a:pt x="32616" y="146013"/>
                  </a:lnTo>
                  <a:lnTo>
                    <a:pt x="54358" y="111677"/>
                  </a:lnTo>
                  <a:lnTo>
                    <a:pt x="80904" y="80904"/>
                  </a:lnTo>
                  <a:lnTo>
                    <a:pt x="111677" y="54358"/>
                  </a:lnTo>
                  <a:lnTo>
                    <a:pt x="146013" y="32616"/>
                  </a:lnTo>
                  <a:lnTo>
                    <a:pt x="183167" y="16146"/>
                  </a:lnTo>
                  <a:lnTo>
                    <a:pt x="222335" y="5307"/>
                  </a:lnTo>
                  <a:lnTo>
                    <a:pt x="262671" y="332"/>
                  </a:lnTo>
                  <a:lnTo>
                    <a:pt x="276224" y="0"/>
                  </a:lnTo>
                  <a:lnTo>
                    <a:pt x="289778" y="332"/>
                  </a:lnTo>
                  <a:lnTo>
                    <a:pt x="330113" y="5307"/>
                  </a:lnTo>
                  <a:lnTo>
                    <a:pt x="369282" y="16146"/>
                  </a:lnTo>
                  <a:lnTo>
                    <a:pt x="406436" y="32616"/>
                  </a:lnTo>
                  <a:lnTo>
                    <a:pt x="440772" y="54358"/>
                  </a:lnTo>
                  <a:lnTo>
                    <a:pt x="471545" y="80904"/>
                  </a:lnTo>
                  <a:lnTo>
                    <a:pt x="498090" y="111677"/>
                  </a:lnTo>
                  <a:lnTo>
                    <a:pt x="519833" y="146013"/>
                  </a:lnTo>
                  <a:lnTo>
                    <a:pt x="536302" y="183167"/>
                  </a:lnTo>
                  <a:lnTo>
                    <a:pt x="547141" y="222335"/>
                  </a:lnTo>
                  <a:lnTo>
                    <a:pt x="552117" y="262671"/>
                  </a:lnTo>
                  <a:lnTo>
                    <a:pt x="552449" y="276224"/>
                  </a:lnTo>
                  <a:lnTo>
                    <a:pt x="552117" y="289778"/>
                  </a:lnTo>
                  <a:lnTo>
                    <a:pt x="547141" y="330113"/>
                  </a:lnTo>
                  <a:lnTo>
                    <a:pt x="536302" y="369282"/>
                  </a:lnTo>
                  <a:lnTo>
                    <a:pt x="519833" y="406436"/>
                  </a:lnTo>
                  <a:lnTo>
                    <a:pt x="498091" y="440772"/>
                  </a:lnTo>
                  <a:lnTo>
                    <a:pt x="471545" y="471545"/>
                  </a:lnTo>
                  <a:lnTo>
                    <a:pt x="440772" y="498091"/>
                  </a:lnTo>
                  <a:lnTo>
                    <a:pt x="406436" y="519833"/>
                  </a:lnTo>
                  <a:lnTo>
                    <a:pt x="369282" y="536302"/>
                  </a:lnTo>
                  <a:lnTo>
                    <a:pt x="330113" y="547142"/>
                  </a:lnTo>
                  <a:lnTo>
                    <a:pt x="289778" y="552117"/>
                  </a:lnTo>
                  <a:lnTo>
                    <a:pt x="276224" y="552449"/>
                  </a:lnTo>
                  <a:close/>
                </a:path>
              </a:pathLst>
            </a:custGeom>
            <a:solidFill>
              <a:srgbClr val="1A2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>
              <p:custDataLst>
                <p:tags r:id="rId5"/>
              </p:custDataLst>
            </p:nvPr>
          </p:nvSpPr>
          <p:spPr>
            <a:xfrm>
              <a:off x="2114549" y="1885949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449" y="276224"/>
                  </a:moveTo>
                  <a:lnTo>
                    <a:pt x="549460" y="316755"/>
                  </a:lnTo>
                  <a:lnTo>
                    <a:pt x="540555" y="356408"/>
                  </a:lnTo>
                  <a:lnTo>
                    <a:pt x="525929" y="394326"/>
                  </a:lnTo>
                  <a:lnTo>
                    <a:pt x="505897" y="429687"/>
                  </a:lnTo>
                  <a:lnTo>
                    <a:pt x="480894" y="461726"/>
                  </a:lnTo>
                  <a:lnTo>
                    <a:pt x="451460" y="489749"/>
                  </a:lnTo>
                  <a:lnTo>
                    <a:pt x="418232" y="513151"/>
                  </a:lnTo>
                  <a:lnTo>
                    <a:pt x="381931" y="531423"/>
                  </a:lnTo>
                  <a:lnTo>
                    <a:pt x="343342" y="544171"/>
                  </a:lnTo>
                  <a:lnTo>
                    <a:pt x="303299" y="551119"/>
                  </a:lnTo>
                  <a:lnTo>
                    <a:pt x="276224" y="552449"/>
                  </a:lnTo>
                  <a:lnTo>
                    <a:pt x="269444" y="552366"/>
                  </a:lnTo>
                  <a:lnTo>
                    <a:pt x="229002" y="548383"/>
                  </a:lnTo>
                  <a:lnTo>
                    <a:pt x="189576" y="538507"/>
                  </a:lnTo>
                  <a:lnTo>
                    <a:pt x="152032" y="522956"/>
                  </a:lnTo>
                  <a:lnTo>
                    <a:pt x="117170" y="502061"/>
                  </a:lnTo>
                  <a:lnTo>
                    <a:pt x="85758" y="476281"/>
                  </a:lnTo>
                  <a:lnTo>
                    <a:pt x="58462" y="446165"/>
                  </a:lnTo>
                  <a:lnTo>
                    <a:pt x="35885" y="412377"/>
                  </a:lnTo>
                  <a:lnTo>
                    <a:pt x="18508" y="375635"/>
                  </a:lnTo>
                  <a:lnTo>
                    <a:pt x="6711" y="336748"/>
                  </a:lnTo>
                  <a:lnTo>
                    <a:pt x="748" y="296543"/>
                  </a:lnTo>
                  <a:lnTo>
                    <a:pt x="0" y="276224"/>
                  </a:lnTo>
                  <a:lnTo>
                    <a:pt x="83" y="269444"/>
                  </a:lnTo>
                  <a:lnTo>
                    <a:pt x="4066" y="229002"/>
                  </a:lnTo>
                  <a:lnTo>
                    <a:pt x="13942" y="189576"/>
                  </a:lnTo>
                  <a:lnTo>
                    <a:pt x="29493" y="152032"/>
                  </a:lnTo>
                  <a:lnTo>
                    <a:pt x="50388" y="117170"/>
                  </a:lnTo>
                  <a:lnTo>
                    <a:pt x="76168" y="85758"/>
                  </a:lnTo>
                  <a:lnTo>
                    <a:pt x="106284" y="58462"/>
                  </a:lnTo>
                  <a:lnTo>
                    <a:pt x="140072" y="35886"/>
                  </a:lnTo>
                  <a:lnTo>
                    <a:pt x="176814" y="18508"/>
                  </a:lnTo>
                  <a:lnTo>
                    <a:pt x="215701" y="6712"/>
                  </a:lnTo>
                  <a:lnTo>
                    <a:pt x="255906" y="748"/>
                  </a:lnTo>
                  <a:lnTo>
                    <a:pt x="276224" y="0"/>
                  </a:lnTo>
                  <a:lnTo>
                    <a:pt x="283005" y="83"/>
                  </a:lnTo>
                  <a:lnTo>
                    <a:pt x="323446" y="4066"/>
                  </a:lnTo>
                  <a:lnTo>
                    <a:pt x="362873" y="13942"/>
                  </a:lnTo>
                  <a:lnTo>
                    <a:pt x="400417" y="29493"/>
                  </a:lnTo>
                  <a:lnTo>
                    <a:pt x="435279" y="50388"/>
                  </a:lnTo>
                  <a:lnTo>
                    <a:pt x="466691" y="76168"/>
                  </a:lnTo>
                  <a:lnTo>
                    <a:pt x="493987" y="106284"/>
                  </a:lnTo>
                  <a:lnTo>
                    <a:pt x="516563" y="140072"/>
                  </a:lnTo>
                  <a:lnTo>
                    <a:pt x="533941" y="176814"/>
                  </a:lnTo>
                  <a:lnTo>
                    <a:pt x="545737" y="215701"/>
                  </a:lnTo>
                  <a:lnTo>
                    <a:pt x="551702" y="255906"/>
                  </a:lnTo>
                  <a:lnTo>
                    <a:pt x="552449" y="276224"/>
                  </a:lnTo>
                  <a:close/>
                </a:path>
              </a:pathLst>
            </a:custGeom>
            <a:ln w="19049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>
            <p:custDataLst>
              <p:tags r:id="rId6"/>
            </p:custDataLst>
          </p:nvPr>
        </p:nvSpPr>
        <p:spPr>
          <a:xfrm>
            <a:off x="2945340" y="1863269"/>
            <a:ext cx="1077362" cy="3765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-26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高</a:t>
            </a:r>
            <a:r>
              <a:rPr sz="2350" b="1" spc="-26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效协</a:t>
            </a:r>
            <a:r>
              <a:rPr sz="2350" b="1" spc="-31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同</a:t>
            </a:r>
            <a:endParaRPr sz="235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9" name="object 9"/>
          <p:cNvSpPr txBox="1"/>
          <p:nvPr>
            <p:custDataLst>
              <p:tags r:id="rId7"/>
            </p:custDataLst>
          </p:nvPr>
        </p:nvSpPr>
        <p:spPr>
          <a:xfrm>
            <a:off x="2945340" y="2311513"/>
            <a:ext cx="6959010" cy="607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000"/>
              </a:lnSpc>
              <a:spcBef>
                <a:spcPts val="95"/>
              </a:spcBef>
            </a:pP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如何让众多子智能体之间进行有效的信息共享和沟通，避免信息孤岛或冗余工作？（</a:t>
            </a:r>
            <a:r>
              <a:rPr sz="1500" spc="-16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例如：建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立共享的</a:t>
            </a:r>
            <a:r>
              <a:rPr sz="1500" b="1" spc="600" dirty="0">
                <a:solidFill>
                  <a:srgbClr val="00BCD4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500" b="1" spc="-150" dirty="0">
                <a:solidFill>
                  <a:srgbClr val="00B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项目</a:t>
            </a:r>
            <a:r>
              <a:rPr sz="1500" b="1" spc="-150" dirty="0">
                <a:solidFill>
                  <a:srgbClr val="00BCD4"/>
                </a:solidFill>
                <a:latin typeface="Malgun Gothic" panose="020B0503020000020004" charset="-127"/>
                <a:cs typeface="Malgun Gothic" panose="020B0503020000020004" charset="-127"/>
              </a:rPr>
              <a:t>文</a:t>
            </a:r>
            <a:r>
              <a:rPr sz="1500" b="1" spc="-150" dirty="0">
                <a:solidFill>
                  <a:srgbClr val="00B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档</a:t>
            </a:r>
            <a:r>
              <a:rPr sz="1500" b="1" spc="600" dirty="0">
                <a:solidFill>
                  <a:srgbClr val="00BCD4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机制</a:t>
            </a:r>
            <a:r>
              <a:rPr sz="1500" spc="-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" name="object 10"/>
          <p:cNvGrpSpPr/>
          <p:nvPr>
            <p:custDataLst>
              <p:tags r:id="rId8"/>
            </p:custDataLst>
          </p:nvPr>
        </p:nvGrpSpPr>
        <p:grpSpPr>
          <a:xfrm>
            <a:off x="1867978" y="3507248"/>
            <a:ext cx="8456043" cy="1362362"/>
            <a:chOff x="1809749" y="3533774"/>
            <a:chExt cx="8572500" cy="1381125"/>
          </a:xfrm>
        </p:grpSpPr>
        <p:sp>
          <p:nvSpPr>
            <p:cNvPr id="11" name="object 11"/>
            <p:cNvSpPr/>
            <p:nvPr>
              <p:custDataLst>
                <p:tags r:id="rId9"/>
              </p:custDataLst>
            </p:nvPr>
          </p:nvSpPr>
          <p:spPr>
            <a:xfrm>
              <a:off x="1814512" y="3538537"/>
              <a:ext cx="8562975" cy="1371600"/>
            </a:xfrm>
            <a:custGeom>
              <a:avLst/>
              <a:gdLst/>
              <a:ahLst/>
              <a:cxnLst/>
              <a:rect l="l" t="t" r="r" b="b"/>
              <a:pathLst>
                <a:path w="8562975" h="1371600">
                  <a:moveTo>
                    <a:pt x="8496227" y="1371599"/>
                  </a:moveTo>
                  <a:lnTo>
                    <a:pt x="66746" y="1371599"/>
                  </a:lnTo>
                  <a:lnTo>
                    <a:pt x="62101" y="1371141"/>
                  </a:lnTo>
                  <a:lnTo>
                    <a:pt x="24240" y="1353992"/>
                  </a:lnTo>
                  <a:lnTo>
                    <a:pt x="2287" y="1318699"/>
                  </a:lnTo>
                  <a:lnTo>
                    <a:pt x="0" y="1304852"/>
                  </a:lnTo>
                  <a:lnTo>
                    <a:pt x="0" y="13001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7" y="0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3" y="66746"/>
                  </a:lnTo>
                  <a:lnTo>
                    <a:pt x="8562973" y="1304852"/>
                  </a:lnTo>
                  <a:lnTo>
                    <a:pt x="8548327" y="1343750"/>
                  </a:lnTo>
                  <a:lnTo>
                    <a:pt x="8514540" y="1367956"/>
                  </a:lnTo>
                  <a:lnTo>
                    <a:pt x="8500872" y="1371141"/>
                  </a:lnTo>
                  <a:lnTo>
                    <a:pt x="8496227" y="1371599"/>
                  </a:lnTo>
                  <a:close/>
                </a:path>
              </a:pathLst>
            </a:custGeom>
            <a:solidFill>
              <a:srgbClr val="2337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>
              <p:custDataLst>
                <p:tags r:id="rId10"/>
              </p:custDataLst>
            </p:nvPr>
          </p:nvSpPr>
          <p:spPr>
            <a:xfrm>
              <a:off x="1814512" y="3538537"/>
              <a:ext cx="8562975" cy="1371600"/>
            </a:xfrm>
            <a:custGeom>
              <a:avLst/>
              <a:gdLst/>
              <a:ahLst/>
              <a:cxnLst/>
              <a:rect l="l" t="t" r="r" b="b"/>
              <a:pathLst>
                <a:path w="8562975" h="1371600">
                  <a:moveTo>
                    <a:pt x="0" y="13001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9" y="9433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7" y="0"/>
                  </a:lnTo>
                  <a:lnTo>
                    <a:pt x="8500872" y="457"/>
                  </a:lnTo>
                  <a:lnTo>
                    <a:pt x="8505473" y="1372"/>
                  </a:lnTo>
                  <a:lnTo>
                    <a:pt x="8510074" y="2287"/>
                  </a:lnTo>
                  <a:lnTo>
                    <a:pt x="8531223" y="12039"/>
                  </a:lnTo>
                  <a:lnTo>
                    <a:pt x="8535124" y="14645"/>
                  </a:lnTo>
                  <a:lnTo>
                    <a:pt x="8559330" y="48432"/>
                  </a:lnTo>
                  <a:lnTo>
                    <a:pt x="8562974" y="71437"/>
                  </a:lnTo>
                  <a:lnTo>
                    <a:pt x="8562974" y="1300162"/>
                  </a:lnTo>
                  <a:lnTo>
                    <a:pt x="8562973" y="1304852"/>
                  </a:lnTo>
                  <a:lnTo>
                    <a:pt x="8562515" y="1309498"/>
                  </a:lnTo>
                  <a:lnTo>
                    <a:pt x="8561599" y="1314098"/>
                  </a:lnTo>
                  <a:lnTo>
                    <a:pt x="8560684" y="1318699"/>
                  </a:lnTo>
                  <a:lnTo>
                    <a:pt x="8550933" y="1339850"/>
                  </a:lnTo>
                  <a:lnTo>
                    <a:pt x="8548327" y="1343750"/>
                  </a:lnTo>
                  <a:lnTo>
                    <a:pt x="8531223" y="1359560"/>
                  </a:lnTo>
                  <a:lnTo>
                    <a:pt x="8527324" y="1362166"/>
                  </a:lnTo>
                  <a:lnTo>
                    <a:pt x="8505473" y="1370226"/>
                  </a:lnTo>
                  <a:lnTo>
                    <a:pt x="8500872" y="1371141"/>
                  </a:lnTo>
                  <a:lnTo>
                    <a:pt x="8496227" y="1371599"/>
                  </a:lnTo>
                  <a:lnTo>
                    <a:pt x="8491536" y="1371599"/>
                  </a:lnTo>
                  <a:lnTo>
                    <a:pt x="71437" y="1371599"/>
                  </a:lnTo>
                  <a:lnTo>
                    <a:pt x="66746" y="1371599"/>
                  </a:lnTo>
                  <a:lnTo>
                    <a:pt x="62101" y="1371141"/>
                  </a:lnTo>
                  <a:lnTo>
                    <a:pt x="57500" y="1370226"/>
                  </a:lnTo>
                  <a:lnTo>
                    <a:pt x="52900" y="1369311"/>
                  </a:lnTo>
                  <a:lnTo>
                    <a:pt x="48433" y="1367956"/>
                  </a:lnTo>
                  <a:lnTo>
                    <a:pt x="44099" y="1366161"/>
                  </a:lnTo>
                  <a:lnTo>
                    <a:pt x="39765" y="1364366"/>
                  </a:lnTo>
                  <a:lnTo>
                    <a:pt x="35649" y="1362166"/>
                  </a:lnTo>
                  <a:lnTo>
                    <a:pt x="31749" y="1359559"/>
                  </a:lnTo>
                  <a:lnTo>
                    <a:pt x="27848" y="1356954"/>
                  </a:lnTo>
                  <a:lnTo>
                    <a:pt x="24240" y="1353992"/>
                  </a:lnTo>
                  <a:lnTo>
                    <a:pt x="20923" y="1350676"/>
                  </a:lnTo>
                  <a:lnTo>
                    <a:pt x="17606" y="1347359"/>
                  </a:lnTo>
                  <a:lnTo>
                    <a:pt x="14645" y="1343750"/>
                  </a:lnTo>
                  <a:lnTo>
                    <a:pt x="12039" y="1339850"/>
                  </a:lnTo>
                  <a:lnTo>
                    <a:pt x="9433" y="1335950"/>
                  </a:lnTo>
                  <a:lnTo>
                    <a:pt x="7232" y="1331833"/>
                  </a:lnTo>
                  <a:lnTo>
                    <a:pt x="5437" y="1327499"/>
                  </a:lnTo>
                  <a:lnTo>
                    <a:pt x="3642" y="1323166"/>
                  </a:lnTo>
                  <a:lnTo>
                    <a:pt x="2287" y="1318699"/>
                  </a:lnTo>
                  <a:lnTo>
                    <a:pt x="1372" y="1314098"/>
                  </a:lnTo>
                  <a:lnTo>
                    <a:pt x="457" y="1309498"/>
                  </a:lnTo>
                  <a:lnTo>
                    <a:pt x="0" y="1304852"/>
                  </a:lnTo>
                  <a:lnTo>
                    <a:pt x="0" y="1300162"/>
                  </a:lnTo>
                  <a:close/>
                </a:path>
              </a:pathLst>
            </a:custGeom>
            <a:ln w="9524">
              <a:solidFill>
                <a:srgbClr val="3A4A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>
              <p:custDataLst>
                <p:tags r:id="rId11"/>
              </p:custDataLst>
            </p:nvPr>
          </p:nvSpPr>
          <p:spPr>
            <a:xfrm>
              <a:off x="2114549" y="3838574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276224" y="552449"/>
                  </a:moveTo>
                  <a:lnTo>
                    <a:pt x="235694" y="549460"/>
                  </a:lnTo>
                  <a:lnTo>
                    <a:pt x="196040" y="540555"/>
                  </a:lnTo>
                  <a:lnTo>
                    <a:pt x="158123" y="525929"/>
                  </a:lnTo>
                  <a:lnTo>
                    <a:pt x="122762" y="505896"/>
                  </a:lnTo>
                  <a:lnTo>
                    <a:pt x="90723" y="480894"/>
                  </a:lnTo>
                  <a:lnTo>
                    <a:pt x="62699" y="451459"/>
                  </a:lnTo>
                  <a:lnTo>
                    <a:pt x="39298" y="418232"/>
                  </a:lnTo>
                  <a:lnTo>
                    <a:pt x="21026" y="381931"/>
                  </a:lnTo>
                  <a:lnTo>
                    <a:pt x="8277" y="343341"/>
                  </a:lnTo>
                  <a:lnTo>
                    <a:pt x="1330" y="303299"/>
                  </a:lnTo>
                  <a:lnTo>
                    <a:pt x="0" y="276224"/>
                  </a:lnTo>
                  <a:lnTo>
                    <a:pt x="332" y="262671"/>
                  </a:lnTo>
                  <a:lnTo>
                    <a:pt x="5307" y="222335"/>
                  </a:lnTo>
                  <a:lnTo>
                    <a:pt x="16146" y="183166"/>
                  </a:lnTo>
                  <a:lnTo>
                    <a:pt x="32616" y="146012"/>
                  </a:lnTo>
                  <a:lnTo>
                    <a:pt x="54358" y="111677"/>
                  </a:lnTo>
                  <a:lnTo>
                    <a:pt x="80904" y="80904"/>
                  </a:lnTo>
                  <a:lnTo>
                    <a:pt x="111677" y="54358"/>
                  </a:lnTo>
                  <a:lnTo>
                    <a:pt x="146013" y="32616"/>
                  </a:lnTo>
                  <a:lnTo>
                    <a:pt x="183167" y="16146"/>
                  </a:lnTo>
                  <a:lnTo>
                    <a:pt x="222335" y="5307"/>
                  </a:lnTo>
                  <a:lnTo>
                    <a:pt x="262671" y="332"/>
                  </a:lnTo>
                  <a:lnTo>
                    <a:pt x="276224" y="0"/>
                  </a:lnTo>
                  <a:lnTo>
                    <a:pt x="289778" y="332"/>
                  </a:lnTo>
                  <a:lnTo>
                    <a:pt x="330113" y="5307"/>
                  </a:lnTo>
                  <a:lnTo>
                    <a:pt x="369282" y="16147"/>
                  </a:lnTo>
                  <a:lnTo>
                    <a:pt x="406436" y="32616"/>
                  </a:lnTo>
                  <a:lnTo>
                    <a:pt x="440772" y="54358"/>
                  </a:lnTo>
                  <a:lnTo>
                    <a:pt x="471545" y="80904"/>
                  </a:lnTo>
                  <a:lnTo>
                    <a:pt x="498090" y="111677"/>
                  </a:lnTo>
                  <a:lnTo>
                    <a:pt x="519833" y="146012"/>
                  </a:lnTo>
                  <a:lnTo>
                    <a:pt x="536302" y="183166"/>
                  </a:lnTo>
                  <a:lnTo>
                    <a:pt x="547141" y="222335"/>
                  </a:lnTo>
                  <a:lnTo>
                    <a:pt x="552117" y="262671"/>
                  </a:lnTo>
                  <a:lnTo>
                    <a:pt x="552449" y="276224"/>
                  </a:lnTo>
                  <a:lnTo>
                    <a:pt x="552117" y="289778"/>
                  </a:lnTo>
                  <a:lnTo>
                    <a:pt x="547141" y="330113"/>
                  </a:lnTo>
                  <a:lnTo>
                    <a:pt x="536302" y="369282"/>
                  </a:lnTo>
                  <a:lnTo>
                    <a:pt x="519833" y="406436"/>
                  </a:lnTo>
                  <a:lnTo>
                    <a:pt x="498091" y="440771"/>
                  </a:lnTo>
                  <a:lnTo>
                    <a:pt x="471545" y="471544"/>
                  </a:lnTo>
                  <a:lnTo>
                    <a:pt x="440772" y="498090"/>
                  </a:lnTo>
                  <a:lnTo>
                    <a:pt x="406436" y="519833"/>
                  </a:lnTo>
                  <a:lnTo>
                    <a:pt x="369282" y="536302"/>
                  </a:lnTo>
                  <a:lnTo>
                    <a:pt x="330113" y="547142"/>
                  </a:lnTo>
                  <a:lnTo>
                    <a:pt x="289778" y="552117"/>
                  </a:lnTo>
                  <a:lnTo>
                    <a:pt x="276224" y="552449"/>
                  </a:lnTo>
                  <a:close/>
                </a:path>
              </a:pathLst>
            </a:custGeom>
            <a:solidFill>
              <a:srgbClr val="1A2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>
              <p:custDataLst>
                <p:tags r:id="rId12"/>
              </p:custDataLst>
            </p:nvPr>
          </p:nvSpPr>
          <p:spPr>
            <a:xfrm>
              <a:off x="2114549" y="3838574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449" y="276224"/>
                  </a:moveTo>
                  <a:lnTo>
                    <a:pt x="549460" y="316755"/>
                  </a:lnTo>
                  <a:lnTo>
                    <a:pt x="540555" y="356408"/>
                  </a:lnTo>
                  <a:lnTo>
                    <a:pt x="525929" y="394325"/>
                  </a:lnTo>
                  <a:lnTo>
                    <a:pt x="505897" y="429686"/>
                  </a:lnTo>
                  <a:lnTo>
                    <a:pt x="480894" y="461725"/>
                  </a:lnTo>
                  <a:lnTo>
                    <a:pt x="451460" y="489749"/>
                  </a:lnTo>
                  <a:lnTo>
                    <a:pt x="418232" y="513151"/>
                  </a:lnTo>
                  <a:lnTo>
                    <a:pt x="381931" y="531423"/>
                  </a:lnTo>
                  <a:lnTo>
                    <a:pt x="343342" y="544171"/>
                  </a:lnTo>
                  <a:lnTo>
                    <a:pt x="303299" y="551119"/>
                  </a:lnTo>
                  <a:lnTo>
                    <a:pt x="276224" y="552449"/>
                  </a:lnTo>
                  <a:lnTo>
                    <a:pt x="269444" y="552366"/>
                  </a:lnTo>
                  <a:lnTo>
                    <a:pt x="229002" y="548383"/>
                  </a:lnTo>
                  <a:lnTo>
                    <a:pt x="189576" y="538507"/>
                  </a:lnTo>
                  <a:lnTo>
                    <a:pt x="152032" y="522956"/>
                  </a:lnTo>
                  <a:lnTo>
                    <a:pt x="117170" y="502060"/>
                  </a:lnTo>
                  <a:lnTo>
                    <a:pt x="85758" y="476281"/>
                  </a:lnTo>
                  <a:lnTo>
                    <a:pt x="58462" y="446165"/>
                  </a:lnTo>
                  <a:lnTo>
                    <a:pt x="35885" y="412377"/>
                  </a:lnTo>
                  <a:lnTo>
                    <a:pt x="18508" y="375634"/>
                  </a:lnTo>
                  <a:lnTo>
                    <a:pt x="6711" y="336747"/>
                  </a:lnTo>
                  <a:lnTo>
                    <a:pt x="748" y="296543"/>
                  </a:lnTo>
                  <a:lnTo>
                    <a:pt x="0" y="276224"/>
                  </a:lnTo>
                  <a:lnTo>
                    <a:pt x="83" y="269443"/>
                  </a:lnTo>
                  <a:lnTo>
                    <a:pt x="4066" y="229002"/>
                  </a:lnTo>
                  <a:lnTo>
                    <a:pt x="13942" y="189575"/>
                  </a:lnTo>
                  <a:lnTo>
                    <a:pt x="29493" y="152032"/>
                  </a:lnTo>
                  <a:lnTo>
                    <a:pt x="50388" y="117170"/>
                  </a:lnTo>
                  <a:lnTo>
                    <a:pt x="76168" y="85757"/>
                  </a:lnTo>
                  <a:lnTo>
                    <a:pt x="106284" y="58462"/>
                  </a:lnTo>
                  <a:lnTo>
                    <a:pt x="140072" y="35885"/>
                  </a:lnTo>
                  <a:lnTo>
                    <a:pt x="176814" y="18507"/>
                  </a:lnTo>
                  <a:lnTo>
                    <a:pt x="215701" y="6711"/>
                  </a:lnTo>
                  <a:lnTo>
                    <a:pt x="255906" y="748"/>
                  </a:lnTo>
                  <a:lnTo>
                    <a:pt x="276224" y="0"/>
                  </a:lnTo>
                  <a:lnTo>
                    <a:pt x="283005" y="83"/>
                  </a:lnTo>
                  <a:lnTo>
                    <a:pt x="323446" y="4066"/>
                  </a:lnTo>
                  <a:lnTo>
                    <a:pt x="362873" y="13942"/>
                  </a:lnTo>
                  <a:lnTo>
                    <a:pt x="400417" y="29493"/>
                  </a:lnTo>
                  <a:lnTo>
                    <a:pt x="435279" y="50388"/>
                  </a:lnTo>
                  <a:lnTo>
                    <a:pt x="466691" y="76168"/>
                  </a:lnTo>
                  <a:lnTo>
                    <a:pt x="493987" y="106283"/>
                  </a:lnTo>
                  <a:lnTo>
                    <a:pt x="516563" y="140071"/>
                  </a:lnTo>
                  <a:lnTo>
                    <a:pt x="533941" y="176814"/>
                  </a:lnTo>
                  <a:lnTo>
                    <a:pt x="545737" y="215701"/>
                  </a:lnTo>
                  <a:lnTo>
                    <a:pt x="551702" y="255906"/>
                  </a:lnTo>
                  <a:lnTo>
                    <a:pt x="552449" y="276224"/>
                  </a:lnTo>
                  <a:close/>
                </a:path>
              </a:pathLst>
            </a:custGeom>
            <a:ln w="19049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>
            <p:custDataLst>
              <p:tags r:id="rId13"/>
            </p:custDataLst>
          </p:nvPr>
        </p:nvSpPr>
        <p:spPr>
          <a:xfrm>
            <a:off x="2945340" y="3789366"/>
            <a:ext cx="1077362" cy="3765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-26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精</a:t>
            </a:r>
            <a:r>
              <a:rPr sz="2350" b="1" spc="-26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准</a:t>
            </a:r>
            <a:r>
              <a:rPr sz="2350" b="1" spc="-28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控制</a:t>
            </a:r>
            <a:endParaRPr sz="235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16" name="object 16"/>
          <p:cNvSpPr txBox="1"/>
          <p:nvPr>
            <p:custDataLst>
              <p:tags r:id="rId14"/>
            </p:custDataLst>
          </p:nvPr>
        </p:nvSpPr>
        <p:spPr>
          <a:xfrm>
            <a:off x="2945340" y="4299548"/>
            <a:ext cx="6961515" cy="246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如何设计最优的指令</a:t>
            </a:r>
            <a:r>
              <a:rPr sz="1500" spc="-1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500" spc="-1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P</a:t>
            </a:r>
            <a:r>
              <a:rPr sz="1500" spc="-13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r</a:t>
            </a:r>
            <a:r>
              <a:rPr sz="1500" spc="-1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om</a:t>
            </a:r>
            <a:r>
              <a:rPr sz="1500" spc="-14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p</a:t>
            </a:r>
            <a:r>
              <a:rPr sz="1500" spc="-1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t</a:t>
            </a:r>
            <a:r>
              <a:rPr sz="1500" spc="-86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，以最小的沟通成本，实现对子智能体最精确的引导和控制？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7" name="object 17"/>
          <p:cNvGrpSpPr/>
          <p:nvPr>
            <p:custDataLst>
              <p:tags r:id="rId15"/>
            </p:custDataLst>
          </p:nvPr>
        </p:nvGrpSpPr>
        <p:grpSpPr>
          <a:xfrm>
            <a:off x="1868170" y="5151755"/>
            <a:ext cx="8456295" cy="1550670"/>
            <a:chOff x="1809749" y="5200649"/>
            <a:chExt cx="8572500" cy="1662430"/>
          </a:xfrm>
        </p:grpSpPr>
        <p:sp>
          <p:nvSpPr>
            <p:cNvPr id="18" name="object 18"/>
            <p:cNvSpPr/>
            <p:nvPr>
              <p:custDataLst>
                <p:tags r:id="rId16"/>
              </p:custDataLst>
            </p:nvPr>
          </p:nvSpPr>
          <p:spPr>
            <a:xfrm>
              <a:off x="1814512" y="5205411"/>
              <a:ext cx="8562975" cy="1652905"/>
            </a:xfrm>
            <a:custGeom>
              <a:avLst/>
              <a:gdLst/>
              <a:ahLst/>
              <a:cxnLst/>
              <a:rect l="l" t="t" r="r" b="b"/>
              <a:pathLst>
                <a:path w="8562975" h="1652904">
                  <a:moveTo>
                    <a:pt x="8517241" y="1652587"/>
                  </a:moveTo>
                  <a:lnTo>
                    <a:pt x="45731" y="1652587"/>
                  </a:lnTo>
                  <a:lnTo>
                    <a:pt x="39765" y="1650116"/>
                  </a:lnTo>
                  <a:lnTo>
                    <a:pt x="9433" y="1621700"/>
                  </a:lnTo>
                  <a:lnTo>
                    <a:pt x="0" y="159060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496226" y="0"/>
                  </a:lnTo>
                  <a:lnTo>
                    <a:pt x="8535124" y="14645"/>
                  </a:lnTo>
                  <a:lnTo>
                    <a:pt x="8559329" y="48433"/>
                  </a:lnTo>
                  <a:lnTo>
                    <a:pt x="8562972" y="66746"/>
                  </a:lnTo>
                  <a:lnTo>
                    <a:pt x="8562972" y="1590602"/>
                  </a:lnTo>
                  <a:lnTo>
                    <a:pt x="8548327" y="1629500"/>
                  </a:lnTo>
                  <a:lnTo>
                    <a:pt x="8517241" y="1652587"/>
                  </a:lnTo>
                  <a:close/>
                </a:path>
              </a:pathLst>
            </a:custGeom>
            <a:solidFill>
              <a:srgbClr val="2337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>
              <p:custDataLst>
                <p:tags r:id="rId17"/>
              </p:custDataLst>
            </p:nvPr>
          </p:nvSpPr>
          <p:spPr>
            <a:xfrm>
              <a:off x="1814512" y="5205411"/>
              <a:ext cx="8562975" cy="1652905"/>
            </a:xfrm>
            <a:custGeom>
              <a:avLst/>
              <a:gdLst/>
              <a:ahLst/>
              <a:cxnLst/>
              <a:rect l="l" t="t" r="r" b="b"/>
              <a:pathLst>
                <a:path w="8562975" h="1652904">
                  <a:moveTo>
                    <a:pt x="45731" y="1652587"/>
                  </a:moveTo>
                  <a:lnTo>
                    <a:pt x="20923" y="1636426"/>
                  </a:lnTo>
                  <a:lnTo>
                    <a:pt x="17606" y="1633109"/>
                  </a:lnTo>
                  <a:lnTo>
                    <a:pt x="14645" y="1629500"/>
                  </a:lnTo>
                  <a:lnTo>
                    <a:pt x="12039" y="1625600"/>
                  </a:lnTo>
                  <a:lnTo>
                    <a:pt x="9433" y="1621700"/>
                  </a:lnTo>
                  <a:lnTo>
                    <a:pt x="1372" y="1599848"/>
                  </a:lnTo>
                  <a:lnTo>
                    <a:pt x="457" y="1595247"/>
                  </a:lnTo>
                  <a:lnTo>
                    <a:pt x="0" y="1590602"/>
                  </a:lnTo>
                  <a:lnTo>
                    <a:pt x="0" y="1585912"/>
                  </a:ln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91536" y="0"/>
                  </a:lnTo>
                  <a:lnTo>
                    <a:pt x="8496226" y="0"/>
                  </a:lnTo>
                  <a:lnTo>
                    <a:pt x="8500871" y="457"/>
                  </a:lnTo>
                  <a:lnTo>
                    <a:pt x="8531223" y="12038"/>
                  </a:lnTo>
                  <a:lnTo>
                    <a:pt x="8535124" y="14645"/>
                  </a:lnTo>
                  <a:lnTo>
                    <a:pt x="8559329" y="48433"/>
                  </a:lnTo>
                  <a:lnTo>
                    <a:pt x="8562973" y="71437"/>
                  </a:lnTo>
                  <a:lnTo>
                    <a:pt x="8562973" y="1585912"/>
                  </a:lnTo>
                  <a:lnTo>
                    <a:pt x="8550932" y="1625600"/>
                  </a:lnTo>
                  <a:lnTo>
                    <a:pt x="8531223" y="1645310"/>
                  </a:lnTo>
                  <a:lnTo>
                    <a:pt x="8527323" y="1647916"/>
                  </a:lnTo>
                  <a:lnTo>
                    <a:pt x="8523206" y="1650116"/>
                  </a:lnTo>
                  <a:lnTo>
                    <a:pt x="8518873" y="1651911"/>
                  </a:lnTo>
                  <a:lnTo>
                    <a:pt x="8517241" y="1652587"/>
                  </a:lnTo>
                </a:path>
              </a:pathLst>
            </a:custGeom>
            <a:ln w="9524">
              <a:solidFill>
                <a:srgbClr val="3A4A5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>
              <p:custDataLst>
                <p:tags r:id="rId18"/>
              </p:custDataLst>
            </p:nvPr>
          </p:nvSpPr>
          <p:spPr>
            <a:xfrm>
              <a:off x="2114549" y="5505449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276224" y="552449"/>
                  </a:moveTo>
                  <a:lnTo>
                    <a:pt x="235694" y="549460"/>
                  </a:lnTo>
                  <a:lnTo>
                    <a:pt x="196040" y="540556"/>
                  </a:lnTo>
                  <a:lnTo>
                    <a:pt x="158123" y="525929"/>
                  </a:lnTo>
                  <a:lnTo>
                    <a:pt x="122762" y="505897"/>
                  </a:lnTo>
                  <a:lnTo>
                    <a:pt x="90723" y="480894"/>
                  </a:lnTo>
                  <a:lnTo>
                    <a:pt x="62699" y="451460"/>
                  </a:lnTo>
                  <a:lnTo>
                    <a:pt x="39298" y="418233"/>
                  </a:lnTo>
                  <a:lnTo>
                    <a:pt x="21026" y="381931"/>
                  </a:lnTo>
                  <a:lnTo>
                    <a:pt x="8277" y="343341"/>
                  </a:lnTo>
                  <a:lnTo>
                    <a:pt x="1330" y="303299"/>
                  </a:lnTo>
                  <a:lnTo>
                    <a:pt x="0" y="276224"/>
                  </a:lnTo>
                  <a:lnTo>
                    <a:pt x="332" y="262671"/>
                  </a:lnTo>
                  <a:lnTo>
                    <a:pt x="5307" y="222335"/>
                  </a:lnTo>
                  <a:lnTo>
                    <a:pt x="16146" y="183166"/>
                  </a:lnTo>
                  <a:lnTo>
                    <a:pt x="32616" y="146013"/>
                  </a:lnTo>
                  <a:lnTo>
                    <a:pt x="54358" y="111677"/>
                  </a:lnTo>
                  <a:lnTo>
                    <a:pt x="80904" y="80903"/>
                  </a:lnTo>
                  <a:lnTo>
                    <a:pt x="111677" y="54358"/>
                  </a:lnTo>
                  <a:lnTo>
                    <a:pt x="146013" y="32616"/>
                  </a:lnTo>
                  <a:lnTo>
                    <a:pt x="183167" y="16146"/>
                  </a:lnTo>
                  <a:lnTo>
                    <a:pt x="222335" y="5307"/>
                  </a:lnTo>
                  <a:lnTo>
                    <a:pt x="262671" y="332"/>
                  </a:lnTo>
                  <a:lnTo>
                    <a:pt x="276224" y="0"/>
                  </a:lnTo>
                  <a:lnTo>
                    <a:pt x="289778" y="332"/>
                  </a:lnTo>
                  <a:lnTo>
                    <a:pt x="330113" y="5307"/>
                  </a:lnTo>
                  <a:lnTo>
                    <a:pt x="369282" y="16145"/>
                  </a:lnTo>
                  <a:lnTo>
                    <a:pt x="406436" y="32616"/>
                  </a:lnTo>
                  <a:lnTo>
                    <a:pt x="440772" y="54358"/>
                  </a:lnTo>
                  <a:lnTo>
                    <a:pt x="471545" y="80903"/>
                  </a:lnTo>
                  <a:lnTo>
                    <a:pt x="498090" y="111677"/>
                  </a:lnTo>
                  <a:lnTo>
                    <a:pt x="519833" y="146013"/>
                  </a:lnTo>
                  <a:lnTo>
                    <a:pt x="536302" y="183166"/>
                  </a:lnTo>
                  <a:lnTo>
                    <a:pt x="547141" y="222335"/>
                  </a:lnTo>
                  <a:lnTo>
                    <a:pt x="552117" y="262671"/>
                  </a:lnTo>
                  <a:lnTo>
                    <a:pt x="552449" y="276224"/>
                  </a:lnTo>
                  <a:lnTo>
                    <a:pt x="552117" y="289778"/>
                  </a:lnTo>
                  <a:lnTo>
                    <a:pt x="547141" y="330113"/>
                  </a:lnTo>
                  <a:lnTo>
                    <a:pt x="536302" y="369282"/>
                  </a:lnTo>
                  <a:lnTo>
                    <a:pt x="519833" y="406436"/>
                  </a:lnTo>
                  <a:lnTo>
                    <a:pt x="498091" y="440772"/>
                  </a:lnTo>
                  <a:lnTo>
                    <a:pt x="471545" y="471545"/>
                  </a:lnTo>
                  <a:lnTo>
                    <a:pt x="440772" y="498091"/>
                  </a:lnTo>
                  <a:lnTo>
                    <a:pt x="406436" y="519833"/>
                  </a:lnTo>
                  <a:lnTo>
                    <a:pt x="369282" y="536303"/>
                  </a:lnTo>
                  <a:lnTo>
                    <a:pt x="330113" y="547142"/>
                  </a:lnTo>
                  <a:lnTo>
                    <a:pt x="289778" y="552117"/>
                  </a:lnTo>
                  <a:lnTo>
                    <a:pt x="276224" y="552449"/>
                  </a:lnTo>
                  <a:close/>
                </a:path>
              </a:pathLst>
            </a:custGeom>
            <a:solidFill>
              <a:srgbClr val="1A2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>
              <p:custDataLst>
                <p:tags r:id="rId19"/>
              </p:custDataLst>
            </p:nvPr>
          </p:nvSpPr>
          <p:spPr>
            <a:xfrm>
              <a:off x="2114549" y="5505449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449" y="276224"/>
                  </a:moveTo>
                  <a:lnTo>
                    <a:pt x="549460" y="316755"/>
                  </a:lnTo>
                  <a:lnTo>
                    <a:pt x="540555" y="356408"/>
                  </a:lnTo>
                  <a:lnTo>
                    <a:pt x="525929" y="394326"/>
                  </a:lnTo>
                  <a:lnTo>
                    <a:pt x="505897" y="429687"/>
                  </a:lnTo>
                  <a:lnTo>
                    <a:pt x="480894" y="461726"/>
                  </a:lnTo>
                  <a:lnTo>
                    <a:pt x="451460" y="489749"/>
                  </a:lnTo>
                  <a:lnTo>
                    <a:pt x="418232" y="513151"/>
                  </a:lnTo>
                  <a:lnTo>
                    <a:pt x="381931" y="531423"/>
                  </a:lnTo>
                  <a:lnTo>
                    <a:pt x="343342" y="544172"/>
                  </a:lnTo>
                  <a:lnTo>
                    <a:pt x="303299" y="551120"/>
                  </a:lnTo>
                  <a:lnTo>
                    <a:pt x="276224" y="552449"/>
                  </a:lnTo>
                  <a:lnTo>
                    <a:pt x="269444" y="552366"/>
                  </a:lnTo>
                  <a:lnTo>
                    <a:pt x="229002" y="548383"/>
                  </a:lnTo>
                  <a:lnTo>
                    <a:pt x="189576" y="538508"/>
                  </a:lnTo>
                  <a:lnTo>
                    <a:pt x="152032" y="522956"/>
                  </a:lnTo>
                  <a:lnTo>
                    <a:pt x="117170" y="502061"/>
                  </a:lnTo>
                  <a:lnTo>
                    <a:pt x="85758" y="476281"/>
                  </a:lnTo>
                  <a:lnTo>
                    <a:pt x="58462" y="446166"/>
                  </a:lnTo>
                  <a:lnTo>
                    <a:pt x="35885" y="412377"/>
                  </a:lnTo>
                  <a:lnTo>
                    <a:pt x="18508" y="375634"/>
                  </a:lnTo>
                  <a:lnTo>
                    <a:pt x="6711" y="336747"/>
                  </a:lnTo>
                  <a:lnTo>
                    <a:pt x="748" y="296543"/>
                  </a:lnTo>
                  <a:lnTo>
                    <a:pt x="0" y="276224"/>
                  </a:lnTo>
                  <a:lnTo>
                    <a:pt x="83" y="269444"/>
                  </a:lnTo>
                  <a:lnTo>
                    <a:pt x="4066" y="229002"/>
                  </a:lnTo>
                  <a:lnTo>
                    <a:pt x="13942" y="189575"/>
                  </a:lnTo>
                  <a:lnTo>
                    <a:pt x="29493" y="152032"/>
                  </a:lnTo>
                  <a:lnTo>
                    <a:pt x="50388" y="117170"/>
                  </a:lnTo>
                  <a:lnTo>
                    <a:pt x="76168" y="85757"/>
                  </a:lnTo>
                  <a:lnTo>
                    <a:pt x="106284" y="58462"/>
                  </a:lnTo>
                  <a:lnTo>
                    <a:pt x="140072" y="35885"/>
                  </a:lnTo>
                  <a:lnTo>
                    <a:pt x="176814" y="18507"/>
                  </a:lnTo>
                  <a:lnTo>
                    <a:pt x="215701" y="6711"/>
                  </a:lnTo>
                  <a:lnTo>
                    <a:pt x="255906" y="748"/>
                  </a:lnTo>
                  <a:lnTo>
                    <a:pt x="276224" y="0"/>
                  </a:lnTo>
                  <a:lnTo>
                    <a:pt x="283005" y="83"/>
                  </a:lnTo>
                  <a:lnTo>
                    <a:pt x="323446" y="4066"/>
                  </a:lnTo>
                  <a:lnTo>
                    <a:pt x="362873" y="13941"/>
                  </a:lnTo>
                  <a:lnTo>
                    <a:pt x="400417" y="29492"/>
                  </a:lnTo>
                  <a:lnTo>
                    <a:pt x="435279" y="50387"/>
                  </a:lnTo>
                  <a:lnTo>
                    <a:pt x="466691" y="76167"/>
                  </a:lnTo>
                  <a:lnTo>
                    <a:pt x="493987" y="106284"/>
                  </a:lnTo>
                  <a:lnTo>
                    <a:pt x="516563" y="140072"/>
                  </a:lnTo>
                  <a:lnTo>
                    <a:pt x="533941" y="176814"/>
                  </a:lnTo>
                  <a:lnTo>
                    <a:pt x="545737" y="215700"/>
                  </a:lnTo>
                  <a:lnTo>
                    <a:pt x="551702" y="255907"/>
                  </a:lnTo>
                  <a:lnTo>
                    <a:pt x="552449" y="276224"/>
                  </a:lnTo>
                  <a:close/>
                </a:path>
              </a:pathLst>
            </a:custGeom>
            <a:ln w="19049">
              <a:solidFill>
                <a:srgbClr val="00BC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>
            <p:custDataLst>
              <p:tags r:id="rId20"/>
            </p:custDataLst>
          </p:nvPr>
        </p:nvSpPr>
        <p:spPr>
          <a:xfrm>
            <a:off x="2945340" y="5433597"/>
            <a:ext cx="1077362" cy="3765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1" spc="-27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安全可控</a:t>
            </a:r>
            <a:endParaRPr sz="235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23" name="object 23"/>
          <p:cNvSpPr txBox="1"/>
          <p:nvPr>
            <p:custDataLst>
              <p:tags r:id="rId21"/>
            </p:custDataLst>
          </p:nvPr>
        </p:nvSpPr>
        <p:spPr>
          <a:xfrm>
            <a:off x="2945340" y="5891238"/>
            <a:ext cx="6959010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如何评估复杂的系统表现，并防止多个智能体之间产生不可预见的负面交互（如</a:t>
            </a:r>
            <a:r>
              <a:rPr sz="1500" b="1" spc="-150" dirty="0">
                <a:solidFill>
                  <a:srgbClr val="00BCD4"/>
                </a:solidFill>
                <a:latin typeface="Microsoft JhengHei" panose="020B0604030504040204" charset="-120"/>
                <a:cs typeface="Microsoft JhengHei" panose="020B0604030504040204" charset="-120"/>
              </a:rPr>
              <a:t>错误传递</a:t>
            </a:r>
            <a:r>
              <a:rPr sz="1500" spc="-17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、任</a:t>
            </a:r>
            <a:r>
              <a:rPr sz="1500" spc="-15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务失控</a:t>
            </a:r>
            <a:r>
              <a:rPr sz="1500" spc="-2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）？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4" name="object 24"/>
          <p:cNvPicPr/>
          <p:nvPr>
            <p:custDataLst>
              <p:tags r:id="rId22"/>
            </p:custDataLst>
          </p:nvPr>
        </p:nvPicPr>
        <p:blipFill>
          <a:blip r:embed="rId23" cstate="print"/>
          <a:stretch>
            <a:fillRect/>
          </a:stretch>
        </p:blipFill>
        <p:spPr>
          <a:xfrm>
            <a:off x="2299413" y="2050930"/>
            <a:ext cx="283571" cy="206702"/>
          </a:xfrm>
          <a:prstGeom prst="rect">
            <a:avLst/>
          </a:prstGeom>
        </p:spPr>
      </p:pic>
      <p:pic>
        <p:nvPicPr>
          <p:cNvPr id="25" name="object 25"/>
          <p:cNvPicPr/>
          <p:nvPr>
            <p:custDataLst>
              <p:tags r:id="rId24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2347139" y="3939431"/>
            <a:ext cx="187927" cy="281883"/>
          </a:xfrm>
          <a:prstGeom prst="rect">
            <a:avLst/>
          </a:prstGeom>
        </p:spPr>
      </p:pic>
      <p:sp>
        <p:nvSpPr>
          <p:cNvPr id="26" name="object 26"/>
          <p:cNvSpPr/>
          <p:nvPr>
            <p:custDataLst>
              <p:tags r:id="rId26"/>
            </p:custDataLst>
          </p:nvPr>
        </p:nvSpPr>
        <p:spPr>
          <a:xfrm>
            <a:off x="2319495" y="5602467"/>
            <a:ext cx="243659" cy="244286"/>
          </a:xfrm>
          <a:custGeom>
            <a:avLst/>
            <a:gdLst/>
            <a:ahLst/>
            <a:cxnLst/>
            <a:rect l="l" t="t" r="r" b="b"/>
            <a:pathLst>
              <a:path w="247014" h="247650">
                <a:moveTo>
                  <a:pt x="170914" y="76199"/>
                </a:moveTo>
                <a:lnTo>
                  <a:pt x="104953" y="152399"/>
                </a:lnTo>
                <a:lnTo>
                  <a:pt x="75664" y="123705"/>
                </a:lnTo>
              </a:path>
              <a:path w="247014" h="247650">
                <a:moveTo>
                  <a:pt x="246578" y="38320"/>
                </a:moveTo>
                <a:lnTo>
                  <a:pt x="211613" y="31355"/>
                </a:lnTo>
                <a:lnTo>
                  <a:pt x="182989" y="23716"/>
                </a:lnTo>
                <a:lnTo>
                  <a:pt x="155337" y="13799"/>
                </a:lnTo>
                <a:lnTo>
                  <a:pt x="123289" y="0"/>
                </a:lnTo>
                <a:lnTo>
                  <a:pt x="91241" y="13799"/>
                </a:lnTo>
                <a:lnTo>
                  <a:pt x="63589" y="23716"/>
                </a:lnTo>
                <a:lnTo>
                  <a:pt x="34964" y="31355"/>
                </a:lnTo>
                <a:lnTo>
                  <a:pt x="0" y="38320"/>
                </a:lnTo>
                <a:lnTo>
                  <a:pt x="5146" y="106643"/>
                </a:lnTo>
                <a:lnTo>
                  <a:pt x="25637" y="159703"/>
                </a:lnTo>
                <a:lnTo>
                  <a:pt x="54585" y="198918"/>
                </a:lnTo>
                <a:lnTo>
                  <a:pt x="85102" y="225703"/>
                </a:lnTo>
                <a:lnTo>
                  <a:pt x="123289" y="247649"/>
                </a:lnTo>
                <a:lnTo>
                  <a:pt x="136278" y="241475"/>
                </a:lnTo>
                <a:lnTo>
                  <a:pt x="191992" y="198918"/>
                </a:lnTo>
                <a:lnTo>
                  <a:pt x="220940" y="159703"/>
                </a:lnTo>
                <a:lnTo>
                  <a:pt x="241432" y="106643"/>
                </a:lnTo>
                <a:lnTo>
                  <a:pt x="246578" y="38320"/>
                </a:lnTo>
                <a:close/>
              </a:path>
            </a:pathLst>
          </a:custGeom>
          <a:ln w="19049">
            <a:solidFill>
              <a:srgbClr val="00BCD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0299" y="709294"/>
            <a:ext cx="2311400" cy="5422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>
                <a:latin typeface="Malgun Gothic" panose="020B0503020000020004" charset="-127"/>
                <a:cs typeface="Malgun Gothic" panose="020B0503020000020004" charset="-127"/>
              </a:rPr>
              <a:t>核心要点回</a:t>
            </a:r>
            <a:r>
              <a:rPr spc="-420" dirty="0"/>
              <a:t>顾</a:t>
            </a:r>
            <a:endParaRPr spc="-420" dirty="0"/>
          </a:p>
        </p:txBody>
      </p:sp>
      <p:grpSp>
        <p:nvGrpSpPr>
          <p:cNvPr id="3" name="object 3"/>
          <p:cNvGrpSpPr/>
          <p:nvPr/>
        </p:nvGrpSpPr>
        <p:grpSpPr>
          <a:xfrm>
            <a:off x="1714499" y="1733549"/>
            <a:ext cx="8763000" cy="1190625"/>
            <a:chOff x="1714499" y="1733549"/>
            <a:chExt cx="8763000" cy="1190625"/>
          </a:xfrm>
        </p:grpSpPr>
        <p:sp>
          <p:nvSpPr>
            <p:cNvPr id="4" name="object 4"/>
            <p:cNvSpPr/>
            <p:nvPr/>
          </p:nvSpPr>
          <p:spPr>
            <a:xfrm>
              <a:off x="1719262" y="1738312"/>
              <a:ext cx="8753475" cy="1181100"/>
            </a:xfrm>
            <a:custGeom>
              <a:avLst/>
              <a:gdLst/>
              <a:ahLst/>
              <a:cxnLst/>
              <a:rect l="l" t="t" r="r" b="b"/>
              <a:pathLst>
                <a:path w="8753475" h="1181100">
                  <a:moveTo>
                    <a:pt x="8686726" y="1181099"/>
                  </a:moveTo>
                  <a:lnTo>
                    <a:pt x="66746" y="1181099"/>
                  </a:lnTo>
                  <a:lnTo>
                    <a:pt x="62101" y="1180642"/>
                  </a:lnTo>
                  <a:lnTo>
                    <a:pt x="24240" y="1163492"/>
                  </a:lnTo>
                  <a:lnTo>
                    <a:pt x="2287" y="1128199"/>
                  </a:lnTo>
                  <a:lnTo>
                    <a:pt x="0" y="1114353"/>
                  </a:lnTo>
                  <a:lnTo>
                    <a:pt x="0" y="11096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686726" y="0"/>
                  </a:lnTo>
                  <a:lnTo>
                    <a:pt x="8725623" y="14645"/>
                  </a:lnTo>
                  <a:lnTo>
                    <a:pt x="8749830" y="48432"/>
                  </a:lnTo>
                  <a:lnTo>
                    <a:pt x="8753473" y="66746"/>
                  </a:lnTo>
                  <a:lnTo>
                    <a:pt x="8753473" y="1114353"/>
                  </a:lnTo>
                  <a:lnTo>
                    <a:pt x="8738828" y="1153250"/>
                  </a:lnTo>
                  <a:lnTo>
                    <a:pt x="8705040" y="1177456"/>
                  </a:lnTo>
                  <a:lnTo>
                    <a:pt x="8691371" y="1180642"/>
                  </a:lnTo>
                  <a:lnTo>
                    <a:pt x="8686726" y="1181099"/>
                  </a:lnTo>
                  <a:close/>
                </a:path>
              </a:pathLst>
            </a:custGeom>
            <a:solidFill>
              <a:srgbClr val="2333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19262" y="1738312"/>
              <a:ext cx="8753475" cy="1181100"/>
            </a:xfrm>
            <a:custGeom>
              <a:avLst/>
              <a:gdLst/>
              <a:ahLst/>
              <a:cxnLst/>
              <a:rect l="l" t="t" r="r" b="b"/>
              <a:pathLst>
                <a:path w="8753475" h="1181100">
                  <a:moveTo>
                    <a:pt x="0" y="11096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682036" y="0"/>
                  </a:lnTo>
                  <a:lnTo>
                    <a:pt x="8686726" y="0"/>
                  </a:lnTo>
                  <a:lnTo>
                    <a:pt x="8691371" y="457"/>
                  </a:lnTo>
                  <a:lnTo>
                    <a:pt x="8695971" y="1372"/>
                  </a:lnTo>
                  <a:lnTo>
                    <a:pt x="8700572" y="2287"/>
                  </a:lnTo>
                  <a:lnTo>
                    <a:pt x="8705040" y="3642"/>
                  </a:lnTo>
                  <a:lnTo>
                    <a:pt x="8709373" y="5437"/>
                  </a:lnTo>
                  <a:lnTo>
                    <a:pt x="8713706" y="7232"/>
                  </a:lnTo>
                  <a:lnTo>
                    <a:pt x="8717824" y="9433"/>
                  </a:lnTo>
                  <a:lnTo>
                    <a:pt x="8721723" y="12039"/>
                  </a:lnTo>
                  <a:lnTo>
                    <a:pt x="8725623" y="14645"/>
                  </a:lnTo>
                  <a:lnTo>
                    <a:pt x="8729232" y="17606"/>
                  </a:lnTo>
                  <a:lnTo>
                    <a:pt x="8732549" y="20923"/>
                  </a:lnTo>
                  <a:lnTo>
                    <a:pt x="8735867" y="24240"/>
                  </a:lnTo>
                  <a:lnTo>
                    <a:pt x="8738828" y="27848"/>
                  </a:lnTo>
                  <a:lnTo>
                    <a:pt x="8741434" y="31748"/>
                  </a:lnTo>
                  <a:lnTo>
                    <a:pt x="8744039" y="35648"/>
                  </a:lnTo>
                  <a:lnTo>
                    <a:pt x="8752101" y="57500"/>
                  </a:lnTo>
                  <a:lnTo>
                    <a:pt x="8753016" y="62101"/>
                  </a:lnTo>
                  <a:lnTo>
                    <a:pt x="8753473" y="66746"/>
                  </a:lnTo>
                  <a:lnTo>
                    <a:pt x="8753474" y="71437"/>
                  </a:lnTo>
                  <a:lnTo>
                    <a:pt x="8753474" y="1109662"/>
                  </a:lnTo>
                  <a:lnTo>
                    <a:pt x="8753473" y="1114353"/>
                  </a:lnTo>
                  <a:lnTo>
                    <a:pt x="8753016" y="1118998"/>
                  </a:lnTo>
                  <a:lnTo>
                    <a:pt x="8752101" y="1123599"/>
                  </a:lnTo>
                  <a:lnTo>
                    <a:pt x="8751186" y="1128199"/>
                  </a:lnTo>
                  <a:lnTo>
                    <a:pt x="8741434" y="1149350"/>
                  </a:lnTo>
                  <a:lnTo>
                    <a:pt x="8738828" y="1153250"/>
                  </a:lnTo>
                  <a:lnTo>
                    <a:pt x="8705040" y="1177456"/>
                  </a:lnTo>
                  <a:lnTo>
                    <a:pt x="8682036" y="1181099"/>
                  </a:lnTo>
                  <a:lnTo>
                    <a:pt x="71437" y="1181099"/>
                  </a:lnTo>
                  <a:lnTo>
                    <a:pt x="31748" y="1169059"/>
                  </a:lnTo>
                  <a:lnTo>
                    <a:pt x="5437" y="1137000"/>
                  </a:lnTo>
                  <a:lnTo>
                    <a:pt x="0" y="1114353"/>
                  </a:lnTo>
                  <a:lnTo>
                    <a:pt x="0" y="1109662"/>
                  </a:lnTo>
                  <a:close/>
                </a:path>
              </a:pathLst>
            </a:custGeom>
            <a:ln w="9524">
              <a:solidFill>
                <a:srgbClr val="3A49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997075" y="1879092"/>
            <a:ext cx="284480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b="1" spc="-160" dirty="0">
                <a:solidFill>
                  <a:srgbClr val="00BCD4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38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4189" y="1865159"/>
            <a:ext cx="7374890" cy="80327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2000" b="1" spc="-20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一</a:t>
            </a:r>
            <a:r>
              <a:rPr sz="2000" b="1" spc="-20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种</a:t>
            </a:r>
            <a:r>
              <a:rPr sz="2000" b="1" spc="-12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理念</a:t>
            </a:r>
            <a:endParaRPr sz="2000">
              <a:latin typeface="Malgun Gothic" panose="020B0503020000020004" charset="-127"/>
              <a:cs typeface="Malgun Gothic" panose="020B0503020000020004" charset="-127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800" spc="-18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Subagent</a:t>
            </a:r>
            <a:r>
              <a:rPr sz="1800" spc="13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的核心是将</a:t>
            </a:r>
            <a:r>
              <a:rPr sz="1800" spc="-145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AI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sz="1800" spc="-3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“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单兵</a:t>
            </a:r>
            <a:r>
              <a:rPr sz="1800" spc="-3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”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升级为</a:t>
            </a:r>
            <a:r>
              <a:rPr sz="1800" spc="-3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“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专家团队</a:t>
            </a:r>
            <a:r>
              <a:rPr sz="1800" spc="-254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”</a:t>
            </a:r>
            <a:r>
              <a:rPr sz="1700" spc="-21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，通过分工协作完成复杂任务。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14499" y="3190874"/>
            <a:ext cx="8763000" cy="1190625"/>
            <a:chOff x="1714499" y="3190874"/>
            <a:chExt cx="8763000" cy="1190625"/>
          </a:xfrm>
        </p:grpSpPr>
        <p:sp>
          <p:nvSpPr>
            <p:cNvPr id="9" name="object 9"/>
            <p:cNvSpPr/>
            <p:nvPr/>
          </p:nvSpPr>
          <p:spPr>
            <a:xfrm>
              <a:off x="1719262" y="3195637"/>
              <a:ext cx="8753475" cy="1181100"/>
            </a:xfrm>
            <a:custGeom>
              <a:avLst/>
              <a:gdLst/>
              <a:ahLst/>
              <a:cxnLst/>
              <a:rect l="l" t="t" r="r" b="b"/>
              <a:pathLst>
                <a:path w="8753475" h="1181100">
                  <a:moveTo>
                    <a:pt x="8686726" y="1181099"/>
                  </a:moveTo>
                  <a:lnTo>
                    <a:pt x="66746" y="1181099"/>
                  </a:lnTo>
                  <a:lnTo>
                    <a:pt x="62101" y="1180641"/>
                  </a:lnTo>
                  <a:lnTo>
                    <a:pt x="24240" y="1163492"/>
                  </a:lnTo>
                  <a:lnTo>
                    <a:pt x="2287" y="1128198"/>
                  </a:lnTo>
                  <a:lnTo>
                    <a:pt x="0" y="1114352"/>
                  </a:lnTo>
                  <a:lnTo>
                    <a:pt x="0" y="11096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686726" y="0"/>
                  </a:lnTo>
                  <a:lnTo>
                    <a:pt x="8725623" y="14645"/>
                  </a:lnTo>
                  <a:lnTo>
                    <a:pt x="8749830" y="48432"/>
                  </a:lnTo>
                  <a:lnTo>
                    <a:pt x="8753473" y="66746"/>
                  </a:lnTo>
                  <a:lnTo>
                    <a:pt x="8753473" y="1114352"/>
                  </a:lnTo>
                  <a:lnTo>
                    <a:pt x="8738828" y="1153250"/>
                  </a:lnTo>
                  <a:lnTo>
                    <a:pt x="8705040" y="1177456"/>
                  </a:lnTo>
                  <a:lnTo>
                    <a:pt x="8691371" y="1180642"/>
                  </a:lnTo>
                  <a:lnTo>
                    <a:pt x="8686726" y="1181099"/>
                  </a:lnTo>
                  <a:close/>
                </a:path>
              </a:pathLst>
            </a:custGeom>
            <a:solidFill>
              <a:srgbClr val="2333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19262" y="3195637"/>
              <a:ext cx="8753475" cy="1181100"/>
            </a:xfrm>
            <a:custGeom>
              <a:avLst/>
              <a:gdLst/>
              <a:ahLst/>
              <a:cxnLst/>
              <a:rect l="l" t="t" r="r" b="b"/>
              <a:pathLst>
                <a:path w="8753475" h="1181100">
                  <a:moveTo>
                    <a:pt x="0" y="11096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682036" y="0"/>
                  </a:lnTo>
                  <a:lnTo>
                    <a:pt x="8686726" y="0"/>
                  </a:lnTo>
                  <a:lnTo>
                    <a:pt x="8691371" y="457"/>
                  </a:lnTo>
                  <a:lnTo>
                    <a:pt x="8729232" y="17606"/>
                  </a:lnTo>
                  <a:lnTo>
                    <a:pt x="8732549" y="20923"/>
                  </a:lnTo>
                  <a:lnTo>
                    <a:pt x="8735867" y="24240"/>
                  </a:lnTo>
                  <a:lnTo>
                    <a:pt x="8752101" y="57500"/>
                  </a:lnTo>
                  <a:lnTo>
                    <a:pt x="8753016" y="62100"/>
                  </a:lnTo>
                  <a:lnTo>
                    <a:pt x="8753473" y="66746"/>
                  </a:lnTo>
                  <a:lnTo>
                    <a:pt x="8753474" y="71437"/>
                  </a:lnTo>
                  <a:lnTo>
                    <a:pt x="8753474" y="1109662"/>
                  </a:lnTo>
                  <a:lnTo>
                    <a:pt x="8753473" y="1114352"/>
                  </a:lnTo>
                  <a:lnTo>
                    <a:pt x="8753016" y="1118998"/>
                  </a:lnTo>
                  <a:lnTo>
                    <a:pt x="8752101" y="1123598"/>
                  </a:lnTo>
                  <a:lnTo>
                    <a:pt x="8751186" y="1128198"/>
                  </a:lnTo>
                  <a:lnTo>
                    <a:pt x="8741434" y="1149349"/>
                  </a:lnTo>
                  <a:lnTo>
                    <a:pt x="8738828" y="1153250"/>
                  </a:lnTo>
                  <a:lnTo>
                    <a:pt x="8705040" y="1177456"/>
                  </a:lnTo>
                  <a:lnTo>
                    <a:pt x="8695971" y="1179726"/>
                  </a:lnTo>
                  <a:lnTo>
                    <a:pt x="8691371" y="1180642"/>
                  </a:lnTo>
                  <a:lnTo>
                    <a:pt x="8686726" y="1181099"/>
                  </a:lnTo>
                  <a:lnTo>
                    <a:pt x="8682036" y="1181099"/>
                  </a:lnTo>
                  <a:lnTo>
                    <a:pt x="71437" y="1181099"/>
                  </a:lnTo>
                  <a:lnTo>
                    <a:pt x="66746" y="1181099"/>
                  </a:lnTo>
                  <a:lnTo>
                    <a:pt x="62101" y="1180641"/>
                  </a:lnTo>
                  <a:lnTo>
                    <a:pt x="57500" y="1179726"/>
                  </a:lnTo>
                  <a:lnTo>
                    <a:pt x="52899" y="1178811"/>
                  </a:lnTo>
                  <a:lnTo>
                    <a:pt x="17606" y="1156858"/>
                  </a:lnTo>
                  <a:lnTo>
                    <a:pt x="12039" y="1149349"/>
                  </a:lnTo>
                  <a:lnTo>
                    <a:pt x="9433" y="1145449"/>
                  </a:lnTo>
                  <a:lnTo>
                    <a:pt x="0" y="1114352"/>
                  </a:lnTo>
                  <a:lnTo>
                    <a:pt x="0" y="1109662"/>
                  </a:lnTo>
                  <a:close/>
                </a:path>
              </a:pathLst>
            </a:custGeom>
            <a:ln w="9524">
              <a:solidFill>
                <a:srgbClr val="3A49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97075" y="3336417"/>
            <a:ext cx="284480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b="1" spc="-160" dirty="0">
                <a:solidFill>
                  <a:srgbClr val="00BCD4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38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4189" y="3322484"/>
            <a:ext cx="6311900" cy="80327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2000" b="1" spc="-20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两</a:t>
            </a:r>
            <a:r>
              <a:rPr sz="2000" b="1" spc="-20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大</a:t>
            </a:r>
            <a:r>
              <a:rPr sz="2000" b="1" spc="-12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优势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sz="1800" spc="-3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“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专长分工</a:t>
            </a:r>
            <a:r>
              <a:rPr sz="1800" spc="-3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”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提升任务精准度，通过</a:t>
            </a:r>
            <a:r>
              <a:rPr sz="1800" spc="-3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“</a:t>
            </a: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并行执行</a:t>
            </a:r>
            <a:r>
              <a:rPr sz="1800" spc="-310" dirty="0">
                <a:solidFill>
                  <a:srgbClr val="C4CCD4"/>
                </a:solidFill>
                <a:latin typeface="Noto Sans SC" panose="020B0500000000000000" charset="-122"/>
                <a:cs typeface="Noto Sans SC" panose="020B0500000000000000" charset="-122"/>
              </a:rPr>
              <a:t>”</a:t>
            </a:r>
            <a:r>
              <a:rPr sz="1700" spc="-195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提升任务完成效率。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14499" y="4648199"/>
            <a:ext cx="8763000" cy="1495425"/>
            <a:chOff x="1714499" y="4648199"/>
            <a:chExt cx="8763000" cy="1495425"/>
          </a:xfrm>
        </p:grpSpPr>
        <p:sp>
          <p:nvSpPr>
            <p:cNvPr id="14" name="object 14"/>
            <p:cNvSpPr/>
            <p:nvPr/>
          </p:nvSpPr>
          <p:spPr>
            <a:xfrm>
              <a:off x="1719262" y="4652962"/>
              <a:ext cx="8753475" cy="1485900"/>
            </a:xfrm>
            <a:custGeom>
              <a:avLst/>
              <a:gdLst/>
              <a:ahLst/>
              <a:cxnLst/>
              <a:rect l="l" t="t" r="r" b="b"/>
              <a:pathLst>
                <a:path w="8753475" h="1485900">
                  <a:moveTo>
                    <a:pt x="8686726" y="1485899"/>
                  </a:moveTo>
                  <a:lnTo>
                    <a:pt x="66746" y="1485899"/>
                  </a:lnTo>
                  <a:lnTo>
                    <a:pt x="62101" y="1485442"/>
                  </a:lnTo>
                  <a:lnTo>
                    <a:pt x="24240" y="1468292"/>
                  </a:lnTo>
                  <a:lnTo>
                    <a:pt x="2287" y="1432998"/>
                  </a:lnTo>
                  <a:lnTo>
                    <a:pt x="0" y="1419152"/>
                  </a:lnTo>
                  <a:lnTo>
                    <a:pt x="0" y="14144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8686726" y="0"/>
                  </a:lnTo>
                  <a:lnTo>
                    <a:pt x="8725623" y="14644"/>
                  </a:lnTo>
                  <a:lnTo>
                    <a:pt x="8749830" y="48432"/>
                  </a:lnTo>
                  <a:lnTo>
                    <a:pt x="8753473" y="66746"/>
                  </a:lnTo>
                  <a:lnTo>
                    <a:pt x="8753473" y="1419152"/>
                  </a:lnTo>
                  <a:lnTo>
                    <a:pt x="8738828" y="1458050"/>
                  </a:lnTo>
                  <a:lnTo>
                    <a:pt x="8705040" y="1482256"/>
                  </a:lnTo>
                  <a:lnTo>
                    <a:pt x="8691371" y="1485442"/>
                  </a:lnTo>
                  <a:lnTo>
                    <a:pt x="8686726" y="1485899"/>
                  </a:lnTo>
                  <a:close/>
                </a:path>
              </a:pathLst>
            </a:custGeom>
            <a:solidFill>
              <a:srgbClr val="2333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19262" y="4652962"/>
              <a:ext cx="8753475" cy="1485900"/>
            </a:xfrm>
            <a:custGeom>
              <a:avLst/>
              <a:gdLst/>
              <a:ahLst/>
              <a:cxnLst/>
              <a:rect l="l" t="t" r="r" b="b"/>
              <a:pathLst>
                <a:path w="8753475" h="1485900">
                  <a:moveTo>
                    <a:pt x="0" y="14144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8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682036" y="0"/>
                  </a:lnTo>
                  <a:lnTo>
                    <a:pt x="8686726" y="0"/>
                  </a:lnTo>
                  <a:lnTo>
                    <a:pt x="8691371" y="457"/>
                  </a:lnTo>
                  <a:lnTo>
                    <a:pt x="8695971" y="1372"/>
                  </a:lnTo>
                  <a:lnTo>
                    <a:pt x="8700572" y="2287"/>
                  </a:lnTo>
                  <a:lnTo>
                    <a:pt x="8732549" y="20923"/>
                  </a:lnTo>
                  <a:lnTo>
                    <a:pt x="8735867" y="24239"/>
                  </a:lnTo>
                  <a:lnTo>
                    <a:pt x="8738828" y="27848"/>
                  </a:lnTo>
                  <a:lnTo>
                    <a:pt x="8741434" y="31748"/>
                  </a:lnTo>
                  <a:lnTo>
                    <a:pt x="8744039" y="35648"/>
                  </a:lnTo>
                  <a:lnTo>
                    <a:pt x="8752101" y="57500"/>
                  </a:lnTo>
                  <a:lnTo>
                    <a:pt x="8753016" y="62100"/>
                  </a:lnTo>
                  <a:lnTo>
                    <a:pt x="8753473" y="66746"/>
                  </a:lnTo>
                  <a:lnTo>
                    <a:pt x="8753474" y="71437"/>
                  </a:lnTo>
                  <a:lnTo>
                    <a:pt x="8753474" y="1414462"/>
                  </a:lnTo>
                  <a:lnTo>
                    <a:pt x="8753473" y="1419152"/>
                  </a:lnTo>
                  <a:lnTo>
                    <a:pt x="8753016" y="1423797"/>
                  </a:lnTo>
                  <a:lnTo>
                    <a:pt x="8752101" y="1428398"/>
                  </a:lnTo>
                  <a:lnTo>
                    <a:pt x="8751186" y="1432998"/>
                  </a:lnTo>
                  <a:lnTo>
                    <a:pt x="8732549" y="1464976"/>
                  </a:lnTo>
                  <a:lnTo>
                    <a:pt x="8729232" y="1468292"/>
                  </a:lnTo>
                  <a:lnTo>
                    <a:pt x="8725623" y="1471254"/>
                  </a:lnTo>
                  <a:lnTo>
                    <a:pt x="8721723" y="1473859"/>
                  </a:lnTo>
                  <a:lnTo>
                    <a:pt x="8717824" y="1476466"/>
                  </a:lnTo>
                  <a:lnTo>
                    <a:pt x="8686726" y="1485899"/>
                  </a:lnTo>
                  <a:lnTo>
                    <a:pt x="8682036" y="1485899"/>
                  </a:lnTo>
                  <a:lnTo>
                    <a:pt x="71437" y="1485899"/>
                  </a:lnTo>
                  <a:lnTo>
                    <a:pt x="66746" y="1485899"/>
                  </a:lnTo>
                  <a:lnTo>
                    <a:pt x="62101" y="1485442"/>
                  </a:lnTo>
                  <a:lnTo>
                    <a:pt x="24240" y="1468292"/>
                  </a:lnTo>
                  <a:lnTo>
                    <a:pt x="20923" y="1464976"/>
                  </a:lnTo>
                  <a:lnTo>
                    <a:pt x="17606" y="1461659"/>
                  </a:lnTo>
                  <a:lnTo>
                    <a:pt x="457" y="1423797"/>
                  </a:lnTo>
                  <a:lnTo>
                    <a:pt x="0" y="1419152"/>
                  </a:lnTo>
                  <a:lnTo>
                    <a:pt x="0" y="1414462"/>
                  </a:lnTo>
                  <a:close/>
                </a:path>
              </a:pathLst>
            </a:custGeom>
            <a:ln w="9524">
              <a:solidFill>
                <a:srgbClr val="3A49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997075" y="4793742"/>
            <a:ext cx="284480" cy="61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b="1" spc="-160" dirty="0">
                <a:solidFill>
                  <a:srgbClr val="00BCD4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38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84189" y="4756551"/>
            <a:ext cx="7645400" cy="112903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000" b="1" spc="-20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广</a:t>
            </a:r>
            <a:r>
              <a:rPr sz="2000" b="1" spc="-20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阔</a:t>
            </a:r>
            <a:r>
              <a:rPr sz="2000" b="1" spc="-200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前</a:t>
            </a:r>
            <a:r>
              <a:rPr sz="2000" b="1" spc="-50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景</a:t>
            </a:r>
            <a:endParaRPr sz="200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12700" marR="5080">
              <a:lnSpc>
                <a:spcPct val="118000"/>
              </a:lnSpc>
              <a:spcBef>
                <a:spcPts val="465"/>
              </a:spcBef>
            </a:pPr>
            <a:r>
              <a:rPr sz="1700" spc="-21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已在自动化任务、软件开发、深度研究等领域展现巨大潜力，是通往更强大自主智能系统的</a:t>
            </a:r>
            <a:r>
              <a:rPr sz="1700" spc="-18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关键路径。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9043" y="1869497"/>
            <a:ext cx="2894330" cy="1813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700" b="1" spc="-950" dirty="0">
                <a:solidFill>
                  <a:srgbClr val="00BCD4"/>
                </a:solidFill>
                <a:latin typeface="Noto Sans SC" panose="020B0500000000000000" charset="-122"/>
                <a:cs typeface="Noto Sans SC" panose="020B0500000000000000" charset="-122"/>
              </a:rPr>
              <a:t>Q&amp;A</a:t>
            </a:r>
            <a:endParaRPr sz="1170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1299" y="3833875"/>
            <a:ext cx="154940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b="1" spc="-32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感</a:t>
            </a:r>
            <a:r>
              <a:rPr sz="2700" b="1" spc="-32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谢</a:t>
            </a:r>
            <a:r>
              <a:rPr sz="2700" b="1" spc="-32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聆</a:t>
            </a:r>
            <a:r>
              <a:rPr sz="2700" b="1" spc="-325" dirty="0">
                <a:solidFill>
                  <a:srgbClr val="FFFFFF"/>
                </a:solidFill>
                <a:latin typeface="Microsoft JhengHei" panose="020B0604030504040204" charset="-120"/>
                <a:cs typeface="Microsoft JhengHei" panose="020B0604030504040204" charset="-120"/>
              </a:rPr>
              <a:t>听</a:t>
            </a:r>
            <a:r>
              <a:rPr sz="2700" b="1" spc="-375" dirty="0">
                <a:solidFill>
                  <a:srgbClr val="FFFFFF"/>
                </a:solidFill>
                <a:latin typeface="Malgun Gothic" panose="020B0503020000020004" charset="-127"/>
                <a:cs typeface="Malgun Gothic" panose="020B0503020000020004" charset="-127"/>
              </a:rPr>
              <a:t>！</a:t>
            </a:r>
            <a:endParaRPr sz="27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6549" y="4458334"/>
            <a:ext cx="13589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00" dirty="0">
                <a:solidFill>
                  <a:srgbClr val="C4CCD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期待与大家交流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2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3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4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5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6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7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8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9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10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11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12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13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14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15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16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17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18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19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20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21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22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23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ags/tag24.xml><?xml version="1.0" encoding="utf-8"?>
<p:tagLst xmlns:p="http://schemas.openxmlformats.org/presentationml/2006/main">
  <p:tag name="KSO_WM_DIAGRAM_VIRTUALLY_FRAME" val="{&quot;height&quot;:410.2499999999999,&quot;left&quot;:142.49992125984252,&quot;top&quot;:124.49992125984252,&quot;width&quot;:6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2248</Words>
  <Application>WPS 演示</Application>
  <PresentationFormat>On-screen Show (4:3)</PresentationFormat>
  <Paragraphs>226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Microsoft JhengHei</vt:lpstr>
      <vt:lpstr>Malgun Gothic</vt:lpstr>
      <vt:lpstr>Noto Sans SC</vt:lpstr>
      <vt:lpstr>Franklin Gothic Demi</vt:lpstr>
      <vt:lpstr>Comic Sans MS</vt:lpstr>
      <vt:lpstr>Trebuchet MS</vt:lpstr>
      <vt:lpstr>Arial</vt:lpstr>
      <vt:lpstr>Cambria</vt:lpstr>
      <vt:lpstr>Calibri</vt:lpstr>
      <vt:lpstr>微软雅黑</vt:lpstr>
      <vt:lpstr>Arial Unicode MS</vt:lpstr>
      <vt:lpstr>Office Theme</vt:lpstr>
      <vt:lpstr>PowerPoint 演示文稿</vt:lpstr>
      <vt:lpstr>今天，我们将一起探索 Subagent 的世界，内容将围绕以下四个核心问题展开</vt:lpstr>
      <vt:lpstr>从“单兵作战”到“团队协作”</vt:lpstr>
      <vt:lpstr>核心定义：AI世界里的“专家团队”</vt:lpstr>
      <vt:lpstr>工作模式：管理者-执行者</vt:lpstr>
      <vt:lpstr>主流架构：Orchestrator-Worker 模式</vt:lpstr>
      <vt:lpstr>核心优势一：专长分工，更精准</vt:lpstr>
      <vt:lpstr>核心优势二：并行执行，更高效</vt:lpstr>
      <vt:lpstr>核心优势三：聚焦宏观，更强大</vt:lpstr>
      <vt:lpstr>典型场景：从复杂研究到自动化开发</vt:lpstr>
      <vt:lpstr>知名项目巡礼（一）</vt:lpstr>
      <vt:lpstr>知名项目巡礼（二）</vt:lpstr>
      <vt:lpstr>研究趋势：从“固定团队”到“按需生成”</vt:lpstr>
      <vt:lpstr>核心挑战：高效协同与安全可控</vt:lpstr>
      <vt:lpstr>核心要点回顾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青，出于蓝而胜于蓝</cp:lastModifiedBy>
  <cp:revision>2</cp:revision>
  <dcterms:created xsi:type="dcterms:W3CDTF">2025-11-03T07:43:05Z</dcterms:created>
  <dcterms:modified xsi:type="dcterms:W3CDTF">2025-11-03T07:43:33Z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2025-11-03T08:00:00Z</vt:filetime>
  </property>
  <property fmtid="{D5CDD505-2E9C-101B-9397-08002B2CF9AE}" pid="3" name="Producer">
    <vt:lpwstr>pypdf</vt:lpwstr>
  </property>
  <property fmtid="{D5CDD505-2E9C-101B-9397-08002B2CF9AE}" pid="4" name="LastSaved">
    <vt:filetime>2025-11-03T08:00:00Z</vt:filetime>
  </property>
  <property fmtid="{D5CDD505-2E9C-101B-9397-08002B2CF9AE}" pid="5" name="ICV">
    <vt:lpwstr>4D08C00738A24753A875ED3FB305F2C5_12</vt:lpwstr>
  </property>
  <property fmtid="{D5CDD505-2E9C-101B-9397-08002B2CF9AE}" pid="6" name="KSOProductBuildVer">
    <vt:lpwstr>2052-12.1.0.23125</vt:lpwstr>
  </property>
</Properties>
</file>