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44575" y="2635202"/>
            <a:ext cx="4473575" cy="354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92874" y="2635202"/>
            <a:ext cx="4473575" cy="354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8289" y="1365250"/>
            <a:ext cx="3459221" cy="47244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9EF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7100" y="1547113"/>
            <a:ext cx="7797800" cy="645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78050" y="2258288"/>
            <a:ext cx="7835900" cy="222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960" y="2004314"/>
            <a:ext cx="565404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50" spc="-270" dirty="0"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pc="-440" dirty="0"/>
              <a:t>：万物互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联</a:t>
            </a:r>
            <a:r>
              <a:rPr spc="-490" dirty="0"/>
              <a:t>的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隐</a:t>
            </a:r>
            <a:r>
              <a:rPr spc="-490" dirty="0"/>
              <a:t>形基</a:t>
            </a:r>
            <a:r>
              <a:rPr spc="-540" dirty="0">
                <a:latin typeface="Microsoft JhengHei" panose="020B0604030504040204" charset="-120"/>
                <a:cs typeface="Microsoft JhengHei" panose="020B0604030504040204" charset="-120"/>
              </a:rPr>
              <a:t>⽯</a:t>
            </a:r>
            <a:endParaRPr sz="39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3000" y="3114929"/>
            <a:ext cx="4826000" cy="14909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2350" spc="-2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项</a:t>
            </a:r>
            <a:r>
              <a:rPr sz="2350" spc="-26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改</a:t>
            </a:r>
            <a:r>
              <a:rPr sz="2350" spc="-2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变我们</a:t>
            </a:r>
            <a:r>
              <a:rPr sz="2350" spc="-26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⽣</a:t>
            </a:r>
            <a:r>
              <a:rPr sz="2350" spc="-2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活</a:t>
            </a:r>
            <a:r>
              <a:rPr sz="2350" spc="-26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与⼯</a:t>
            </a:r>
            <a:r>
              <a:rPr sz="2350" spc="-2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作的</a:t>
            </a:r>
            <a:r>
              <a:rPr sz="2350" spc="-26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2350" spc="-27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线识别技术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2000" spc="-200" dirty="0">
                <a:solidFill>
                  <a:srgbClr val="54545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</a:t>
            </a:r>
            <a:r>
              <a:rPr sz="2000" spc="-200" dirty="0">
                <a:solidFill>
                  <a:srgbClr val="545454"/>
                </a:solidFill>
                <a:latin typeface="Adobe 黑体 Std R" panose="020B0400000000000000" charset="-122"/>
                <a:cs typeface="Adobe 黑体 Std R" panose="020B0400000000000000" charset="-122"/>
              </a:rPr>
              <a:t>享⼈</a:t>
            </a:r>
            <a:r>
              <a:rPr sz="2000" spc="-135" dirty="0">
                <a:solidFill>
                  <a:srgbClr val="54545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 spc="-135" dirty="0">
                <a:solidFill>
                  <a:srgbClr val="545454"/>
                </a:solidFill>
                <a:latin typeface="Gill Sans MT" panose="020B0502020104020203"/>
                <a:ea typeface="宋体" panose="02010600030101010101" pitchFamily="2" charset="-122"/>
                <a:cs typeface="Gill Sans MT" panose="020B0502020104020203"/>
              </a:rPr>
              <a:t>xxx</a:t>
            </a:r>
            <a:endParaRPr sz="1800">
              <a:latin typeface="Gill Sans MT" panose="020B0502020104020203"/>
              <a:cs typeface="Gill Sans MT" panose="020B0502020104020203"/>
            </a:endParaRPr>
          </a:p>
          <a:p>
            <a:pPr algn="ctr">
              <a:lnSpc>
                <a:spcPct val="100000"/>
              </a:lnSpc>
            </a:pPr>
            <a:endParaRPr sz="1850">
              <a:latin typeface="Gill Sans MT" panose="020B0502020104020203"/>
              <a:cs typeface="Gill Sans MT" panose="020B05020201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7250" y="1084351"/>
            <a:ext cx="5397500" cy="663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议</a:t>
            </a:r>
            <a:r>
              <a:rPr spc="-540" dirty="0"/>
              <a:t>程 </a:t>
            </a:r>
            <a:r>
              <a:rPr sz="4150" spc="-155" dirty="0">
                <a:latin typeface="Microsoft JhengHei" panose="020B0604030504040204" charset="-120"/>
                <a:cs typeface="Microsoft JhengHei" panose="020B0604030504040204" charset="-120"/>
              </a:rPr>
              <a:t>|</a:t>
            </a:r>
            <a:r>
              <a:rPr sz="4150" spc="-200" dirty="0"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pc="-490" dirty="0"/>
              <a:t>本次分享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将带你</a:t>
            </a:r>
            <a:r>
              <a:rPr spc="-515" dirty="0"/>
              <a:t>了解</a:t>
            </a:r>
            <a:endParaRPr sz="41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86608" y="2376932"/>
            <a:ext cx="6618605" cy="34791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sz="2000" spc="-59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从⾝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边的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⼀个⼩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场景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开始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，我们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将⼀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同揭</a:t>
            </a:r>
            <a:r>
              <a:rPr sz="2000" spc="-12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开 </a:t>
            </a:r>
            <a:r>
              <a:rPr sz="1950" spc="-9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950" spc="-2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的神秘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⾯</a:t>
            </a:r>
            <a:r>
              <a:rPr sz="2000" spc="-12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纱。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sz="2000" spc="-59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⾸先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，我们会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⽤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最简单的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⽅式</a:t>
            </a:r>
            <a:r>
              <a:rPr sz="2000" spc="-33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理解 </a:t>
            </a:r>
            <a:r>
              <a:rPr sz="1950" spc="-9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950" spc="-2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究竟是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什么</a:t>
            </a:r>
            <a:r>
              <a:rPr sz="200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sz="2000" spc="-2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接着，我们会深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⼊其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⼼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，看看它是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如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何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⼯</a:t>
            </a:r>
            <a:r>
              <a:rPr sz="2000" spc="-1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作的。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sz="2000" spc="-2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然后，我们会探索它在各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⾏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业中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强⼤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⽤</a:t>
            </a:r>
            <a:r>
              <a:rPr sz="200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sz="2000" spc="-2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最后，我们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将展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望这项技术的未来，并回顾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今天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的核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⼼</a:t>
            </a:r>
            <a:r>
              <a:rPr sz="2000" spc="-1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要点。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0100" y="1032763"/>
            <a:ext cx="551180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⼀个你</a:t>
            </a:r>
            <a:r>
              <a:rPr spc="-490" dirty="0"/>
              <a:t>每天都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在经历</a:t>
            </a:r>
            <a:r>
              <a:rPr spc="-490" dirty="0"/>
              <a:t>的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场</a:t>
            </a:r>
            <a:r>
              <a:rPr spc="-540" dirty="0"/>
              <a:t>景</a:t>
            </a:r>
            <a:endParaRPr spc="-54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5080">
              <a:lnSpc>
                <a:spcPct val="119000"/>
              </a:lnSpc>
              <a:spcBef>
                <a:spcPts val="90"/>
              </a:spcBef>
            </a:pPr>
            <a:r>
              <a:rPr spc="-200" dirty="0"/>
              <a:t>想象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⼀下</a:t>
            </a:r>
            <a:r>
              <a:rPr spc="-200" dirty="0"/>
              <a:t>，你推着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购</a:t>
            </a:r>
            <a:r>
              <a:rPr spc="-200" dirty="0"/>
              <a:t>物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⻋⾛</a:t>
            </a:r>
            <a:r>
              <a:rPr spc="-200" dirty="0"/>
              <a:t>出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超</a:t>
            </a:r>
            <a:r>
              <a:rPr spc="-200" dirty="0"/>
              <a:t>市，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pc="-200" dirty="0"/>
              <a:t>需等待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收</a:t>
            </a:r>
            <a:r>
              <a:rPr spc="-200" dirty="0"/>
              <a:t>银员逐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⼀扫</a:t>
            </a:r>
            <a:r>
              <a:rPr spc="-200" dirty="0"/>
              <a:t>描商品，只需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⼏</a:t>
            </a:r>
            <a:r>
              <a:rPr spc="-240" dirty="0"/>
              <a:t>秒</a:t>
            </a:r>
            <a:r>
              <a:rPr spc="-200" dirty="0"/>
              <a:t>钟，系统便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pc="-200" dirty="0"/>
              <a:t>动完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成所</a:t>
            </a:r>
            <a:r>
              <a:rPr spc="-200" dirty="0"/>
              <a:t>有商品的结算和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⽀付</a:t>
            </a:r>
            <a:r>
              <a:rPr spc="-50" dirty="0"/>
              <a:t>。</a:t>
            </a:r>
            <a:endParaRPr spc="-50" dirty="0"/>
          </a:p>
          <a:p>
            <a:pPr marL="38100">
              <a:lnSpc>
                <a:spcPct val="100000"/>
              </a:lnSpc>
            </a:pPr>
            <a:endParaRPr sz="1800"/>
          </a:p>
          <a:p>
            <a:pPr marL="38100">
              <a:lnSpc>
                <a:spcPct val="100000"/>
              </a:lnSpc>
              <a:spcBef>
                <a:spcPts val="1245"/>
              </a:spcBef>
            </a:pPr>
            <a:endParaRPr sz="1800"/>
          </a:p>
          <a:p>
            <a:pPr marL="50800" marR="5080">
              <a:lnSpc>
                <a:spcPct val="119000"/>
              </a:lnSpc>
            </a:pP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或</a:t>
            </a:r>
            <a:r>
              <a:rPr spc="-200" dirty="0"/>
              <a:t>者在图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书</a:t>
            </a:r>
            <a:r>
              <a:rPr spc="-200" dirty="0"/>
              <a:t>馆借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书</a:t>
            </a:r>
            <a:r>
              <a:rPr spc="-200" dirty="0"/>
              <a:t>，你只需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把⼀</a:t>
            </a:r>
            <a:r>
              <a:rPr spc="-200" dirty="0"/>
              <a:t>摞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书放</a:t>
            </a:r>
            <a:r>
              <a:rPr spc="-200" dirty="0"/>
              <a:t>在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pc="-200" dirty="0"/>
              <a:t>助借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还</a:t>
            </a:r>
            <a:r>
              <a:rPr spc="-200" dirty="0"/>
              <a:t>机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上</a:t>
            </a:r>
            <a:r>
              <a:rPr spc="-200" dirty="0"/>
              <a:t>，它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能</a:t>
            </a:r>
            <a:r>
              <a:rPr spc="-200" dirty="0"/>
              <a:t>瞬间识别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所</a:t>
            </a:r>
            <a:r>
              <a:rPr spc="-200" dirty="0"/>
              <a:t>有</a:t>
            </a:r>
            <a:r>
              <a:rPr spc="-240" dirty="0">
                <a:latin typeface="Adobe 黑体 Std R" panose="020B0400000000000000" charset="-122"/>
                <a:cs typeface="Adobe 黑体 Std R" panose="020B0400000000000000" charset="-122"/>
              </a:rPr>
              <a:t>书</a:t>
            </a:r>
            <a:r>
              <a:rPr spc="-200" dirty="0"/>
              <a:t>籍，完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成</a:t>
            </a:r>
            <a:r>
              <a:rPr spc="-200" dirty="0"/>
              <a:t>借阅</a:t>
            </a:r>
            <a:r>
              <a:rPr spc="-200" dirty="0">
                <a:latin typeface="Adobe 黑体 Std R" panose="020B0400000000000000" charset="-122"/>
                <a:cs typeface="Adobe 黑体 Std R" panose="020B0400000000000000" charset="-122"/>
              </a:rPr>
              <a:t>⼿</a:t>
            </a:r>
            <a:r>
              <a:rPr spc="-125" dirty="0"/>
              <a:t>续。</a:t>
            </a:r>
            <a:endParaRPr spc="-125" dirty="0"/>
          </a:p>
        </p:txBody>
      </p:sp>
      <p:sp>
        <p:nvSpPr>
          <p:cNvPr id="4" name="object 4"/>
          <p:cNvSpPr txBox="1"/>
          <p:nvPr/>
        </p:nvSpPr>
        <p:spPr>
          <a:xfrm>
            <a:off x="2216150" y="5263006"/>
            <a:ext cx="623633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这些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便捷场景的背后，都有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项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共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同的</a:t>
            </a:r>
            <a:r>
              <a:rPr sz="2000" spc="112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⿊</a:t>
            </a:r>
            <a:r>
              <a:rPr sz="200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</a:t>
            </a:r>
            <a:r>
              <a:rPr sz="2000" spc="-20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技</a:t>
            </a:r>
            <a:r>
              <a:rPr sz="2000" spc="22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”——</a:t>
            </a:r>
            <a:r>
              <a:rPr sz="1950" spc="-9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2000" spc="-8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6418" y="2147887"/>
            <a:ext cx="224291" cy="20002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826410" y="3624253"/>
            <a:ext cx="233679" cy="200660"/>
          </a:xfrm>
          <a:custGeom>
            <a:avLst/>
            <a:gdLst/>
            <a:ahLst/>
            <a:cxnLst/>
            <a:rect l="l" t="t" r="r" b="b"/>
            <a:pathLst>
              <a:path w="233680" h="200660">
                <a:moveTo>
                  <a:pt x="116689" y="50014"/>
                </a:moveTo>
                <a:lnTo>
                  <a:pt x="148288" y="12789"/>
                </a:lnTo>
                <a:lnTo>
                  <a:pt x="225036" y="8"/>
                </a:lnTo>
                <a:lnTo>
                  <a:pt x="227341" y="0"/>
                </a:lnTo>
                <a:lnTo>
                  <a:pt x="229309" y="810"/>
                </a:lnTo>
                <a:lnTo>
                  <a:pt x="230939" y="2440"/>
                </a:lnTo>
                <a:lnTo>
                  <a:pt x="232569" y="4070"/>
                </a:lnTo>
                <a:lnTo>
                  <a:pt x="233379" y="6038"/>
                </a:lnTo>
                <a:lnTo>
                  <a:pt x="233371" y="8343"/>
                </a:lnTo>
                <a:lnTo>
                  <a:pt x="233371" y="158361"/>
                </a:lnTo>
                <a:lnTo>
                  <a:pt x="225036" y="166696"/>
                </a:lnTo>
                <a:lnTo>
                  <a:pt x="182216" y="169107"/>
                </a:lnTo>
                <a:lnTo>
                  <a:pt x="151827" y="175905"/>
                </a:lnTo>
                <a:lnTo>
                  <a:pt x="130956" y="186432"/>
                </a:lnTo>
                <a:lnTo>
                  <a:pt x="116689" y="200033"/>
                </a:lnTo>
                <a:lnTo>
                  <a:pt x="102462" y="186474"/>
                </a:lnTo>
                <a:lnTo>
                  <a:pt x="81587" y="175942"/>
                </a:lnTo>
                <a:lnTo>
                  <a:pt x="51176" y="169121"/>
                </a:lnTo>
                <a:lnTo>
                  <a:pt x="8343" y="166696"/>
                </a:lnTo>
                <a:lnTo>
                  <a:pt x="3196" y="166696"/>
                </a:lnTo>
                <a:lnTo>
                  <a:pt x="8" y="162502"/>
                </a:lnTo>
                <a:lnTo>
                  <a:pt x="8" y="157356"/>
                </a:lnTo>
                <a:lnTo>
                  <a:pt x="8" y="8343"/>
                </a:lnTo>
                <a:lnTo>
                  <a:pt x="0" y="6037"/>
                </a:lnTo>
                <a:lnTo>
                  <a:pt x="810" y="4070"/>
                </a:lnTo>
                <a:lnTo>
                  <a:pt x="2440" y="2440"/>
                </a:lnTo>
                <a:lnTo>
                  <a:pt x="4070" y="810"/>
                </a:lnTo>
                <a:lnTo>
                  <a:pt x="6038" y="0"/>
                </a:lnTo>
                <a:lnTo>
                  <a:pt x="8343" y="8"/>
                </a:lnTo>
                <a:lnTo>
                  <a:pt x="53013" y="3325"/>
                </a:lnTo>
                <a:lnTo>
                  <a:pt x="85091" y="12789"/>
                </a:lnTo>
                <a:lnTo>
                  <a:pt x="105882" y="28365"/>
                </a:lnTo>
                <a:lnTo>
                  <a:pt x="116689" y="50014"/>
                </a:lnTo>
                <a:close/>
              </a:path>
              <a:path w="233680" h="200660">
                <a:moveTo>
                  <a:pt x="116689" y="50014"/>
                </a:moveTo>
                <a:lnTo>
                  <a:pt x="116689" y="200033"/>
                </a:lnTo>
              </a:path>
            </a:pathLst>
          </a:custGeom>
          <a:ln w="16668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1421" y="5075630"/>
            <a:ext cx="183356" cy="2500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760" y="1432813"/>
            <a:ext cx="428244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50" spc="-270" dirty="0"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pc="-385" dirty="0"/>
              <a:t>：射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频识别</a:t>
            </a:r>
            <a:r>
              <a:rPr spc="-490" dirty="0"/>
              <a:t>技</a:t>
            </a:r>
            <a:r>
              <a:rPr spc="-540" dirty="0">
                <a:latin typeface="Microsoft JhengHei" panose="020B0604030504040204" charset="-120"/>
                <a:cs typeface="Microsoft JhengHei" panose="020B0604030504040204" charset="-120"/>
              </a:rPr>
              <a:t>术</a:t>
            </a:r>
            <a:endParaRPr sz="39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99" y="2476499"/>
            <a:ext cx="5143500" cy="1343025"/>
            <a:chOff x="761999" y="2476499"/>
            <a:chExt cx="5143500" cy="1343025"/>
          </a:xfrm>
        </p:grpSpPr>
        <p:sp>
          <p:nvSpPr>
            <p:cNvPr id="4" name="object 4"/>
            <p:cNvSpPr/>
            <p:nvPr/>
          </p:nvSpPr>
          <p:spPr>
            <a:xfrm>
              <a:off x="766762" y="2481262"/>
              <a:ext cx="5133975" cy="1333500"/>
            </a:xfrm>
            <a:custGeom>
              <a:avLst/>
              <a:gdLst/>
              <a:ahLst/>
              <a:cxnLst/>
              <a:rect l="l" t="t" r="r" b="b"/>
              <a:pathLst>
                <a:path w="5133975" h="1333500">
                  <a:moveTo>
                    <a:pt x="5031629" y="1333499"/>
                  </a:moveTo>
                  <a:lnTo>
                    <a:pt x="102345" y="1333499"/>
                  </a:lnTo>
                  <a:lnTo>
                    <a:pt x="95221" y="1332798"/>
                  </a:lnTo>
                  <a:lnTo>
                    <a:pt x="54661" y="1319035"/>
                  </a:lnTo>
                  <a:lnTo>
                    <a:pt x="22456" y="1290798"/>
                  </a:lnTo>
                  <a:lnTo>
                    <a:pt x="3507" y="1252385"/>
                  </a:lnTo>
                  <a:lnTo>
                    <a:pt x="0" y="1231154"/>
                  </a:lnTo>
                  <a:lnTo>
                    <a:pt x="0" y="122396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031629" y="0"/>
                  </a:lnTo>
                  <a:lnTo>
                    <a:pt x="5072999" y="11090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4" y="102345"/>
                  </a:lnTo>
                  <a:lnTo>
                    <a:pt x="5133974" y="1231154"/>
                  </a:lnTo>
                  <a:lnTo>
                    <a:pt x="5122882" y="1272525"/>
                  </a:lnTo>
                  <a:lnTo>
                    <a:pt x="5096805" y="1306502"/>
                  </a:lnTo>
                  <a:lnTo>
                    <a:pt x="5059709" y="1327913"/>
                  </a:lnTo>
                  <a:lnTo>
                    <a:pt x="5038752" y="1332798"/>
                  </a:lnTo>
                  <a:lnTo>
                    <a:pt x="5031629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2481262"/>
              <a:ext cx="5133975" cy="1333500"/>
            </a:xfrm>
            <a:custGeom>
              <a:avLst/>
              <a:gdLst/>
              <a:ahLst/>
              <a:cxnLst/>
              <a:rect l="l" t="t" r="r" b="b"/>
              <a:pathLst>
                <a:path w="5133975" h="1333500">
                  <a:moveTo>
                    <a:pt x="0" y="1223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024437" y="0"/>
                  </a:lnTo>
                  <a:lnTo>
                    <a:pt x="5031629" y="0"/>
                  </a:lnTo>
                  <a:lnTo>
                    <a:pt x="5038752" y="701"/>
                  </a:lnTo>
                  <a:lnTo>
                    <a:pt x="5079311" y="14464"/>
                  </a:lnTo>
                  <a:lnTo>
                    <a:pt x="5085292" y="18460"/>
                  </a:lnTo>
                  <a:lnTo>
                    <a:pt x="5091272" y="22456"/>
                  </a:lnTo>
                  <a:lnTo>
                    <a:pt x="5119508" y="54661"/>
                  </a:lnTo>
                  <a:lnTo>
                    <a:pt x="5125635" y="67619"/>
                  </a:lnTo>
                  <a:lnTo>
                    <a:pt x="5128388" y="74263"/>
                  </a:lnTo>
                  <a:lnTo>
                    <a:pt x="5133974" y="109537"/>
                  </a:lnTo>
                  <a:lnTo>
                    <a:pt x="5133974" y="1223962"/>
                  </a:lnTo>
                  <a:lnTo>
                    <a:pt x="5125635" y="1265880"/>
                  </a:lnTo>
                  <a:lnTo>
                    <a:pt x="5122882" y="1272525"/>
                  </a:lnTo>
                  <a:lnTo>
                    <a:pt x="5096805" y="1306502"/>
                  </a:lnTo>
                  <a:lnTo>
                    <a:pt x="5085292" y="1315039"/>
                  </a:lnTo>
                  <a:lnTo>
                    <a:pt x="5079311" y="1319035"/>
                  </a:lnTo>
                  <a:lnTo>
                    <a:pt x="5045806" y="1331395"/>
                  </a:lnTo>
                  <a:lnTo>
                    <a:pt x="5038752" y="1332798"/>
                  </a:lnTo>
                  <a:lnTo>
                    <a:pt x="5031629" y="1333499"/>
                  </a:lnTo>
                  <a:lnTo>
                    <a:pt x="5024437" y="1333499"/>
                  </a:lnTo>
                  <a:lnTo>
                    <a:pt x="109537" y="1333499"/>
                  </a:lnTo>
                  <a:lnTo>
                    <a:pt x="102345" y="1333499"/>
                  </a:lnTo>
                  <a:lnTo>
                    <a:pt x="95221" y="1332798"/>
                  </a:lnTo>
                  <a:lnTo>
                    <a:pt x="88167" y="1331395"/>
                  </a:lnTo>
                  <a:lnTo>
                    <a:pt x="81113" y="1329991"/>
                  </a:lnTo>
                  <a:lnTo>
                    <a:pt x="74264" y="1327914"/>
                  </a:lnTo>
                  <a:lnTo>
                    <a:pt x="67619" y="1325161"/>
                  </a:lnTo>
                  <a:lnTo>
                    <a:pt x="60974" y="1322409"/>
                  </a:lnTo>
                  <a:lnTo>
                    <a:pt x="32082" y="1301416"/>
                  </a:lnTo>
                  <a:lnTo>
                    <a:pt x="26996" y="1296331"/>
                  </a:lnTo>
                  <a:lnTo>
                    <a:pt x="5585" y="1259235"/>
                  </a:lnTo>
                  <a:lnTo>
                    <a:pt x="2104" y="1245332"/>
                  </a:lnTo>
                  <a:lnTo>
                    <a:pt x="701" y="1238278"/>
                  </a:lnTo>
                  <a:lnTo>
                    <a:pt x="0" y="1231154"/>
                  </a:lnTo>
                  <a:lnTo>
                    <a:pt x="0" y="122396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61999" y="4048124"/>
            <a:ext cx="5143500" cy="1685925"/>
            <a:chOff x="761999" y="4048124"/>
            <a:chExt cx="5143500" cy="1685925"/>
          </a:xfrm>
        </p:grpSpPr>
        <p:sp>
          <p:nvSpPr>
            <p:cNvPr id="7" name="object 7"/>
            <p:cNvSpPr/>
            <p:nvPr/>
          </p:nvSpPr>
          <p:spPr>
            <a:xfrm>
              <a:off x="766762" y="4052887"/>
              <a:ext cx="5133975" cy="1676400"/>
            </a:xfrm>
            <a:custGeom>
              <a:avLst/>
              <a:gdLst/>
              <a:ahLst/>
              <a:cxnLst/>
              <a:rect l="l" t="t" r="r" b="b"/>
              <a:pathLst>
                <a:path w="5133975" h="1676400">
                  <a:moveTo>
                    <a:pt x="5031629" y="1676399"/>
                  </a:moveTo>
                  <a:lnTo>
                    <a:pt x="102345" y="1676399"/>
                  </a:lnTo>
                  <a:lnTo>
                    <a:pt x="95221" y="1675698"/>
                  </a:lnTo>
                  <a:lnTo>
                    <a:pt x="54661" y="1661934"/>
                  </a:lnTo>
                  <a:lnTo>
                    <a:pt x="22456" y="1633697"/>
                  </a:lnTo>
                  <a:lnTo>
                    <a:pt x="3507" y="1595285"/>
                  </a:lnTo>
                  <a:lnTo>
                    <a:pt x="0" y="1574054"/>
                  </a:lnTo>
                  <a:lnTo>
                    <a:pt x="0" y="15668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031629" y="0"/>
                  </a:lnTo>
                  <a:lnTo>
                    <a:pt x="5072999" y="11089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4" y="102345"/>
                  </a:lnTo>
                  <a:lnTo>
                    <a:pt x="5133974" y="1574054"/>
                  </a:lnTo>
                  <a:lnTo>
                    <a:pt x="5122882" y="1615423"/>
                  </a:lnTo>
                  <a:lnTo>
                    <a:pt x="5096805" y="1649402"/>
                  </a:lnTo>
                  <a:lnTo>
                    <a:pt x="5059709" y="1670813"/>
                  </a:lnTo>
                  <a:lnTo>
                    <a:pt x="5038752" y="1675698"/>
                  </a:lnTo>
                  <a:lnTo>
                    <a:pt x="5031629" y="1676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6762" y="4052887"/>
              <a:ext cx="5133975" cy="1676400"/>
            </a:xfrm>
            <a:custGeom>
              <a:avLst/>
              <a:gdLst/>
              <a:ahLst/>
              <a:cxnLst/>
              <a:rect l="l" t="t" r="r" b="b"/>
              <a:pathLst>
                <a:path w="5133975" h="1676400">
                  <a:moveTo>
                    <a:pt x="0" y="15668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0"/>
                  </a:lnTo>
                  <a:lnTo>
                    <a:pt x="22456" y="42700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024437" y="0"/>
                  </a:lnTo>
                  <a:lnTo>
                    <a:pt x="5031629" y="0"/>
                  </a:lnTo>
                  <a:lnTo>
                    <a:pt x="5038752" y="701"/>
                  </a:lnTo>
                  <a:lnTo>
                    <a:pt x="5045806" y="2104"/>
                  </a:lnTo>
                  <a:lnTo>
                    <a:pt x="5052859" y="3507"/>
                  </a:lnTo>
                  <a:lnTo>
                    <a:pt x="5085292" y="18459"/>
                  </a:lnTo>
                  <a:lnTo>
                    <a:pt x="5091272" y="22455"/>
                  </a:lnTo>
                  <a:lnTo>
                    <a:pt x="5119508" y="54661"/>
                  </a:lnTo>
                  <a:lnTo>
                    <a:pt x="5125635" y="67618"/>
                  </a:lnTo>
                  <a:lnTo>
                    <a:pt x="5128388" y="74263"/>
                  </a:lnTo>
                  <a:lnTo>
                    <a:pt x="5133974" y="109537"/>
                  </a:lnTo>
                  <a:lnTo>
                    <a:pt x="5133974" y="1566862"/>
                  </a:lnTo>
                  <a:lnTo>
                    <a:pt x="5125635" y="1608779"/>
                  </a:lnTo>
                  <a:lnTo>
                    <a:pt x="5122882" y="1615423"/>
                  </a:lnTo>
                  <a:lnTo>
                    <a:pt x="5096805" y="1649402"/>
                  </a:lnTo>
                  <a:lnTo>
                    <a:pt x="5066354" y="1668060"/>
                  </a:lnTo>
                  <a:lnTo>
                    <a:pt x="5059709" y="1670813"/>
                  </a:lnTo>
                  <a:lnTo>
                    <a:pt x="5052859" y="1672891"/>
                  </a:lnTo>
                  <a:lnTo>
                    <a:pt x="5045806" y="1674294"/>
                  </a:lnTo>
                  <a:lnTo>
                    <a:pt x="5038752" y="1675698"/>
                  </a:lnTo>
                  <a:lnTo>
                    <a:pt x="5031629" y="1676399"/>
                  </a:lnTo>
                  <a:lnTo>
                    <a:pt x="5024437" y="1676399"/>
                  </a:lnTo>
                  <a:lnTo>
                    <a:pt x="109537" y="1676399"/>
                  </a:lnTo>
                  <a:lnTo>
                    <a:pt x="102345" y="1676399"/>
                  </a:lnTo>
                  <a:lnTo>
                    <a:pt x="95221" y="1675698"/>
                  </a:lnTo>
                  <a:lnTo>
                    <a:pt x="88167" y="1674294"/>
                  </a:lnTo>
                  <a:lnTo>
                    <a:pt x="81113" y="1672891"/>
                  </a:lnTo>
                  <a:lnTo>
                    <a:pt x="74264" y="1670813"/>
                  </a:lnTo>
                  <a:lnTo>
                    <a:pt x="67619" y="1668060"/>
                  </a:lnTo>
                  <a:lnTo>
                    <a:pt x="60974" y="1665308"/>
                  </a:lnTo>
                  <a:lnTo>
                    <a:pt x="26996" y="1639230"/>
                  </a:lnTo>
                  <a:lnTo>
                    <a:pt x="5585" y="1602135"/>
                  </a:lnTo>
                  <a:lnTo>
                    <a:pt x="2104" y="1588231"/>
                  </a:lnTo>
                  <a:lnTo>
                    <a:pt x="701" y="1581177"/>
                  </a:lnTo>
                  <a:lnTo>
                    <a:pt x="0" y="1574054"/>
                  </a:lnTo>
                  <a:lnTo>
                    <a:pt x="0" y="156686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87425" y="2705354"/>
            <a:ext cx="4635500" cy="277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8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全称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950" spc="-17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Radio</a:t>
            </a:r>
            <a:r>
              <a:rPr sz="1950" spc="3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950" spc="-18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Frequency</a:t>
            </a:r>
            <a:r>
              <a:rPr sz="1950" spc="3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950" spc="-14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Identi</a:t>
            </a:r>
            <a:r>
              <a:rPr sz="1850" spc="-145" dirty="0">
                <a:solidFill>
                  <a:srgbClr val="1A1A1A"/>
                </a:solidFill>
                <a:latin typeface="Arial" panose="020B0604020202020204"/>
                <a:cs typeface="Arial" panose="020B0604020202020204"/>
              </a:rPr>
              <a:t>ﬁ</a:t>
            </a:r>
            <a:r>
              <a:rPr sz="1950" spc="-14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cation</a:t>
            </a:r>
            <a:r>
              <a:rPr sz="1850" spc="-18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，即射频识别。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2350" spc="-28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本质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种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线通信技术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，可以通过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2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线电讯号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识别特定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⽬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标并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读写相关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数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86498" y="2476499"/>
            <a:ext cx="5143500" cy="1685925"/>
            <a:chOff x="6286498" y="2476499"/>
            <a:chExt cx="5143500" cy="1685925"/>
          </a:xfrm>
        </p:grpSpPr>
        <p:sp>
          <p:nvSpPr>
            <p:cNvPr id="11" name="object 11"/>
            <p:cNvSpPr/>
            <p:nvPr/>
          </p:nvSpPr>
          <p:spPr>
            <a:xfrm>
              <a:off x="6291261" y="2481262"/>
              <a:ext cx="5133975" cy="1676400"/>
            </a:xfrm>
            <a:custGeom>
              <a:avLst/>
              <a:gdLst/>
              <a:ahLst/>
              <a:cxnLst/>
              <a:rect l="l" t="t" r="r" b="b"/>
              <a:pathLst>
                <a:path w="5133975" h="1676400">
                  <a:moveTo>
                    <a:pt x="5031630" y="1676399"/>
                  </a:moveTo>
                  <a:lnTo>
                    <a:pt x="102345" y="1676399"/>
                  </a:lnTo>
                  <a:lnTo>
                    <a:pt x="95222" y="1675698"/>
                  </a:lnTo>
                  <a:lnTo>
                    <a:pt x="54661" y="1661934"/>
                  </a:lnTo>
                  <a:lnTo>
                    <a:pt x="22455" y="1633697"/>
                  </a:lnTo>
                  <a:lnTo>
                    <a:pt x="3507" y="1595285"/>
                  </a:lnTo>
                  <a:lnTo>
                    <a:pt x="0" y="1574054"/>
                  </a:lnTo>
                  <a:lnTo>
                    <a:pt x="0" y="156686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7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5031630" y="0"/>
                  </a:lnTo>
                  <a:lnTo>
                    <a:pt x="5072998" y="11090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5" y="102345"/>
                  </a:lnTo>
                  <a:lnTo>
                    <a:pt x="5133975" y="1574054"/>
                  </a:lnTo>
                  <a:lnTo>
                    <a:pt x="5122883" y="1615424"/>
                  </a:lnTo>
                  <a:lnTo>
                    <a:pt x="5096805" y="1649402"/>
                  </a:lnTo>
                  <a:lnTo>
                    <a:pt x="5059709" y="1670813"/>
                  </a:lnTo>
                  <a:lnTo>
                    <a:pt x="5038753" y="1675698"/>
                  </a:lnTo>
                  <a:lnTo>
                    <a:pt x="5031630" y="1676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91261" y="2481262"/>
              <a:ext cx="5133975" cy="1676400"/>
            </a:xfrm>
            <a:custGeom>
              <a:avLst/>
              <a:gdLst/>
              <a:ahLst/>
              <a:cxnLst/>
              <a:rect l="l" t="t" r="r" b="b"/>
              <a:pathLst>
                <a:path w="5133975" h="1676400">
                  <a:moveTo>
                    <a:pt x="0" y="15668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5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024437" y="0"/>
                  </a:lnTo>
                  <a:lnTo>
                    <a:pt x="5031630" y="0"/>
                  </a:lnTo>
                  <a:lnTo>
                    <a:pt x="5038753" y="701"/>
                  </a:lnTo>
                  <a:lnTo>
                    <a:pt x="5045806" y="2104"/>
                  </a:lnTo>
                  <a:lnTo>
                    <a:pt x="5052860" y="3507"/>
                  </a:lnTo>
                  <a:lnTo>
                    <a:pt x="5091271" y="22456"/>
                  </a:lnTo>
                  <a:lnTo>
                    <a:pt x="5101891" y="32082"/>
                  </a:lnTo>
                  <a:lnTo>
                    <a:pt x="5106976" y="37168"/>
                  </a:lnTo>
                  <a:lnTo>
                    <a:pt x="5125636" y="67619"/>
                  </a:lnTo>
                  <a:lnTo>
                    <a:pt x="5128388" y="74263"/>
                  </a:lnTo>
                  <a:lnTo>
                    <a:pt x="5130466" y="81113"/>
                  </a:lnTo>
                  <a:lnTo>
                    <a:pt x="5131869" y="88167"/>
                  </a:lnTo>
                  <a:lnTo>
                    <a:pt x="5133272" y="95221"/>
                  </a:lnTo>
                  <a:lnTo>
                    <a:pt x="5133975" y="102345"/>
                  </a:lnTo>
                  <a:lnTo>
                    <a:pt x="5133975" y="109537"/>
                  </a:lnTo>
                  <a:lnTo>
                    <a:pt x="5133975" y="1566862"/>
                  </a:lnTo>
                  <a:lnTo>
                    <a:pt x="5133975" y="1574054"/>
                  </a:lnTo>
                  <a:lnTo>
                    <a:pt x="5133272" y="1581177"/>
                  </a:lnTo>
                  <a:lnTo>
                    <a:pt x="5119509" y="1621737"/>
                  </a:lnTo>
                  <a:lnTo>
                    <a:pt x="5091271" y="1653943"/>
                  </a:lnTo>
                  <a:lnTo>
                    <a:pt x="5085290" y="1657938"/>
                  </a:lnTo>
                  <a:lnTo>
                    <a:pt x="5079311" y="1661934"/>
                  </a:lnTo>
                  <a:lnTo>
                    <a:pt x="5045806" y="1674294"/>
                  </a:lnTo>
                  <a:lnTo>
                    <a:pt x="5038753" y="1675698"/>
                  </a:lnTo>
                  <a:lnTo>
                    <a:pt x="5031630" y="1676399"/>
                  </a:lnTo>
                  <a:lnTo>
                    <a:pt x="5024437" y="1676399"/>
                  </a:lnTo>
                  <a:lnTo>
                    <a:pt x="109538" y="1676399"/>
                  </a:lnTo>
                  <a:lnTo>
                    <a:pt x="102345" y="1676399"/>
                  </a:lnTo>
                  <a:lnTo>
                    <a:pt x="95222" y="1675698"/>
                  </a:lnTo>
                  <a:lnTo>
                    <a:pt x="88167" y="1674294"/>
                  </a:lnTo>
                  <a:lnTo>
                    <a:pt x="81113" y="1672891"/>
                  </a:lnTo>
                  <a:lnTo>
                    <a:pt x="48681" y="1657939"/>
                  </a:lnTo>
                  <a:lnTo>
                    <a:pt x="42700" y="1653943"/>
                  </a:lnTo>
                  <a:lnTo>
                    <a:pt x="37167" y="1649402"/>
                  </a:lnTo>
                  <a:lnTo>
                    <a:pt x="32082" y="1644316"/>
                  </a:lnTo>
                  <a:lnTo>
                    <a:pt x="26996" y="1639230"/>
                  </a:lnTo>
                  <a:lnTo>
                    <a:pt x="22455" y="1633697"/>
                  </a:lnTo>
                  <a:lnTo>
                    <a:pt x="18459" y="1627717"/>
                  </a:lnTo>
                  <a:lnTo>
                    <a:pt x="14464" y="1621737"/>
                  </a:lnTo>
                  <a:lnTo>
                    <a:pt x="2105" y="1588231"/>
                  </a:lnTo>
                  <a:lnTo>
                    <a:pt x="701" y="1581177"/>
                  </a:lnTo>
                  <a:lnTo>
                    <a:pt x="0" y="1574054"/>
                  </a:lnTo>
                  <a:lnTo>
                    <a:pt x="0" y="156686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511925" y="2705354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核</a:t>
            </a: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⼼</a:t>
            </a: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</a:t>
            </a:r>
            <a:r>
              <a:rPr sz="2350" spc="-3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能</a:t>
            </a:r>
            <a:endParaRPr sz="2350">
              <a:latin typeface="Adobe 黑体 Std R" panose="020B0400000000000000" charset="-122"/>
              <a:cs typeface="Adobe 黑体 Std R" panose="020B0400000000000000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11925" y="3206483"/>
            <a:ext cx="4635500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让物体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开⼝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说话</a:t>
            </a:r>
            <a:r>
              <a:rPr sz="1850" spc="40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9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，告诉我们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我是谁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12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我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来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哪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⾥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我的状态如何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7390" y="2051939"/>
            <a:ext cx="6957059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50" spc="-220" dirty="0"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3950" spc="-45" dirty="0"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3950" spc="-185" dirty="0">
                <a:latin typeface="Noto Sans SC" panose="020B0500000000000000" charset="-122"/>
                <a:cs typeface="Noto Sans SC" panose="020B0500000000000000" charset="-122"/>
              </a:rPr>
              <a:t>vs</a:t>
            </a:r>
            <a:r>
              <a:rPr sz="3950" spc="-110" dirty="0">
                <a:latin typeface="Noto Sans SC" panose="020B0500000000000000" charset="-122"/>
                <a:cs typeface="Noto Sans SC" panose="020B0500000000000000" charset="-122"/>
              </a:rPr>
              <a:t>. 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条</a:t>
            </a:r>
            <a:r>
              <a:rPr spc="-490" dirty="0"/>
              <a:t>形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码</a:t>
            </a:r>
            <a:r>
              <a:rPr spc="-490" dirty="0"/>
              <a:t>：不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⽌</a:t>
            </a:r>
            <a:r>
              <a:rPr spc="229" dirty="0"/>
              <a:t>于“看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⻅</a:t>
            </a:r>
            <a:r>
              <a:rPr spc="1630" dirty="0"/>
              <a:t>”</a:t>
            </a:r>
            <a:endParaRPr sz="39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99" y="3095624"/>
            <a:ext cx="5143500" cy="1685925"/>
            <a:chOff x="761999" y="3095624"/>
            <a:chExt cx="5143500" cy="1685925"/>
          </a:xfrm>
        </p:grpSpPr>
        <p:sp>
          <p:nvSpPr>
            <p:cNvPr id="4" name="object 4"/>
            <p:cNvSpPr/>
            <p:nvPr/>
          </p:nvSpPr>
          <p:spPr>
            <a:xfrm>
              <a:off x="766762" y="3100387"/>
              <a:ext cx="5133975" cy="1676400"/>
            </a:xfrm>
            <a:custGeom>
              <a:avLst/>
              <a:gdLst/>
              <a:ahLst/>
              <a:cxnLst/>
              <a:rect l="l" t="t" r="r" b="b"/>
              <a:pathLst>
                <a:path w="5133975" h="1676400">
                  <a:moveTo>
                    <a:pt x="5031629" y="1676399"/>
                  </a:moveTo>
                  <a:lnTo>
                    <a:pt x="102345" y="1676399"/>
                  </a:lnTo>
                  <a:lnTo>
                    <a:pt x="95221" y="1675697"/>
                  </a:lnTo>
                  <a:lnTo>
                    <a:pt x="54661" y="1661934"/>
                  </a:lnTo>
                  <a:lnTo>
                    <a:pt x="22456" y="1633697"/>
                  </a:lnTo>
                  <a:lnTo>
                    <a:pt x="3507" y="1595285"/>
                  </a:lnTo>
                  <a:lnTo>
                    <a:pt x="0" y="1574054"/>
                  </a:lnTo>
                  <a:lnTo>
                    <a:pt x="0" y="156686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031629" y="0"/>
                  </a:lnTo>
                  <a:lnTo>
                    <a:pt x="5072999" y="11090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4" y="102345"/>
                  </a:lnTo>
                  <a:lnTo>
                    <a:pt x="5133974" y="1574054"/>
                  </a:lnTo>
                  <a:lnTo>
                    <a:pt x="5122882" y="1615424"/>
                  </a:lnTo>
                  <a:lnTo>
                    <a:pt x="5096805" y="1649402"/>
                  </a:lnTo>
                  <a:lnTo>
                    <a:pt x="5059709" y="1670813"/>
                  </a:lnTo>
                  <a:lnTo>
                    <a:pt x="5038752" y="1675697"/>
                  </a:lnTo>
                  <a:lnTo>
                    <a:pt x="5031629" y="1676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3100387"/>
              <a:ext cx="5133975" cy="1676400"/>
            </a:xfrm>
            <a:custGeom>
              <a:avLst/>
              <a:gdLst/>
              <a:ahLst/>
              <a:cxnLst/>
              <a:rect l="l" t="t" r="r" b="b"/>
              <a:pathLst>
                <a:path w="5133975" h="1676400">
                  <a:moveTo>
                    <a:pt x="0" y="15668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024437" y="0"/>
                  </a:lnTo>
                  <a:lnTo>
                    <a:pt x="5031629" y="0"/>
                  </a:lnTo>
                  <a:lnTo>
                    <a:pt x="5038752" y="701"/>
                  </a:lnTo>
                  <a:lnTo>
                    <a:pt x="5079311" y="14464"/>
                  </a:lnTo>
                  <a:lnTo>
                    <a:pt x="5085292" y="18460"/>
                  </a:lnTo>
                  <a:lnTo>
                    <a:pt x="5091272" y="22455"/>
                  </a:lnTo>
                  <a:lnTo>
                    <a:pt x="5096805" y="26996"/>
                  </a:lnTo>
                  <a:lnTo>
                    <a:pt x="5101891" y="32082"/>
                  </a:lnTo>
                  <a:lnTo>
                    <a:pt x="5106976" y="37168"/>
                  </a:lnTo>
                  <a:lnTo>
                    <a:pt x="5111517" y="42701"/>
                  </a:lnTo>
                  <a:lnTo>
                    <a:pt x="5115512" y="48681"/>
                  </a:lnTo>
                  <a:lnTo>
                    <a:pt x="5119508" y="54661"/>
                  </a:lnTo>
                  <a:lnTo>
                    <a:pt x="5122882" y="60974"/>
                  </a:lnTo>
                  <a:lnTo>
                    <a:pt x="5125635" y="67619"/>
                  </a:lnTo>
                  <a:lnTo>
                    <a:pt x="5128388" y="74263"/>
                  </a:lnTo>
                  <a:lnTo>
                    <a:pt x="5133974" y="109537"/>
                  </a:lnTo>
                  <a:lnTo>
                    <a:pt x="5133974" y="1566862"/>
                  </a:lnTo>
                  <a:lnTo>
                    <a:pt x="5125635" y="1608779"/>
                  </a:lnTo>
                  <a:lnTo>
                    <a:pt x="5122882" y="1615424"/>
                  </a:lnTo>
                  <a:lnTo>
                    <a:pt x="5096805" y="1649402"/>
                  </a:lnTo>
                  <a:lnTo>
                    <a:pt x="5066354" y="1668060"/>
                  </a:lnTo>
                  <a:lnTo>
                    <a:pt x="5059709" y="1670813"/>
                  </a:lnTo>
                  <a:lnTo>
                    <a:pt x="5052859" y="1672891"/>
                  </a:lnTo>
                  <a:lnTo>
                    <a:pt x="5045806" y="1674294"/>
                  </a:lnTo>
                  <a:lnTo>
                    <a:pt x="5038752" y="1675697"/>
                  </a:lnTo>
                  <a:lnTo>
                    <a:pt x="5031629" y="1676399"/>
                  </a:lnTo>
                  <a:lnTo>
                    <a:pt x="5024437" y="1676399"/>
                  </a:lnTo>
                  <a:lnTo>
                    <a:pt x="109537" y="1676399"/>
                  </a:lnTo>
                  <a:lnTo>
                    <a:pt x="102345" y="1676399"/>
                  </a:lnTo>
                  <a:lnTo>
                    <a:pt x="95221" y="1675697"/>
                  </a:lnTo>
                  <a:lnTo>
                    <a:pt x="88167" y="1674294"/>
                  </a:lnTo>
                  <a:lnTo>
                    <a:pt x="81113" y="1672891"/>
                  </a:lnTo>
                  <a:lnTo>
                    <a:pt x="74264" y="1670813"/>
                  </a:lnTo>
                  <a:lnTo>
                    <a:pt x="67619" y="1668061"/>
                  </a:lnTo>
                  <a:lnTo>
                    <a:pt x="60974" y="1665308"/>
                  </a:lnTo>
                  <a:lnTo>
                    <a:pt x="26996" y="1639230"/>
                  </a:lnTo>
                  <a:lnTo>
                    <a:pt x="8337" y="1608779"/>
                  </a:lnTo>
                  <a:lnTo>
                    <a:pt x="5585" y="1602135"/>
                  </a:lnTo>
                  <a:lnTo>
                    <a:pt x="3507" y="1595285"/>
                  </a:lnTo>
                  <a:lnTo>
                    <a:pt x="2104" y="1588231"/>
                  </a:lnTo>
                  <a:lnTo>
                    <a:pt x="701" y="1581177"/>
                  </a:lnTo>
                  <a:lnTo>
                    <a:pt x="0" y="1574054"/>
                  </a:lnTo>
                  <a:lnTo>
                    <a:pt x="0" y="156686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87425" y="3324478"/>
            <a:ext cx="4635500" cy="11938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93065">
              <a:lnSpc>
                <a:spcPct val="100000"/>
              </a:lnSpc>
              <a:spcBef>
                <a:spcPts val="120"/>
              </a:spcBef>
            </a:pPr>
            <a:r>
              <a:rPr sz="2350" spc="-28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条形码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  <a:spcBef>
                <a:spcPts val="1100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像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⼀个⼈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姓名牌</a:t>
            </a:r>
            <a:r>
              <a:rPr sz="1850" spc="40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40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需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⽤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扫描器（光线）</a:t>
            </a:r>
            <a:r>
              <a:rPr sz="1850" spc="-1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准才能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读取</a:t>
            </a:r>
            <a:r>
              <a:rPr sz="1850" spc="40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40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次只能读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⼀个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且</a:t>
            </a:r>
            <a:r>
              <a:rPr sz="185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容易污损。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86498" y="3095624"/>
            <a:ext cx="5143500" cy="2019300"/>
            <a:chOff x="6286498" y="3095624"/>
            <a:chExt cx="5143500" cy="2019300"/>
          </a:xfrm>
        </p:grpSpPr>
        <p:sp>
          <p:nvSpPr>
            <p:cNvPr id="8" name="object 8"/>
            <p:cNvSpPr/>
            <p:nvPr/>
          </p:nvSpPr>
          <p:spPr>
            <a:xfrm>
              <a:off x="6291261" y="3100387"/>
              <a:ext cx="5133975" cy="2009775"/>
            </a:xfrm>
            <a:custGeom>
              <a:avLst/>
              <a:gdLst/>
              <a:ahLst/>
              <a:cxnLst/>
              <a:rect l="l" t="t" r="r" b="b"/>
              <a:pathLst>
                <a:path w="5133975" h="2009775">
                  <a:moveTo>
                    <a:pt x="5031630" y="2009774"/>
                  </a:moveTo>
                  <a:lnTo>
                    <a:pt x="102345" y="2009774"/>
                  </a:lnTo>
                  <a:lnTo>
                    <a:pt x="95222" y="2009073"/>
                  </a:lnTo>
                  <a:lnTo>
                    <a:pt x="54661" y="1995309"/>
                  </a:lnTo>
                  <a:lnTo>
                    <a:pt x="22455" y="1967072"/>
                  </a:lnTo>
                  <a:lnTo>
                    <a:pt x="3507" y="1928661"/>
                  </a:lnTo>
                  <a:lnTo>
                    <a:pt x="0" y="1907429"/>
                  </a:lnTo>
                  <a:lnTo>
                    <a:pt x="0" y="19002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7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5031630" y="0"/>
                  </a:lnTo>
                  <a:lnTo>
                    <a:pt x="5072998" y="11090"/>
                  </a:lnTo>
                  <a:lnTo>
                    <a:pt x="5106976" y="37168"/>
                  </a:lnTo>
                  <a:lnTo>
                    <a:pt x="5128388" y="74263"/>
                  </a:lnTo>
                  <a:lnTo>
                    <a:pt x="5133975" y="102345"/>
                  </a:lnTo>
                  <a:lnTo>
                    <a:pt x="5133975" y="1907429"/>
                  </a:lnTo>
                  <a:lnTo>
                    <a:pt x="5122883" y="1948800"/>
                  </a:lnTo>
                  <a:lnTo>
                    <a:pt x="5096805" y="1982778"/>
                  </a:lnTo>
                  <a:lnTo>
                    <a:pt x="5059709" y="2004189"/>
                  </a:lnTo>
                  <a:lnTo>
                    <a:pt x="5038753" y="2009073"/>
                  </a:lnTo>
                  <a:lnTo>
                    <a:pt x="5031630" y="2009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91261" y="3100387"/>
              <a:ext cx="5133975" cy="2009775"/>
            </a:xfrm>
            <a:custGeom>
              <a:avLst/>
              <a:gdLst/>
              <a:ahLst/>
              <a:cxnLst/>
              <a:rect l="l" t="t" r="r" b="b"/>
              <a:pathLst>
                <a:path w="5133975" h="2009775">
                  <a:moveTo>
                    <a:pt x="0" y="19002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5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024437" y="0"/>
                  </a:lnTo>
                  <a:lnTo>
                    <a:pt x="5031630" y="0"/>
                  </a:lnTo>
                  <a:lnTo>
                    <a:pt x="5038753" y="701"/>
                  </a:lnTo>
                  <a:lnTo>
                    <a:pt x="5045806" y="2104"/>
                  </a:lnTo>
                  <a:lnTo>
                    <a:pt x="5052860" y="3507"/>
                  </a:lnTo>
                  <a:lnTo>
                    <a:pt x="5091271" y="22455"/>
                  </a:lnTo>
                  <a:lnTo>
                    <a:pt x="5101891" y="32082"/>
                  </a:lnTo>
                  <a:lnTo>
                    <a:pt x="5106976" y="37168"/>
                  </a:lnTo>
                  <a:lnTo>
                    <a:pt x="5111517" y="42701"/>
                  </a:lnTo>
                  <a:lnTo>
                    <a:pt x="5115513" y="48681"/>
                  </a:lnTo>
                  <a:lnTo>
                    <a:pt x="5119509" y="54661"/>
                  </a:lnTo>
                  <a:lnTo>
                    <a:pt x="5122883" y="60974"/>
                  </a:lnTo>
                  <a:lnTo>
                    <a:pt x="5125636" y="67619"/>
                  </a:lnTo>
                  <a:lnTo>
                    <a:pt x="5128388" y="74263"/>
                  </a:lnTo>
                  <a:lnTo>
                    <a:pt x="5130466" y="81113"/>
                  </a:lnTo>
                  <a:lnTo>
                    <a:pt x="5131869" y="88167"/>
                  </a:lnTo>
                  <a:lnTo>
                    <a:pt x="5133272" y="95221"/>
                  </a:lnTo>
                  <a:lnTo>
                    <a:pt x="5133975" y="102345"/>
                  </a:lnTo>
                  <a:lnTo>
                    <a:pt x="5133975" y="109537"/>
                  </a:lnTo>
                  <a:lnTo>
                    <a:pt x="5133975" y="1900237"/>
                  </a:lnTo>
                  <a:lnTo>
                    <a:pt x="5133975" y="1907429"/>
                  </a:lnTo>
                  <a:lnTo>
                    <a:pt x="5133272" y="1914552"/>
                  </a:lnTo>
                  <a:lnTo>
                    <a:pt x="5131869" y="1921606"/>
                  </a:lnTo>
                  <a:lnTo>
                    <a:pt x="5130466" y="1928661"/>
                  </a:lnTo>
                  <a:lnTo>
                    <a:pt x="5128388" y="1935510"/>
                  </a:lnTo>
                  <a:lnTo>
                    <a:pt x="5125636" y="1942155"/>
                  </a:lnTo>
                  <a:lnTo>
                    <a:pt x="5122883" y="1948800"/>
                  </a:lnTo>
                  <a:lnTo>
                    <a:pt x="5101891" y="1977691"/>
                  </a:lnTo>
                  <a:lnTo>
                    <a:pt x="5096805" y="1982778"/>
                  </a:lnTo>
                  <a:lnTo>
                    <a:pt x="5091271" y="1987318"/>
                  </a:lnTo>
                  <a:lnTo>
                    <a:pt x="5085290" y="1991314"/>
                  </a:lnTo>
                  <a:lnTo>
                    <a:pt x="5079311" y="1995309"/>
                  </a:lnTo>
                  <a:lnTo>
                    <a:pt x="5072998" y="1998684"/>
                  </a:lnTo>
                  <a:lnTo>
                    <a:pt x="5066354" y="2001436"/>
                  </a:lnTo>
                  <a:lnTo>
                    <a:pt x="5059709" y="2004189"/>
                  </a:lnTo>
                  <a:lnTo>
                    <a:pt x="5052860" y="2006266"/>
                  </a:lnTo>
                  <a:lnTo>
                    <a:pt x="5045806" y="2007669"/>
                  </a:lnTo>
                  <a:lnTo>
                    <a:pt x="5038753" y="2009073"/>
                  </a:lnTo>
                  <a:lnTo>
                    <a:pt x="5031630" y="2009774"/>
                  </a:lnTo>
                  <a:lnTo>
                    <a:pt x="5024437" y="2009774"/>
                  </a:lnTo>
                  <a:lnTo>
                    <a:pt x="109538" y="2009774"/>
                  </a:lnTo>
                  <a:lnTo>
                    <a:pt x="102345" y="2009774"/>
                  </a:lnTo>
                  <a:lnTo>
                    <a:pt x="95222" y="2009073"/>
                  </a:lnTo>
                  <a:lnTo>
                    <a:pt x="88167" y="2007669"/>
                  </a:lnTo>
                  <a:lnTo>
                    <a:pt x="81113" y="2006266"/>
                  </a:lnTo>
                  <a:lnTo>
                    <a:pt x="74263" y="2004189"/>
                  </a:lnTo>
                  <a:lnTo>
                    <a:pt x="67618" y="2001436"/>
                  </a:lnTo>
                  <a:lnTo>
                    <a:pt x="60973" y="1998684"/>
                  </a:lnTo>
                  <a:lnTo>
                    <a:pt x="54661" y="1995309"/>
                  </a:lnTo>
                  <a:lnTo>
                    <a:pt x="48681" y="1991314"/>
                  </a:lnTo>
                  <a:lnTo>
                    <a:pt x="42700" y="1987318"/>
                  </a:lnTo>
                  <a:lnTo>
                    <a:pt x="37167" y="1982778"/>
                  </a:lnTo>
                  <a:lnTo>
                    <a:pt x="32082" y="1977691"/>
                  </a:lnTo>
                  <a:lnTo>
                    <a:pt x="26996" y="1972605"/>
                  </a:lnTo>
                  <a:lnTo>
                    <a:pt x="22455" y="1967072"/>
                  </a:lnTo>
                  <a:lnTo>
                    <a:pt x="18459" y="1961092"/>
                  </a:lnTo>
                  <a:lnTo>
                    <a:pt x="14464" y="1955111"/>
                  </a:lnTo>
                  <a:lnTo>
                    <a:pt x="2105" y="1921606"/>
                  </a:lnTo>
                  <a:lnTo>
                    <a:pt x="701" y="1914552"/>
                  </a:lnTo>
                  <a:lnTo>
                    <a:pt x="0" y="1907429"/>
                  </a:lnTo>
                  <a:lnTo>
                    <a:pt x="0" y="19002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892925" y="3334053"/>
            <a:ext cx="60388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10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endParaRPr sz="2300">
              <a:latin typeface="Noto Sans SC" panose="020B0500000000000000" charset="-122"/>
              <a:cs typeface="Noto Sans SC" panose="020B0500000000000000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1925" y="3825607"/>
            <a:ext cx="4635500" cy="10350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更像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张内置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了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个⼈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简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介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⾝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份证</a:t>
            </a:r>
            <a:r>
              <a:rPr sz="1850" spc="40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4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，通过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ts val="2700"/>
              </a:lnSpc>
              <a:spcBef>
                <a:spcPts val="30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电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波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⼴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播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信息，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需对准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，可穿透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⾮⾦</a:t>
            </a:r>
            <a:r>
              <a:rPr sz="1850" spc="-1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属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材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料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能同时读取多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个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5128" y="3440906"/>
            <a:ext cx="216693" cy="16685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4625" y="3432571"/>
            <a:ext cx="266698" cy="183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7560" y="1099438"/>
            <a:ext cx="519684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950" spc="-220" dirty="0"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pc="-490" dirty="0"/>
              <a:t>系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统</a:t>
            </a:r>
            <a:r>
              <a:rPr spc="-490" dirty="0"/>
              <a:t>的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三个</a:t>
            </a:r>
            <a:r>
              <a:rPr spc="-490" dirty="0"/>
              <a:t>核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⼼组</a:t>
            </a:r>
            <a:r>
              <a:rPr spc="-540" dirty="0"/>
              <a:t>件</a:t>
            </a:r>
            <a:endParaRPr sz="39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3499" y="2143124"/>
            <a:ext cx="9525000" cy="95250"/>
          </a:xfrm>
          <a:custGeom>
            <a:avLst/>
            <a:gdLst/>
            <a:ahLst/>
            <a:cxnLst/>
            <a:rect l="l" t="t" r="r" b="b"/>
            <a:pathLst>
              <a:path w="9525000" h="95250">
                <a:moveTo>
                  <a:pt x="9491951" y="95249"/>
                </a:moveTo>
                <a:lnTo>
                  <a:pt x="33047" y="95249"/>
                </a:lnTo>
                <a:lnTo>
                  <a:pt x="28187" y="94283"/>
                </a:lnTo>
                <a:lnTo>
                  <a:pt x="966" y="67062"/>
                </a:lnTo>
                <a:lnTo>
                  <a:pt x="0" y="62202"/>
                </a:lnTo>
                <a:lnTo>
                  <a:pt x="0" y="571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9491951" y="0"/>
                </a:lnTo>
                <a:lnTo>
                  <a:pt x="9524030" y="28187"/>
                </a:lnTo>
                <a:lnTo>
                  <a:pt x="9524998" y="33047"/>
                </a:lnTo>
                <a:lnTo>
                  <a:pt x="9524998" y="62202"/>
                </a:lnTo>
                <a:lnTo>
                  <a:pt x="9496811" y="94283"/>
                </a:lnTo>
                <a:lnTo>
                  <a:pt x="9491951" y="9524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33499" y="3095624"/>
            <a:ext cx="2667000" cy="2400300"/>
            <a:chOff x="1333499" y="3095624"/>
            <a:chExt cx="2667000" cy="2400300"/>
          </a:xfrm>
        </p:grpSpPr>
        <p:sp>
          <p:nvSpPr>
            <p:cNvPr id="5" name="object 5"/>
            <p:cNvSpPr/>
            <p:nvPr/>
          </p:nvSpPr>
          <p:spPr>
            <a:xfrm>
              <a:off x="1338262" y="3100387"/>
              <a:ext cx="2657475" cy="2390775"/>
            </a:xfrm>
            <a:custGeom>
              <a:avLst/>
              <a:gdLst/>
              <a:ahLst/>
              <a:cxnLst/>
              <a:rect l="l" t="t" r="r" b="b"/>
              <a:pathLst>
                <a:path w="2657475" h="2390775">
                  <a:moveTo>
                    <a:pt x="2555129" y="2390774"/>
                  </a:moveTo>
                  <a:lnTo>
                    <a:pt x="102345" y="2390774"/>
                  </a:lnTo>
                  <a:lnTo>
                    <a:pt x="95221" y="2390072"/>
                  </a:lnTo>
                  <a:lnTo>
                    <a:pt x="54661" y="2376309"/>
                  </a:lnTo>
                  <a:lnTo>
                    <a:pt x="22456" y="2348072"/>
                  </a:lnTo>
                  <a:lnTo>
                    <a:pt x="3507" y="2309661"/>
                  </a:lnTo>
                  <a:lnTo>
                    <a:pt x="0" y="22812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55129" y="0"/>
                  </a:lnTo>
                  <a:lnTo>
                    <a:pt x="2596499" y="11090"/>
                  </a:lnTo>
                  <a:lnTo>
                    <a:pt x="2630477" y="37168"/>
                  </a:lnTo>
                  <a:lnTo>
                    <a:pt x="2651888" y="74263"/>
                  </a:lnTo>
                  <a:lnTo>
                    <a:pt x="2657474" y="102345"/>
                  </a:lnTo>
                  <a:lnTo>
                    <a:pt x="2657474" y="2288429"/>
                  </a:lnTo>
                  <a:lnTo>
                    <a:pt x="2646383" y="2329799"/>
                  </a:lnTo>
                  <a:lnTo>
                    <a:pt x="2620305" y="2363777"/>
                  </a:lnTo>
                  <a:lnTo>
                    <a:pt x="2583210" y="2385188"/>
                  </a:lnTo>
                  <a:lnTo>
                    <a:pt x="2555129" y="2390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38262" y="3100387"/>
              <a:ext cx="2657475" cy="2390775"/>
            </a:xfrm>
            <a:custGeom>
              <a:avLst/>
              <a:gdLst/>
              <a:ahLst/>
              <a:cxnLst/>
              <a:rect l="l" t="t" r="r" b="b"/>
              <a:pathLst>
                <a:path w="2657475" h="2390775">
                  <a:moveTo>
                    <a:pt x="0" y="22812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47937" y="0"/>
                  </a:lnTo>
                  <a:lnTo>
                    <a:pt x="2555129" y="0"/>
                  </a:lnTo>
                  <a:lnTo>
                    <a:pt x="2562252" y="701"/>
                  </a:lnTo>
                  <a:lnTo>
                    <a:pt x="2602812" y="14464"/>
                  </a:lnTo>
                  <a:lnTo>
                    <a:pt x="2608792" y="18460"/>
                  </a:lnTo>
                  <a:lnTo>
                    <a:pt x="2614772" y="22455"/>
                  </a:lnTo>
                  <a:lnTo>
                    <a:pt x="2620305" y="26996"/>
                  </a:lnTo>
                  <a:lnTo>
                    <a:pt x="2625391" y="32082"/>
                  </a:lnTo>
                  <a:lnTo>
                    <a:pt x="2630477" y="37168"/>
                  </a:lnTo>
                  <a:lnTo>
                    <a:pt x="2635017" y="42701"/>
                  </a:lnTo>
                  <a:lnTo>
                    <a:pt x="2639013" y="48681"/>
                  </a:lnTo>
                  <a:lnTo>
                    <a:pt x="2643009" y="54661"/>
                  </a:lnTo>
                  <a:lnTo>
                    <a:pt x="2646383" y="60974"/>
                  </a:lnTo>
                  <a:lnTo>
                    <a:pt x="2649136" y="67619"/>
                  </a:lnTo>
                  <a:lnTo>
                    <a:pt x="2651888" y="74263"/>
                  </a:lnTo>
                  <a:lnTo>
                    <a:pt x="2657474" y="109537"/>
                  </a:lnTo>
                  <a:lnTo>
                    <a:pt x="2657474" y="2281237"/>
                  </a:lnTo>
                  <a:lnTo>
                    <a:pt x="2649136" y="2323155"/>
                  </a:lnTo>
                  <a:lnTo>
                    <a:pt x="2625391" y="2358691"/>
                  </a:lnTo>
                  <a:lnTo>
                    <a:pt x="2589855" y="2382436"/>
                  </a:lnTo>
                  <a:lnTo>
                    <a:pt x="2547937" y="2390774"/>
                  </a:lnTo>
                  <a:lnTo>
                    <a:pt x="109537" y="2390774"/>
                  </a:lnTo>
                  <a:lnTo>
                    <a:pt x="67619" y="2382436"/>
                  </a:lnTo>
                  <a:lnTo>
                    <a:pt x="48681" y="2372314"/>
                  </a:lnTo>
                  <a:lnTo>
                    <a:pt x="42701" y="2368318"/>
                  </a:lnTo>
                  <a:lnTo>
                    <a:pt x="18460" y="2342092"/>
                  </a:lnTo>
                  <a:lnTo>
                    <a:pt x="14464" y="2336111"/>
                  </a:lnTo>
                  <a:lnTo>
                    <a:pt x="2104" y="2302606"/>
                  </a:lnTo>
                  <a:lnTo>
                    <a:pt x="701" y="2295552"/>
                  </a:lnTo>
                  <a:lnTo>
                    <a:pt x="0" y="2288429"/>
                  </a:lnTo>
                  <a:lnTo>
                    <a:pt x="0" y="22812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58924" y="3324478"/>
            <a:ext cx="2120900" cy="19177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703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电</a:t>
            </a: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⼦</a:t>
            </a:r>
            <a:r>
              <a:rPr sz="2350" spc="-28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67030">
              <a:lnSpc>
                <a:spcPct val="100000"/>
              </a:lnSpc>
              <a:spcBef>
                <a:spcPts val="30"/>
              </a:spcBef>
            </a:pPr>
            <a:r>
              <a:rPr sz="2350" spc="-30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500" spc="-30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Tag</a:t>
            </a:r>
            <a:r>
              <a:rPr sz="2350" spc="-30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20000"/>
              </a:lnSpc>
              <a:spcBef>
                <a:spcPts val="103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附着在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物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体上，包含识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别信息和芯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⽚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的天线，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物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体的“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⾝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份证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62499" y="2762249"/>
            <a:ext cx="2667000" cy="2733675"/>
            <a:chOff x="4762499" y="2762249"/>
            <a:chExt cx="2667000" cy="2733675"/>
          </a:xfrm>
        </p:grpSpPr>
        <p:sp>
          <p:nvSpPr>
            <p:cNvPr id="9" name="object 9"/>
            <p:cNvSpPr/>
            <p:nvPr/>
          </p:nvSpPr>
          <p:spPr>
            <a:xfrm>
              <a:off x="4767262" y="2767012"/>
              <a:ext cx="2657475" cy="2724150"/>
            </a:xfrm>
            <a:custGeom>
              <a:avLst/>
              <a:gdLst/>
              <a:ahLst/>
              <a:cxnLst/>
              <a:rect l="l" t="t" r="r" b="b"/>
              <a:pathLst>
                <a:path w="2657475" h="2724150">
                  <a:moveTo>
                    <a:pt x="2555129" y="2724149"/>
                  </a:moveTo>
                  <a:lnTo>
                    <a:pt x="102344" y="2724149"/>
                  </a:lnTo>
                  <a:lnTo>
                    <a:pt x="95221" y="2723447"/>
                  </a:lnTo>
                  <a:lnTo>
                    <a:pt x="54661" y="2709684"/>
                  </a:lnTo>
                  <a:lnTo>
                    <a:pt x="22455" y="2681447"/>
                  </a:lnTo>
                  <a:lnTo>
                    <a:pt x="3507" y="2643036"/>
                  </a:lnTo>
                  <a:lnTo>
                    <a:pt x="0" y="2621804"/>
                  </a:lnTo>
                  <a:lnTo>
                    <a:pt x="0" y="26146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2555129" y="0"/>
                  </a:lnTo>
                  <a:lnTo>
                    <a:pt x="2596500" y="11090"/>
                  </a:lnTo>
                  <a:lnTo>
                    <a:pt x="2630476" y="37168"/>
                  </a:lnTo>
                  <a:lnTo>
                    <a:pt x="2651888" y="74263"/>
                  </a:lnTo>
                  <a:lnTo>
                    <a:pt x="2657474" y="102345"/>
                  </a:lnTo>
                  <a:lnTo>
                    <a:pt x="2657474" y="2621804"/>
                  </a:lnTo>
                  <a:lnTo>
                    <a:pt x="2646383" y="2663174"/>
                  </a:lnTo>
                  <a:lnTo>
                    <a:pt x="2620305" y="2697152"/>
                  </a:lnTo>
                  <a:lnTo>
                    <a:pt x="2583209" y="2718563"/>
                  </a:lnTo>
                  <a:lnTo>
                    <a:pt x="2562252" y="2723447"/>
                  </a:lnTo>
                  <a:lnTo>
                    <a:pt x="2555129" y="2724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67262" y="2767012"/>
              <a:ext cx="2657475" cy="2724150"/>
            </a:xfrm>
            <a:custGeom>
              <a:avLst/>
              <a:gdLst/>
              <a:ahLst/>
              <a:cxnLst/>
              <a:rect l="l" t="t" r="r" b="b"/>
              <a:pathLst>
                <a:path w="2657475" h="2724150">
                  <a:moveTo>
                    <a:pt x="0" y="26146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4" y="0"/>
                  </a:lnTo>
                  <a:lnTo>
                    <a:pt x="109537" y="0"/>
                  </a:lnTo>
                  <a:lnTo>
                    <a:pt x="2547937" y="0"/>
                  </a:lnTo>
                  <a:lnTo>
                    <a:pt x="2555129" y="0"/>
                  </a:lnTo>
                  <a:lnTo>
                    <a:pt x="2562252" y="701"/>
                  </a:lnTo>
                  <a:lnTo>
                    <a:pt x="2569306" y="2104"/>
                  </a:lnTo>
                  <a:lnTo>
                    <a:pt x="2576359" y="3507"/>
                  </a:lnTo>
                  <a:lnTo>
                    <a:pt x="2583209" y="5585"/>
                  </a:lnTo>
                  <a:lnTo>
                    <a:pt x="2589854" y="8337"/>
                  </a:lnTo>
                  <a:lnTo>
                    <a:pt x="2596500" y="11090"/>
                  </a:lnTo>
                  <a:lnTo>
                    <a:pt x="2602812" y="14464"/>
                  </a:lnTo>
                  <a:lnTo>
                    <a:pt x="2608792" y="18459"/>
                  </a:lnTo>
                  <a:lnTo>
                    <a:pt x="2614772" y="22455"/>
                  </a:lnTo>
                  <a:lnTo>
                    <a:pt x="2643008" y="54661"/>
                  </a:lnTo>
                  <a:lnTo>
                    <a:pt x="2656772" y="95221"/>
                  </a:lnTo>
                  <a:lnTo>
                    <a:pt x="2657474" y="109537"/>
                  </a:lnTo>
                  <a:lnTo>
                    <a:pt x="2657474" y="2614612"/>
                  </a:lnTo>
                  <a:lnTo>
                    <a:pt x="2649135" y="2656530"/>
                  </a:lnTo>
                  <a:lnTo>
                    <a:pt x="2646383" y="2663174"/>
                  </a:lnTo>
                  <a:lnTo>
                    <a:pt x="2643008" y="2669486"/>
                  </a:lnTo>
                  <a:lnTo>
                    <a:pt x="2639013" y="2675466"/>
                  </a:lnTo>
                  <a:lnTo>
                    <a:pt x="2635017" y="2681447"/>
                  </a:lnTo>
                  <a:lnTo>
                    <a:pt x="2602812" y="2709684"/>
                  </a:lnTo>
                  <a:lnTo>
                    <a:pt x="2562252" y="2723447"/>
                  </a:lnTo>
                  <a:lnTo>
                    <a:pt x="2547937" y="2724149"/>
                  </a:lnTo>
                  <a:lnTo>
                    <a:pt x="109537" y="2724149"/>
                  </a:lnTo>
                  <a:lnTo>
                    <a:pt x="67619" y="2715811"/>
                  </a:lnTo>
                  <a:lnTo>
                    <a:pt x="32082" y="2692066"/>
                  </a:lnTo>
                  <a:lnTo>
                    <a:pt x="18460" y="2675467"/>
                  </a:lnTo>
                  <a:lnTo>
                    <a:pt x="14464" y="2669486"/>
                  </a:lnTo>
                  <a:lnTo>
                    <a:pt x="2104" y="2635981"/>
                  </a:lnTo>
                  <a:lnTo>
                    <a:pt x="701" y="2628927"/>
                  </a:lnTo>
                  <a:lnTo>
                    <a:pt x="0" y="2621804"/>
                  </a:lnTo>
                  <a:lnTo>
                    <a:pt x="0" y="261461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987924" y="2991104"/>
            <a:ext cx="2120900" cy="2251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20"/>
              </a:spcBef>
            </a:pPr>
            <a:r>
              <a:rPr sz="2350" spc="-28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读写器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0520">
              <a:lnSpc>
                <a:spcPct val="100000"/>
              </a:lnSpc>
              <a:spcBef>
                <a:spcPts val="30"/>
              </a:spcBef>
            </a:pPr>
            <a:r>
              <a:rPr sz="2350" spc="-12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500" spc="-12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Reader</a:t>
            </a:r>
            <a:r>
              <a:rPr sz="2350" spc="-12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9000"/>
              </a:lnSpc>
              <a:spcBef>
                <a:spcPts val="104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发射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线电信号并接</a:t>
            </a:r>
            <a:r>
              <a:rPr sz="1850" spc="-215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收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标签返回信息的设备，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是读取“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⾝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份证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”的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扫描仪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191498" y="2428874"/>
            <a:ext cx="2667000" cy="3067050"/>
            <a:chOff x="8191498" y="2428874"/>
            <a:chExt cx="2667000" cy="3067050"/>
          </a:xfrm>
        </p:grpSpPr>
        <p:sp>
          <p:nvSpPr>
            <p:cNvPr id="13" name="object 13"/>
            <p:cNvSpPr/>
            <p:nvPr/>
          </p:nvSpPr>
          <p:spPr>
            <a:xfrm>
              <a:off x="8196260" y="2433637"/>
              <a:ext cx="2657475" cy="3057525"/>
            </a:xfrm>
            <a:custGeom>
              <a:avLst/>
              <a:gdLst/>
              <a:ahLst/>
              <a:cxnLst/>
              <a:rect l="l" t="t" r="r" b="b"/>
              <a:pathLst>
                <a:path w="2657475" h="3057525">
                  <a:moveTo>
                    <a:pt x="2555130" y="3057524"/>
                  </a:moveTo>
                  <a:lnTo>
                    <a:pt x="102345" y="3057524"/>
                  </a:lnTo>
                  <a:lnTo>
                    <a:pt x="95222" y="3056822"/>
                  </a:lnTo>
                  <a:lnTo>
                    <a:pt x="54661" y="3043059"/>
                  </a:lnTo>
                  <a:lnTo>
                    <a:pt x="22455" y="3014822"/>
                  </a:lnTo>
                  <a:lnTo>
                    <a:pt x="3507" y="2976411"/>
                  </a:lnTo>
                  <a:lnTo>
                    <a:pt x="0" y="2955179"/>
                  </a:lnTo>
                  <a:lnTo>
                    <a:pt x="0" y="2947987"/>
                  </a:lnTo>
                  <a:lnTo>
                    <a:pt x="0" y="102345"/>
                  </a:lnTo>
                  <a:lnTo>
                    <a:pt x="11089" y="60974"/>
                  </a:lnTo>
                  <a:lnTo>
                    <a:pt x="37167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2555130" y="0"/>
                  </a:lnTo>
                  <a:lnTo>
                    <a:pt x="2596500" y="11090"/>
                  </a:lnTo>
                  <a:lnTo>
                    <a:pt x="2630477" y="37168"/>
                  </a:lnTo>
                  <a:lnTo>
                    <a:pt x="2651887" y="74263"/>
                  </a:lnTo>
                  <a:lnTo>
                    <a:pt x="2657474" y="102345"/>
                  </a:lnTo>
                  <a:lnTo>
                    <a:pt x="2657474" y="2955179"/>
                  </a:lnTo>
                  <a:lnTo>
                    <a:pt x="2646383" y="2996549"/>
                  </a:lnTo>
                  <a:lnTo>
                    <a:pt x="2620306" y="3030527"/>
                  </a:lnTo>
                  <a:lnTo>
                    <a:pt x="2583210" y="3051938"/>
                  </a:lnTo>
                  <a:lnTo>
                    <a:pt x="2562253" y="3056822"/>
                  </a:lnTo>
                  <a:lnTo>
                    <a:pt x="2555130" y="3057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196260" y="2433637"/>
              <a:ext cx="2657475" cy="3057525"/>
            </a:xfrm>
            <a:custGeom>
              <a:avLst/>
              <a:gdLst/>
              <a:ahLst/>
              <a:cxnLst/>
              <a:rect l="l" t="t" r="r" b="b"/>
              <a:pathLst>
                <a:path w="2657475" h="3057525">
                  <a:moveTo>
                    <a:pt x="0" y="29479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3"/>
                  </a:lnTo>
                  <a:lnTo>
                    <a:pt x="8337" y="67619"/>
                  </a:lnTo>
                  <a:lnTo>
                    <a:pt x="11089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6"/>
                  </a:lnTo>
                  <a:lnTo>
                    <a:pt x="48680" y="18460"/>
                  </a:lnTo>
                  <a:lnTo>
                    <a:pt x="54661" y="1446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2547937" y="0"/>
                  </a:lnTo>
                  <a:lnTo>
                    <a:pt x="2555130" y="0"/>
                  </a:lnTo>
                  <a:lnTo>
                    <a:pt x="2562253" y="701"/>
                  </a:lnTo>
                  <a:lnTo>
                    <a:pt x="2569307" y="2104"/>
                  </a:lnTo>
                  <a:lnTo>
                    <a:pt x="2576361" y="3507"/>
                  </a:lnTo>
                  <a:lnTo>
                    <a:pt x="2583210" y="5585"/>
                  </a:lnTo>
                  <a:lnTo>
                    <a:pt x="2589855" y="8337"/>
                  </a:lnTo>
                  <a:lnTo>
                    <a:pt x="2596500" y="11090"/>
                  </a:lnTo>
                  <a:lnTo>
                    <a:pt x="2602813" y="14464"/>
                  </a:lnTo>
                  <a:lnTo>
                    <a:pt x="2608793" y="18460"/>
                  </a:lnTo>
                  <a:lnTo>
                    <a:pt x="2614773" y="22456"/>
                  </a:lnTo>
                  <a:lnTo>
                    <a:pt x="2643008" y="54661"/>
                  </a:lnTo>
                  <a:lnTo>
                    <a:pt x="2649135" y="67618"/>
                  </a:lnTo>
                  <a:lnTo>
                    <a:pt x="2651887" y="74263"/>
                  </a:lnTo>
                  <a:lnTo>
                    <a:pt x="2653966" y="81113"/>
                  </a:lnTo>
                  <a:lnTo>
                    <a:pt x="2655369" y="88167"/>
                  </a:lnTo>
                  <a:lnTo>
                    <a:pt x="2656773" y="95221"/>
                  </a:lnTo>
                  <a:lnTo>
                    <a:pt x="2657474" y="102345"/>
                  </a:lnTo>
                  <a:lnTo>
                    <a:pt x="2657475" y="109537"/>
                  </a:lnTo>
                  <a:lnTo>
                    <a:pt x="2657475" y="2947987"/>
                  </a:lnTo>
                  <a:lnTo>
                    <a:pt x="2657474" y="2955179"/>
                  </a:lnTo>
                  <a:lnTo>
                    <a:pt x="2656773" y="2962302"/>
                  </a:lnTo>
                  <a:lnTo>
                    <a:pt x="2655369" y="2969356"/>
                  </a:lnTo>
                  <a:lnTo>
                    <a:pt x="2653966" y="2976411"/>
                  </a:lnTo>
                  <a:lnTo>
                    <a:pt x="2651887" y="2983260"/>
                  </a:lnTo>
                  <a:lnTo>
                    <a:pt x="2649135" y="2989905"/>
                  </a:lnTo>
                  <a:lnTo>
                    <a:pt x="2646383" y="2996549"/>
                  </a:lnTo>
                  <a:lnTo>
                    <a:pt x="2620306" y="3030527"/>
                  </a:lnTo>
                  <a:lnTo>
                    <a:pt x="2583210" y="3051938"/>
                  </a:lnTo>
                  <a:lnTo>
                    <a:pt x="2547937" y="3057524"/>
                  </a:lnTo>
                  <a:lnTo>
                    <a:pt x="109538" y="3057524"/>
                  </a:lnTo>
                  <a:lnTo>
                    <a:pt x="67618" y="3049186"/>
                  </a:lnTo>
                  <a:lnTo>
                    <a:pt x="32082" y="3025441"/>
                  </a:lnTo>
                  <a:lnTo>
                    <a:pt x="26996" y="3020355"/>
                  </a:lnTo>
                  <a:lnTo>
                    <a:pt x="8337" y="2989905"/>
                  </a:lnTo>
                  <a:lnTo>
                    <a:pt x="5584" y="2983260"/>
                  </a:lnTo>
                  <a:lnTo>
                    <a:pt x="3507" y="2976411"/>
                  </a:lnTo>
                  <a:lnTo>
                    <a:pt x="2104" y="2969356"/>
                  </a:lnTo>
                  <a:lnTo>
                    <a:pt x="701" y="2962302"/>
                  </a:lnTo>
                  <a:lnTo>
                    <a:pt x="0" y="2955179"/>
                  </a:lnTo>
                  <a:lnTo>
                    <a:pt x="0" y="294798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416925" y="2657729"/>
            <a:ext cx="2120900" cy="2584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20"/>
              </a:spcBef>
            </a:pPr>
            <a:r>
              <a:rPr sz="2350" spc="-28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天线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59410">
              <a:lnSpc>
                <a:spcPct val="100000"/>
              </a:lnSpc>
              <a:spcBef>
                <a:spcPts val="30"/>
              </a:spcBef>
            </a:pPr>
            <a:r>
              <a:rPr sz="2350" spc="-13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500" spc="-13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Antenna</a:t>
            </a:r>
            <a:r>
              <a:rPr sz="2350" spc="-13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  <a:spcBef>
                <a:spcPts val="1070"/>
              </a:spcBef>
            </a:pP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在标签和读写器之间传递射频信号，是连接双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⽅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的“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桥梁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”。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  <a:spcBef>
                <a:spcPts val="80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注：标签和读写器都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内置天线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33499" y="5972174"/>
            <a:ext cx="9525000" cy="95250"/>
          </a:xfrm>
          <a:custGeom>
            <a:avLst/>
            <a:gdLst/>
            <a:ahLst/>
            <a:cxnLst/>
            <a:rect l="l" t="t" r="r" b="b"/>
            <a:pathLst>
              <a:path w="9525000" h="95250">
                <a:moveTo>
                  <a:pt x="9491951" y="95249"/>
                </a:moveTo>
                <a:lnTo>
                  <a:pt x="33047" y="95249"/>
                </a:lnTo>
                <a:lnTo>
                  <a:pt x="28187" y="94282"/>
                </a:lnTo>
                <a:lnTo>
                  <a:pt x="966" y="67061"/>
                </a:lnTo>
                <a:lnTo>
                  <a:pt x="0" y="62202"/>
                </a:lnTo>
                <a:lnTo>
                  <a:pt x="0" y="571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9491951" y="0"/>
                </a:lnTo>
                <a:lnTo>
                  <a:pt x="9524030" y="28186"/>
                </a:lnTo>
                <a:lnTo>
                  <a:pt x="9524998" y="33047"/>
                </a:lnTo>
                <a:lnTo>
                  <a:pt x="9524998" y="62202"/>
                </a:lnTo>
                <a:lnTo>
                  <a:pt x="9496811" y="94282"/>
                </a:lnTo>
                <a:lnTo>
                  <a:pt x="9491951" y="9524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86661" y="3609656"/>
            <a:ext cx="210144" cy="21018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5552" y="3283576"/>
            <a:ext cx="153683" cy="19559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1574" y="2973906"/>
            <a:ext cx="188868" cy="147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649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10"/>
              </a:spcBef>
            </a:pPr>
            <a:r>
              <a:rPr sz="3550" spc="-430" dirty="0">
                <a:latin typeface="Microsoft JhengHei" panose="020B0604030504040204" charset="-120"/>
                <a:cs typeface="Microsoft JhengHei" panose="020B0604030504040204" charset="-120"/>
              </a:rPr>
              <a:t>⼯</a:t>
            </a:r>
            <a:r>
              <a:rPr sz="3550" spc="-430" dirty="0"/>
              <a:t>作的基本原理：</a:t>
            </a:r>
            <a:r>
              <a:rPr sz="3550" spc="-430" dirty="0">
                <a:latin typeface="Microsoft JhengHei" panose="020B0604030504040204" charset="-120"/>
                <a:cs typeface="Microsoft JhengHei" panose="020B0604030504040204" charset="-120"/>
              </a:rPr>
              <a:t>⼀场⽆线电</a:t>
            </a:r>
            <a:r>
              <a:rPr sz="3550" spc="1455" dirty="0"/>
              <a:t>“</a:t>
            </a:r>
            <a:r>
              <a:rPr sz="3550" spc="-430" dirty="0">
                <a:latin typeface="Microsoft JhengHei" panose="020B0604030504040204" charset="-120"/>
                <a:cs typeface="Microsoft JhengHei" panose="020B0604030504040204" charset="-120"/>
              </a:rPr>
              <a:t>对话</a:t>
            </a:r>
            <a:r>
              <a:rPr sz="3550" spc="1405" dirty="0"/>
              <a:t>”</a:t>
            </a:r>
            <a:endParaRPr sz="35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2566" y="3348481"/>
            <a:ext cx="61785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0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第</a:t>
            </a:r>
            <a:r>
              <a:rPr sz="2000" b="1" spc="-125" dirty="0">
                <a:solidFill>
                  <a:srgbClr val="1A1A1A"/>
                </a:solidFill>
                <a:latin typeface="Trebuchet MS" panose="020B0603020202020204"/>
                <a:cs typeface="Trebuchet MS" panose="020B0603020202020204"/>
              </a:rPr>
              <a:t>1</a:t>
            </a:r>
            <a:r>
              <a:rPr sz="2000" b="1" spc="-15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步</a:t>
            </a:r>
            <a:endParaRPr sz="20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0835" y="3978007"/>
            <a:ext cx="2120900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写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器通过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其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天线，向周围发射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特定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频率的电磁波，形成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⼀个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激活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区域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5709" y="3348481"/>
            <a:ext cx="61785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0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第</a:t>
            </a:r>
            <a:r>
              <a:rPr sz="2000" b="1" spc="-125" dirty="0">
                <a:solidFill>
                  <a:srgbClr val="1A1A1A"/>
                </a:solidFill>
                <a:latin typeface="Trebuchet MS" panose="020B0603020202020204"/>
                <a:cs typeface="Trebuchet MS" panose="020B0603020202020204"/>
              </a:rPr>
              <a:t>2</a:t>
            </a:r>
            <a:r>
              <a:rPr sz="2000" b="1" spc="-15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步</a:t>
            </a:r>
            <a:endParaRPr sz="20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3978" y="3978007"/>
            <a:ext cx="2120900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当电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⼦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标签进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⼊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个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域时，会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从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电磁波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中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获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能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量，激活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⾃⾝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芯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25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⽚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8852" y="3348481"/>
            <a:ext cx="61785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0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第</a:t>
            </a:r>
            <a:r>
              <a:rPr sz="2000" b="1" spc="-125" dirty="0">
                <a:solidFill>
                  <a:srgbClr val="1A1A1A"/>
                </a:solidFill>
                <a:latin typeface="Trebuchet MS" panose="020B0603020202020204"/>
                <a:cs typeface="Trebuchet MS" panose="020B0603020202020204"/>
              </a:rPr>
              <a:t>3</a:t>
            </a:r>
            <a:r>
              <a:rPr sz="2000" b="1" spc="-15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步</a:t>
            </a:r>
            <a:endParaRPr sz="20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7121" y="3978007"/>
            <a:ext cx="2120900" cy="96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被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激活的标签，将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存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储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⽚中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的数据通过</a:t>
            </a:r>
            <a:r>
              <a:rPr sz="1850" spc="-215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endParaRPr sz="1850">
              <a:latin typeface="Adobe 黑体 Std R" panose="020B0400000000000000" charset="-122"/>
              <a:cs typeface="Adobe 黑体 Std R" panose="020B0400000000000000" charset="-122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天线回传给读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写</a:t>
            </a:r>
            <a:r>
              <a:rPr sz="1850" spc="-17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994" y="3348481"/>
            <a:ext cx="617855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20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第</a:t>
            </a:r>
            <a:r>
              <a:rPr sz="2000" b="1" spc="-125" dirty="0">
                <a:solidFill>
                  <a:srgbClr val="1A1A1A"/>
                </a:solidFill>
                <a:latin typeface="Trebuchet MS" panose="020B0603020202020204"/>
                <a:cs typeface="Trebuchet MS" panose="020B0603020202020204"/>
              </a:rPr>
              <a:t>4</a:t>
            </a:r>
            <a:r>
              <a:rPr sz="2000" b="1" spc="-150" dirty="0">
                <a:solidFill>
                  <a:srgbClr val="1A1A1A"/>
                </a:solidFill>
                <a:latin typeface="Malgun Gothic" panose="020B0503020000020004" charset="-127"/>
                <a:cs typeface="Malgun Gothic" panose="020B0503020000020004" charset="-127"/>
              </a:rPr>
              <a:t>步</a:t>
            </a:r>
            <a:endParaRPr sz="2000">
              <a:latin typeface="Malgun Gothic" panose="020B0503020000020004" charset="-127"/>
              <a:cs typeface="Malgun Gothic" panose="020B0503020000020004" charset="-12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80264" y="3978007"/>
            <a:ext cx="2120900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写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器接收到数据后，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⾏</a:t>
            </a:r>
            <a:r>
              <a:rPr sz="1850" spc="-2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解码，并将信息传递给后端计算机系统进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40715">
              <a:lnSpc>
                <a:spcPct val="100000"/>
              </a:lnSpc>
              <a:spcBef>
                <a:spcPts val="25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⾏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24026" y="2776537"/>
            <a:ext cx="457200" cy="314325"/>
            <a:chOff x="1724026" y="2776537"/>
            <a:chExt cx="457200" cy="314325"/>
          </a:xfrm>
        </p:grpSpPr>
        <p:sp>
          <p:nvSpPr>
            <p:cNvPr id="12" name="object 12"/>
            <p:cNvSpPr/>
            <p:nvPr/>
          </p:nvSpPr>
          <p:spPr>
            <a:xfrm>
              <a:off x="1924049" y="290514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8575"/>
                  </a:lnTo>
                  <a:lnTo>
                    <a:pt x="57149" y="32364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24049" y="290514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lnTo>
                    <a:pt x="39510" y="54974"/>
                  </a:lnTo>
                  <a:lnTo>
                    <a:pt x="36009" y="56424"/>
                  </a:lnTo>
                  <a:lnTo>
                    <a:pt x="32364" y="57149"/>
                  </a:lnTo>
                  <a:lnTo>
                    <a:pt x="28575" y="57150"/>
                  </a:lnTo>
                  <a:lnTo>
                    <a:pt x="24785" y="57149"/>
                  </a:lnTo>
                  <a:lnTo>
                    <a:pt x="21140" y="56424"/>
                  </a:lnTo>
                  <a:lnTo>
                    <a:pt x="17639" y="54974"/>
                  </a:lnTo>
                  <a:lnTo>
                    <a:pt x="14138" y="53524"/>
                  </a:lnTo>
                  <a:lnTo>
                    <a:pt x="11048" y="51459"/>
                  </a:lnTo>
                  <a:lnTo>
                    <a:pt x="8369" y="48780"/>
                  </a:lnTo>
                  <a:lnTo>
                    <a:pt x="5689" y="46101"/>
                  </a:lnTo>
                  <a:lnTo>
                    <a:pt x="3625" y="43010"/>
                  </a:lnTo>
                  <a:lnTo>
                    <a:pt x="2175" y="39510"/>
                  </a:lnTo>
                  <a:lnTo>
                    <a:pt x="725" y="36009"/>
                  </a:lnTo>
                  <a:lnTo>
                    <a:pt x="0" y="32364"/>
                  </a:lnTo>
                  <a:lnTo>
                    <a:pt x="0" y="28575"/>
                  </a:lnTo>
                  <a:lnTo>
                    <a:pt x="0" y="24785"/>
                  </a:lnTo>
                  <a:lnTo>
                    <a:pt x="725" y="21140"/>
                  </a:lnTo>
                  <a:lnTo>
                    <a:pt x="2175" y="17639"/>
                  </a:lnTo>
                  <a:lnTo>
                    <a:pt x="3625" y="14138"/>
                  </a:lnTo>
                  <a:lnTo>
                    <a:pt x="5689" y="11048"/>
                  </a:lnTo>
                  <a:lnTo>
                    <a:pt x="8369" y="8369"/>
                  </a:lnTo>
                  <a:lnTo>
                    <a:pt x="11048" y="5689"/>
                  </a:lnTo>
                  <a:lnTo>
                    <a:pt x="14138" y="3625"/>
                  </a:lnTo>
                  <a:lnTo>
                    <a:pt x="17639" y="2175"/>
                  </a:lnTo>
                  <a:lnTo>
                    <a:pt x="21140" y="725"/>
                  </a:lnTo>
                  <a:lnTo>
                    <a:pt x="24785" y="0"/>
                  </a:lnTo>
                  <a:lnTo>
                    <a:pt x="28575" y="0"/>
                  </a:lnTo>
                  <a:lnTo>
                    <a:pt x="32364" y="0"/>
                  </a:lnTo>
                  <a:lnTo>
                    <a:pt x="54974" y="17639"/>
                  </a:lnTo>
                  <a:lnTo>
                    <a:pt x="56424" y="21140"/>
                  </a:lnTo>
                  <a:lnTo>
                    <a:pt x="57149" y="24785"/>
                  </a:lnTo>
                  <a:lnTo>
                    <a:pt x="57150" y="28575"/>
                  </a:lnTo>
                  <a:close/>
                </a:path>
              </a:pathLst>
            </a:custGeom>
            <a:ln w="31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38313" y="2790824"/>
              <a:ext cx="428625" cy="285750"/>
            </a:xfrm>
            <a:custGeom>
              <a:avLst/>
              <a:gdLst/>
              <a:ahLst/>
              <a:cxnLst/>
              <a:rect l="l" t="t" r="r" b="b"/>
              <a:pathLst>
                <a:path w="428625" h="285750">
                  <a:moveTo>
                    <a:pt x="150240" y="85948"/>
                  </a:moveTo>
                  <a:lnTo>
                    <a:pt x="146784" y="89838"/>
                  </a:lnTo>
                  <a:lnTo>
                    <a:pt x="143708" y="94008"/>
                  </a:lnTo>
                  <a:lnTo>
                    <a:pt x="141012" y="98458"/>
                  </a:lnTo>
                  <a:lnTo>
                    <a:pt x="138315" y="102908"/>
                  </a:lnTo>
                  <a:lnTo>
                    <a:pt x="136042" y="107565"/>
                  </a:lnTo>
                  <a:lnTo>
                    <a:pt x="134194" y="112429"/>
                  </a:lnTo>
                  <a:lnTo>
                    <a:pt x="132345" y="117293"/>
                  </a:lnTo>
                  <a:lnTo>
                    <a:pt x="130951" y="122284"/>
                  </a:lnTo>
                  <a:lnTo>
                    <a:pt x="130012" y="127402"/>
                  </a:lnTo>
                  <a:lnTo>
                    <a:pt x="129072" y="132519"/>
                  </a:lnTo>
                  <a:lnTo>
                    <a:pt x="128602" y="137680"/>
                  </a:lnTo>
                  <a:lnTo>
                    <a:pt x="128602" y="142883"/>
                  </a:lnTo>
                  <a:lnTo>
                    <a:pt x="128602" y="148087"/>
                  </a:lnTo>
                  <a:lnTo>
                    <a:pt x="134194" y="173338"/>
                  </a:lnTo>
                  <a:lnTo>
                    <a:pt x="136042" y="178202"/>
                  </a:lnTo>
                  <a:lnTo>
                    <a:pt x="138315" y="182859"/>
                  </a:lnTo>
                  <a:lnTo>
                    <a:pt x="141012" y="187309"/>
                  </a:lnTo>
                  <a:lnTo>
                    <a:pt x="143708" y="191759"/>
                  </a:lnTo>
                  <a:lnTo>
                    <a:pt x="146784" y="195929"/>
                  </a:lnTo>
                  <a:lnTo>
                    <a:pt x="150240" y="199819"/>
                  </a:lnTo>
                </a:path>
                <a:path w="428625" h="285750">
                  <a:moveTo>
                    <a:pt x="278399" y="199819"/>
                  </a:moveTo>
                  <a:lnTo>
                    <a:pt x="297688" y="163483"/>
                  </a:lnTo>
                  <a:lnTo>
                    <a:pt x="298628" y="158365"/>
                  </a:lnTo>
                  <a:lnTo>
                    <a:pt x="299568" y="153247"/>
                  </a:lnTo>
                  <a:lnTo>
                    <a:pt x="300038" y="148087"/>
                  </a:lnTo>
                  <a:lnTo>
                    <a:pt x="300038" y="142883"/>
                  </a:lnTo>
                  <a:lnTo>
                    <a:pt x="300038" y="137680"/>
                  </a:lnTo>
                  <a:lnTo>
                    <a:pt x="299568" y="132519"/>
                  </a:lnTo>
                  <a:lnTo>
                    <a:pt x="298628" y="127402"/>
                  </a:lnTo>
                  <a:lnTo>
                    <a:pt x="297688" y="122284"/>
                  </a:lnTo>
                  <a:lnTo>
                    <a:pt x="281855" y="89838"/>
                  </a:lnTo>
                  <a:lnTo>
                    <a:pt x="278399" y="85948"/>
                  </a:lnTo>
                </a:path>
                <a:path w="428625" h="285750">
                  <a:moveTo>
                    <a:pt x="104726" y="40433"/>
                  </a:moveTo>
                  <a:lnTo>
                    <a:pt x="80555" y="74960"/>
                  </a:lnTo>
                  <a:lnTo>
                    <a:pt x="66944" y="114849"/>
                  </a:lnTo>
                  <a:lnTo>
                    <a:pt x="64303" y="142875"/>
                  </a:lnTo>
                  <a:lnTo>
                    <a:pt x="64468" y="149928"/>
                  </a:lnTo>
                  <a:lnTo>
                    <a:pt x="72339" y="191317"/>
                  </a:lnTo>
                  <a:lnTo>
                    <a:pt x="91426" y="228912"/>
                  </a:lnTo>
                  <a:lnTo>
                    <a:pt x="100030" y="240051"/>
                  </a:lnTo>
                  <a:lnTo>
                    <a:pt x="104726" y="245316"/>
                  </a:lnTo>
                </a:path>
                <a:path w="428625" h="285750">
                  <a:moveTo>
                    <a:pt x="323896" y="245316"/>
                  </a:moveTo>
                  <a:lnTo>
                    <a:pt x="348067" y="210789"/>
                  </a:lnTo>
                  <a:lnTo>
                    <a:pt x="361677" y="170900"/>
                  </a:lnTo>
                  <a:lnTo>
                    <a:pt x="364318" y="142875"/>
                  </a:lnTo>
                  <a:lnTo>
                    <a:pt x="364153" y="135821"/>
                  </a:lnTo>
                  <a:lnTo>
                    <a:pt x="356282" y="94432"/>
                  </a:lnTo>
                  <a:lnTo>
                    <a:pt x="337196" y="56837"/>
                  </a:lnTo>
                  <a:lnTo>
                    <a:pt x="328592" y="45698"/>
                  </a:lnTo>
                  <a:lnTo>
                    <a:pt x="323896" y="40433"/>
                  </a:lnTo>
                </a:path>
                <a:path w="428625" h="285750">
                  <a:moveTo>
                    <a:pt x="374152" y="285750"/>
                  </a:moveTo>
                  <a:lnTo>
                    <a:pt x="397380" y="254383"/>
                  </a:lnTo>
                  <a:lnTo>
                    <a:pt x="414543" y="219328"/>
                  </a:lnTo>
                  <a:lnTo>
                    <a:pt x="425073" y="181744"/>
                  </a:lnTo>
                  <a:lnTo>
                    <a:pt x="428622" y="142875"/>
                  </a:lnTo>
                  <a:lnTo>
                    <a:pt x="428400" y="133096"/>
                  </a:lnTo>
                  <a:lnTo>
                    <a:pt x="423084" y="94429"/>
                  </a:lnTo>
                  <a:lnTo>
                    <a:pt x="410852" y="57364"/>
                  </a:lnTo>
                  <a:lnTo>
                    <a:pt x="392110" y="23127"/>
                  </a:lnTo>
                  <a:lnTo>
                    <a:pt x="380496" y="7444"/>
                  </a:lnTo>
                  <a:lnTo>
                    <a:pt x="374152" y="0"/>
                  </a:lnTo>
                </a:path>
                <a:path w="428625" h="285750">
                  <a:moveTo>
                    <a:pt x="54469" y="0"/>
                  </a:moveTo>
                  <a:lnTo>
                    <a:pt x="31242" y="31366"/>
                  </a:lnTo>
                  <a:lnTo>
                    <a:pt x="14079" y="66422"/>
                  </a:lnTo>
                  <a:lnTo>
                    <a:pt x="3549" y="104005"/>
                  </a:lnTo>
                  <a:lnTo>
                    <a:pt x="0" y="142875"/>
                  </a:lnTo>
                  <a:lnTo>
                    <a:pt x="221" y="152653"/>
                  </a:lnTo>
                  <a:lnTo>
                    <a:pt x="5538" y="191320"/>
                  </a:lnTo>
                  <a:lnTo>
                    <a:pt x="17769" y="228385"/>
                  </a:lnTo>
                  <a:lnTo>
                    <a:pt x="36512" y="262622"/>
                  </a:lnTo>
                  <a:lnTo>
                    <a:pt x="48125" y="278305"/>
                  </a:lnTo>
                  <a:lnTo>
                    <a:pt x="54469" y="285750"/>
                  </a:lnTo>
                </a:path>
              </a:pathLst>
            </a:custGeom>
            <a:ln w="285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3247382" y="4014378"/>
            <a:ext cx="176530" cy="163195"/>
          </a:xfrm>
          <a:custGeom>
            <a:avLst/>
            <a:gdLst/>
            <a:ahLst/>
            <a:cxnLst/>
            <a:rect l="l" t="t" r="r" b="b"/>
            <a:pathLst>
              <a:path w="176529" h="163195">
                <a:moveTo>
                  <a:pt x="94933" y="0"/>
                </a:moveTo>
                <a:lnTo>
                  <a:pt x="176305" y="81371"/>
                </a:lnTo>
                <a:lnTo>
                  <a:pt x="94933" y="162743"/>
                </a:lnTo>
              </a:path>
              <a:path w="176529" h="163195">
                <a:moveTo>
                  <a:pt x="165003" y="81371"/>
                </a:moveTo>
                <a:lnTo>
                  <a:pt x="0" y="81371"/>
                </a:lnTo>
              </a:path>
            </a:pathLst>
          </a:custGeom>
          <a:ln w="27123">
            <a:solidFill>
              <a:srgbClr val="77777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4514894" y="2733670"/>
            <a:ext cx="400050" cy="400050"/>
            <a:chOff x="4514894" y="2733670"/>
            <a:chExt cx="400050" cy="400050"/>
          </a:xfrm>
        </p:grpSpPr>
        <p:sp>
          <p:nvSpPr>
            <p:cNvPr id="17" name="object 17"/>
            <p:cNvSpPr/>
            <p:nvPr/>
          </p:nvSpPr>
          <p:spPr>
            <a:xfrm>
              <a:off x="4529182" y="2747957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45757" y="4"/>
                  </a:moveTo>
                  <a:lnTo>
                    <a:pt x="236011" y="4"/>
                  </a:lnTo>
                  <a:lnTo>
                    <a:pt x="232459" y="2"/>
                  </a:lnTo>
                  <a:lnTo>
                    <a:pt x="229423" y="1252"/>
                  </a:lnTo>
                  <a:lnTo>
                    <a:pt x="7501" y="223157"/>
                  </a:lnTo>
                  <a:lnTo>
                    <a:pt x="1948" y="231500"/>
                  </a:lnTo>
                  <a:lnTo>
                    <a:pt x="649" y="234647"/>
                  </a:lnTo>
                  <a:lnTo>
                    <a:pt x="0" y="237924"/>
                  </a:lnTo>
                  <a:lnTo>
                    <a:pt x="0" y="241329"/>
                  </a:lnTo>
                  <a:lnTo>
                    <a:pt x="0" y="244734"/>
                  </a:lnTo>
                  <a:lnTo>
                    <a:pt x="649" y="248011"/>
                  </a:lnTo>
                  <a:lnTo>
                    <a:pt x="1948" y="251159"/>
                  </a:lnTo>
                  <a:lnTo>
                    <a:pt x="3248" y="254306"/>
                  </a:lnTo>
                  <a:lnTo>
                    <a:pt x="111978" y="363978"/>
                  </a:lnTo>
                  <a:lnTo>
                    <a:pt x="120320" y="369530"/>
                  </a:lnTo>
                  <a:lnTo>
                    <a:pt x="123468" y="370830"/>
                  </a:lnTo>
                  <a:lnTo>
                    <a:pt x="126744" y="371479"/>
                  </a:lnTo>
                  <a:lnTo>
                    <a:pt x="130150" y="371479"/>
                  </a:lnTo>
                  <a:lnTo>
                    <a:pt x="133555" y="371479"/>
                  </a:lnTo>
                  <a:lnTo>
                    <a:pt x="136832" y="370830"/>
                  </a:lnTo>
                  <a:lnTo>
                    <a:pt x="139979" y="369530"/>
                  </a:lnTo>
                  <a:lnTo>
                    <a:pt x="143127" y="368231"/>
                  </a:lnTo>
                  <a:lnTo>
                    <a:pt x="367635" y="144665"/>
                  </a:lnTo>
                  <a:lnTo>
                    <a:pt x="371388" y="139109"/>
                  </a:lnTo>
                  <a:lnTo>
                    <a:pt x="371385" y="135557"/>
                  </a:lnTo>
                  <a:lnTo>
                    <a:pt x="371385" y="25722"/>
                  </a:lnTo>
                  <a:lnTo>
                    <a:pt x="355591" y="1954"/>
                  </a:lnTo>
                  <a:lnTo>
                    <a:pt x="352443" y="649"/>
                  </a:lnTo>
                  <a:lnTo>
                    <a:pt x="349165" y="0"/>
                  </a:lnTo>
                  <a:lnTo>
                    <a:pt x="345757" y="4"/>
                  </a:lnTo>
                  <a:close/>
                </a:path>
              </a:pathLst>
            </a:custGeom>
            <a:ln w="285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00599" y="279082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8575" y="57150"/>
                  </a:ln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49" y="24785"/>
                  </a:lnTo>
                  <a:lnTo>
                    <a:pt x="57149" y="32364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800599" y="279082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75" y="57150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17639" y="54974"/>
                  </a:lnTo>
                  <a:lnTo>
                    <a:pt x="14138" y="53524"/>
                  </a:lnTo>
                  <a:lnTo>
                    <a:pt x="0" y="32364"/>
                  </a:lnTo>
                  <a:lnTo>
                    <a:pt x="0" y="28575"/>
                  </a:lnTo>
                  <a:lnTo>
                    <a:pt x="0" y="24785"/>
                  </a:lnTo>
                  <a:lnTo>
                    <a:pt x="8369" y="8369"/>
                  </a:lnTo>
                  <a:lnTo>
                    <a:pt x="11048" y="5689"/>
                  </a:lnTo>
                  <a:lnTo>
                    <a:pt x="14138" y="3625"/>
                  </a:lnTo>
                  <a:lnTo>
                    <a:pt x="17639" y="2175"/>
                  </a:lnTo>
                  <a:lnTo>
                    <a:pt x="21140" y="725"/>
                  </a:lnTo>
                  <a:lnTo>
                    <a:pt x="24785" y="0"/>
                  </a:lnTo>
                  <a:lnTo>
                    <a:pt x="28575" y="0"/>
                  </a:lnTo>
                  <a:lnTo>
                    <a:pt x="32364" y="0"/>
                  </a:lnTo>
                  <a:lnTo>
                    <a:pt x="48780" y="8369"/>
                  </a:lnTo>
                  <a:lnTo>
                    <a:pt x="51459" y="11048"/>
                  </a:lnTo>
                  <a:lnTo>
                    <a:pt x="57150" y="28575"/>
                  </a:lnTo>
                  <a:lnTo>
                    <a:pt x="57149" y="32364"/>
                  </a:lnTo>
                  <a:lnTo>
                    <a:pt x="39510" y="54974"/>
                  </a:lnTo>
                  <a:lnTo>
                    <a:pt x="36009" y="56424"/>
                  </a:lnTo>
                  <a:lnTo>
                    <a:pt x="32364" y="57149"/>
                  </a:lnTo>
                  <a:lnTo>
                    <a:pt x="28575" y="57150"/>
                  </a:lnTo>
                  <a:close/>
                </a:path>
              </a:pathLst>
            </a:custGeom>
            <a:ln w="31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6009632" y="4014378"/>
            <a:ext cx="176530" cy="163195"/>
          </a:xfrm>
          <a:custGeom>
            <a:avLst/>
            <a:gdLst/>
            <a:ahLst/>
            <a:cxnLst/>
            <a:rect l="l" t="t" r="r" b="b"/>
            <a:pathLst>
              <a:path w="176529" h="163195">
                <a:moveTo>
                  <a:pt x="94933" y="0"/>
                </a:moveTo>
                <a:lnTo>
                  <a:pt x="176305" y="81371"/>
                </a:lnTo>
                <a:lnTo>
                  <a:pt x="94933" y="162743"/>
                </a:lnTo>
              </a:path>
              <a:path w="176529" h="163195">
                <a:moveTo>
                  <a:pt x="165003" y="81371"/>
                </a:moveTo>
                <a:lnTo>
                  <a:pt x="0" y="81371"/>
                </a:lnTo>
              </a:path>
            </a:pathLst>
          </a:custGeom>
          <a:ln w="27123">
            <a:solidFill>
              <a:srgbClr val="7777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62812" y="2762062"/>
            <a:ext cx="428625" cy="343535"/>
          </a:xfrm>
          <a:custGeom>
            <a:avLst/>
            <a:gdLst/>
            <a:ahLst/>
            <a:cxnLst/>
            <a:rect l="l" t="t" r="r" b="b"/>
            <a:pathLst>
              <a:path w="428625" h="343535">
                <a:moveTo>
                  <a:pt x="271462" y="271462"/>
                </a:moveTo>
                <a:lnTo>
                  <a:pt x="339328" y="271462"/>
                </a:lnTo>
                <a:lnTo>
                  <a:pt x="374000" y="266628"/>
                </a:lnTo>
                <a:lnTo>
                  <a:pt x="402394" y="252349"/>
                </a:lnTo>
                <a:lnTo>
                  <a:pt x="421578" y="228964"/>
                </a:lnTo>
                <a:lnTo>
                  <a:pt x="428625" y="196810"/>
                </a:lnTo>
                <a:lnTo>
                  <a:pt x="420630" y="164923"/>
                </a:lnTo>
                <a:lnTo>
                  <a:pt x="400161" y="141984"/>
                </a:lnTo>
                <a:lnTo>
                  <a:pt x="372493" y="127794"/>
                </a:lnTo>
                <a:lnTo>
                  <a:pt x="342900" y="122158"/>
                </a:lnTo>
                <a:lnTo>
                  <a:pt x="328626" y="71027"/>
                </a:lnTo>
                <a:lnTo>
                  <a:pt x="300074" y="32595"/>
                </a:lnTo>
                <a:lnTo>
                  <a:pt x="260788" y="8405"/>
                </a:lnTo>
                <a:lnTo>
                  <a:pt x="214312" y="0"/>
                </a:lnTo>
                <a:lnTo>
                  <a:pt x="172287" y="7022"/>
                </a:lnTo>
                <a:lnTo>
                  <a:pt x="138932" y="25513"/>
                </a:lnTo>
                <a:lnTo>
                  <a:pt x="114692" y="51607"/>
                </a:lnTo>
                <a:lnTo>
                  <a:pt x="100012" y="81438"/>
                </a:lnTo>
                <a:lnTo>
                  <a:pt x="61782" y="90580"/>
                </a:lnTo>
                <a:lnTo>
                  <a:pt x="29914" y="109917"/>
                </a:lnTo>
                <a:lnTo>
                  <a:pt x="8092" y="138768"/>
                </a:lnTo>
                <a:lnTo>
                  <a:pt x="0" y="176450"/>
                </a:lnTo>
                <a:lnTo>
                  <a:pt x="8455" y="214848"/>
                </a:lnTo>
                <a:lnTo>
                  <a:pt x="31477" y="244892"/>
                </a:lnTo>
                <a:lnTo>
                  <a:pt x="65549" y="264467"/>
                </a:lnTo>
                <a:lnTo>
                  <a:pt x="107156" y="271462"/>
                </a:lnTo>
                <a:lnTo>
                  <a:pt x="157162" y="271462"/>
                </a:lnTo>
              </a:path>
              <a:path w="428625" h="343535">
                <a:moveTo>
                  <a:pt x="271462" y="171449"/>
                </a:moveTo>
                <a:lnTo>
                  <a:pt x="214312" y="114299"/>
                </a:lnTo>
                <a:lnTo>
                  <a:pt x="157162" y="171449"/>
                </a:lnTo>
              </a:path>
              <a:path w="428625" h="343535">
                <a:moveTo>
                  <a:pt x="214312" y="343275"/>
                </a:moveTo>
                <a:lnTo>
                  <a:pt x="214312" y="128587"/>
                </a:lnTo>
              </a:path>
            </a:pathLst>
          </a:custGeom>
          <a:ln w="28575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771883" y="4014378"/>
            <a:ext cx="176530" cy="163195"/>
          </a:xfrm>
          <a:custGeom>
            <a:avLst/>
            <a:gdLst/>
            <a:ahLst/>
            <a:cxnLst/>
            <a:rect l="l" t="t" r="r" b="b"/>
            <a:pathLst>
              <a:path w="176529" h="163195">
                <a:moveTo>
                  <a:pt x="94933" y="0"/>
                </a:moveTo>
                <a:lnTo>
                  <a:pt x="176305" y="81371"/>
                </a:lnTo>
                <a:lnTo>
                  <a:pt x="94933" y="162743"/>
                </a:lnTo>
              </a:path>
              <a:path w="176529" h="163195">
                <a:moveTo>
                  <a:pt x="165003" y="81371"/>
                </a:moveTo>
                <a:lnTo>
                  <a:pt x="0" y="81371"/>
                </a:lnTo>
              </a:path>
            </a:pathLst>
          </a:custGeom>
          <a:ln w="27123">
            <a:solidFill>
              <a:srgbClr val="7777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067924" y="2747962"/>
            <a:ext cx="342900" cy="371475"/>
          </a:xfrm>
          <a:custGeom>
            <a:avLst/>
            <a:gdLst/>
            <a:ahLst/>
            <a:cxnLst/>
            <a:rect l="l" t="t" r="r" b="b"/>
            <a:pathLst>
              <a:path w="342900" h="371475">
                <a:moveTo>
                  <a:pt x="342900" y="71437"/>
                </a:moveTo>
                <a:lnTo>
                  <a:pt x="342899" y="76128"/>
                </a:lnTo>
                <a:lnTo>
                  <a:pt x="341801" y="80773"/>
                </a:lnTo>
                <a:lnTo>
                  <a:pt x="339605" y="85374"/>
                </a:lnTo>
                <a:lnTo>
                  <a:pt x="337409" y="89974"/>
                </a:lnTo>
                <a:lnTo>
                  <a:pt x="334157" y="94441"/>
                </a:lnTo>
                <a:lnTo>
                  <a:pt x="329849" y="98775"/>
                </a:lnTo>
                <a:lnTo>
                  <a:pt x="325541" y="103109"/>
                </a:lnTo>
                <a:lnTo>
                  <a:pt x="320259" y="107225"/>
                </a:lnTo>
                <a:lnTo>
                  <a:pt x="314005" y="111126"/>
                </a:lnTo>
                <a:lnTo>
                  <a:pt x="307751" y="115026"/>
                </a:lnTo>
                <a:lnTo>
                  <a:pt x="266702" y="130835"/>
                </a:lnTo>
                <a:lnTo>
                  <a:pt x="229200" y="138700"/>
                </a:lnTo>
                <a:lnTo>
                  <a:pt x="188255" y="142531"/>
                </a:lnTo>
                <a:lnTo>
                  <a:pt x="171450" y="142875"/>
                </a:lnTo>
                <a:lnTo>
                  <a:pt x="163027" y="142789"/>
                </a:lnTo>
                <a:lnTo>
                  <a:pt x="121680" y="139799"/>
                </a:lnTo>
                <a:lnTo>
                  <a:pt x="83315" y="132714"/>
                </a:lnTo>
                <a:lnTo>
                  <a:pt x="42256" y="118634"/>
                </a:lnTo>
                <a:lnTo>
                  <a:pt x="28894" y="111126"/>
                </a:lnTo>
                <a:lnTo>
                  <a:pt x="22640" y="107225"/>
                </a:lnTo>
                <a:lnTo>
                  <a:pt x="17358" y="103109"/>
                </a:lnTo>
                <a:lnTo>
                  <a:pt x="13050" y="98775"/>
                </a:lnTo>
                <a:lnTo>
                  <a:pt x="8742" y="94441"/>
                </a:lnTo>
                <a:lnTo>
                  <a:pt x="5490" y="89974"/>
                </a:lnTo>
                <a:lnTo>
                  <a:pt x="3294" y="85374"/>
                </a:lnTo>
                <a:lnTo>
                  <a:pt x="1098" y="80773"/>
                </a:lnTo>
                <a:lnTo>
                  <a:pt x="0" y="76128"/>
                </a:lnTo>
                <a:lnTo>
                  <a:pt x="0" y="71437"/>
                </a:lnTo>
                <a:lnTo>
                  <a:pt x="0" y="66746"/>
                </a:lnTo>
                <a:lnTo>
                  <a:pt x="22640" y="35649"/>
                </a:lnTo>
                <a:lnTo>
                  <a:pt x="62682" y="16214"/>
                </a:lnTo>
                <a:lnTo>
                  <a:pt x="105838" y="5437"/>
                </a:lnTo>
                <a:lnTo>
                  <a:pt x="146302" y="772"/>
                </a:lnTo>
                <a:lnTo>
                  <a:pt x="171450" y="0"/>
                </a:lnTo>
                <a:lnTo>
                  <a:pt x="179872" y="85"/>
                </a:lnTo>
                <a:lnTo>
                  <a:pt x="221219" y="3075"/>
                </a:lnTo>
                <a:lnTo>
                  <a:pt x="259584" y="10160"/>
                </a:lnTo>
                <a:lnTo>
                  <a:pt x="300643" y="24240"/>
                </a:lnTo>
                <a:lnTo>
                  <a:pt x="314005" y="31748"/>
                </a:lnTo>
                <a:lnTo>
                  <a:pt x="320259" y="35649"/>
                </a:lnTo>
                <a:lnTo>
                  <a:pt x="339605" y="57500"/>
                </a:lnTo>
                <a:lnTo>
                  <a:pt x="341801" y="62101"/>
                </a:lnTo>
                <a:lnTo>
                  <a:pt x="342899" y="66746"/>
                </a:lnTo>
                <a:lnTo>
                  <a:pt x="342900" y="71437"/>
                </a:lnTo>
                <a:close/>
              </a:path>
              <a:path w="342900" h="371475">
                <a:moveTo>
                  <a:pt x="342900" y="148232"/>
                </a:moveTo>
                <a:lnTo>
                  <a:pt x="329421" y="176038"/>
                </a:lnTo>
                <a:lnTo>
                  <a:pt x="292670" y="198745"/>
                </a:lnTo>
                <a:lnTo>
                  <a:pt x="238171" y="214056"/>
                </a:lnTo>
                <a:lnTo>
                  <a:pt x="171450" y="219670"/>
                </a:lnTo>
                <a:lnTo>
                  <a:pt x="104728" y="214056"/>
                </a:lnTo>
                <a:lnTo>
                  <a:pt x="50229" y="198745"/>
                </a:lnTo>
                <a:lnTo>
                  <a:pt x="13478" y="176038"/>
                </a:lnTo>
                <a:lnTo>
                  <a:pt x="0" y="148232"/>
                </a:lnTo>
              </a:path>
              <a:path w="342900" h="371475">
                <a:moveTo>
                  <a:pt x="342900" y="225028"/>
                </a:moveTo>
                <a:lnTo>
                  <a:pt x="329421" y="252833"/>
                </a:lnTo>
                <a:lnTo>
                  <a:pt x="292670" y="275541"/>
                </a:lnTo>
                <a:lnTo>
                  <a:pt x="238171" y="290851"/>
                </a:lnTo>
                <a:lnTo>
                  <a:pt x="171450" y="296465"/>
                </a:lnTo>
                <a:lnTo>
                  <a:pt x="104728" y="290851"/>
                </a:lnTo>
                <a:lnTo>
                  <a:pt x="50229" y="275541"/>
                </a:lnTo>
                <a:lnTo>
                  <a:pt x="13478" y="252833"/>
                </a:lnTo>
                <a:lnTo>
                  <a:pt x="0" y="225028"/>
                </a:lnTo>
              </a:path>
              <a:path w="342900" h="371475">
                <a:moveTo>
                  <a:pt x="0" y="70758"/>
                </a:moveTo>
                <a:lnTo>
                  <a:pt x="0" y="300716"/>
                </a:lnTo>
                <a:lnTo>
                  <a:pt x="13478" y="328257"/>
                </a:lnTo>
                <a:lnTo>
                  <a:pt x="50229" y="350749"/>
                </a:lnTo>
                <a:lnTo>
                  <a:pt x="104728" y="365914"/>
                </a:lnTo>
                <a:lnTo>
                  <a:pt x="171450" y="371475"/>
                </a:lnTo>
                <a:lnTo>
                  <a:pt x="238171" y="365914"/>
                </a:lnTo>
                <a:lnTo>
                  <a:pt x="292670" y="350749"/>
                </a:lnTo>
                <a:lnTo>
                  <a:pt x="329421" y="328257"/>
                </a:lnTo>
                <a:lnTo>
                  <a:pt x="342900" y="300716"/>
                </a:lnTo>
                <a:lnTo>
                  <a:pt x="342900" y="70758"/>
                </a:lnTo>
              </a:path>
            </a:pathLst>
          </a:custGeom>
          <a:ln w="28575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0864" y="535368"/>
            <a:ext cx="3750310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85" dirty="0"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3550" spc="-430" dirty="0">
                <a:latin typeface="Microsoft JhengHei" panose="020B0604030504040204" charset="-120"/>
                <a:cs typeface="Microsoft JhengHei" panose="020B0604030504040204" charset="-120"/>
              </a:rPr>
              <a:t>标签</a:t>
            </a:r>
            <a:r>
              <a:rPr sz="3550" spc="-430" dirty="0"/>
              <a:t>的主要分</a:t>
            </a:r>
            <a:r>
              <a:rPr sz="3550" spc="-480" dirty="0">
                <a:latin typeface="Microsoft JhengHei" panose="020B0604030504040204" charset="-120"/>
                <a:cs typeface="Microsoft JhengHei" panose="020B0604030504040204" charset="-120"/>
              </a:rPr>
              <a:t>类</a:t>
            </a:r>
            <a:endParaRPr sz="355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7249" y="1590674"/>
            <a:ext cx="5029200" cy="5000625"/>
            <a:chOff x="857249" y="1590674"/>
            <a:chExt cx="5029200" cy="5000625"/>
          </a:xfrm>
        </p:grpSpPr>
        <p:sp>
          <p:nvSpPr>
            <p:cNvPr id="4" name="object 4"/>
            <p:cNvSpPr/>
            <p:nvPr/>
          </p:nvSpPr>
          <p:spPr>
            <a:xfrm>
              <a:off x="862012" y="1595437"/>
              <a:ext cx="5019675" cy="4991100"/>
            </a:xfrm>
            <a:custGeom>
              <a:avLst/>
              <a:gdLst/>
              <a:ahLst/>
              <a:cxnLst/>
              <a:rect l="l" t="t" r="r" b="b"/>
              <a:pathLst>
                <a:path w="5019675" h="4991100">
                  <a:moveTo>
                    <a:pt x="4935128" y="4991099"/>
                  </a:moveTo>
                  <a:lnTo>
                    <a:pt x="84545" y="4991099"/>
                  </a:lnTo>
                  <a:lnTo>
                    <a:pt x="78661" y="4990520"/>
                  </a:lnTo>
                  <a:lnTo>
                    <a:pt x="35275" y="4972548"/>
                  </a:lnTo>
                  <a:lnTo>
                    <a:pt x="9161" y="4940728"/>
                  </a:lnTo>
                  <a:lnTo>
                    <a:pt x="0" y="4906553"/>
                  </a:lnTo>
                  <a:lnTo>
                    <a:pt x="0" y="490061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4935128" y="0"/>
                  </a:lnTo>
                  <a:lnTo>
                    <a:pt x="4974518" y="11948"/>
                  </a:lnTo>
                  <a:lnTo>
                    <a:pt x="5007724" y="45155"/>
                  </a:lnTo>
                  <a:lnTo>
                    <a:pt x="5019674" y="84545"/>
                  </a:lnTo>
                  <a:lnTo>
                    <a:pt x="5019674" y="4906553"/>
                  </a:lnTo>
                  <a:lnTo>
                    <a:pt x="5007724" y="4945943"/>
                  </a:lnTo>
                  <a:lnTo>
                    <a:pt x="4974518" y="4979150"/>
                  </a:lnTo>
                  <a:lnTo>
                    <a:pt x="4941013" y="4990520"/>
                  </a:lnTo>
                  <a:lnTo>
                    <a:pt x="4935128" y="499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62012" y="1595437"/>
              <a:ext cx="5019675" cy="4991100"/>
            </a:xfrm>
            <a:custGeom>
              <a:avLst/>
              <a:gdLst/>
              <a:ahLst/>
              <a:cxnLst/>
              <a:rect l="l" t="t" r="r" b="b"/>
              <a:pathLst>
                <a:path w="5019675" h="4991100">
                  <a:moveTo>
                    <a:pt x="0" y="49006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70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4929187" y="0"/>
                  </a:lnTo>
                  <a:lnTo>
                    <a:pt x="4935128" y="0"/>
                  </a:lnTo>
                  <a:lnTo>
                    <a:pt x="4941013" y="579"/>
                  </a:lnTo>
                  <a:lnTo>
                    <a:pt x="4946840" y="1738"/>
                  </a:lnTo>
                  <a:lnTo>
                    <a:pt x="4952667" y="2897"/>
                  </a:lnTo>
                  <a:lnTo>
                    <a:pt x="4988969" y="22301"/>
                  </a:lnTo>
                  <a:lnTo>
                    <a:pt x="4993171" y="26503"/>
                  </a:lnTo>
                  <a:lnTo>
                    <a:pt x="4997372" y="30704"/>
                  </a:lnTo>
                  <a:lnTo>
                    <a:pt x="5001123" y="35274"/>
                  </a:lnTo>
                  <a:lnTo>
                    <a:pt x="5004423" y="40215"/>
                  </a:lnTo>
                  <a:lnTo>
                    <a:pt x="5007724" y="45155"/>
                  </a:lnTo>
                  <a:lnTo>
                    <a:pt x="5010511" y="50370"/>
                  </a:lnTo>
                  <a:lnTo>
                    <a:pt x="5012785" y="55859"/>
                  </a:lnTo>
                  <a:lnTo>
                    <a:pt x="5015059" y="61348"/>
                  </a:lnTo>
                  <a:lnTo>
                    <a:pt x="5016776" y="67006"/>
                  </a:lnTo>
                  <a:lnTo>
                    <a:pt x="5017935" y="72834"/>
                  </a:lnTo>
                  <a:lnTo>
                    <a:pt x="5019095" y="78661"/>
                  </a:lnTo>
                  <a:lnTo>
                    <a:pt x="5019674" y="84545"/>
                  </a:lnTo>
                  <a:lnTo>
                    <a:pt x="5019674" y="90487"/>
                  </a:lnTo>
                  <a:lnTo>
                    <a:pt x="5019674" y="4900612"/>
                  </a:lnTo>
                  <a:lnTo>
                    <a:pt x="5019674" y="4906553"/>
                  </a:lnTo>
                  <a:lnTo>
                    <a:pt x="5019095" y="4912437"/>
                  </a:lnTo>
                  <a:lnTo>
                    <a:pt x="5017935" y="4918264"/>
                  </a:lnTo>
                  <a:lnTo>
                    <a:pt x="5016776" y="4924092"/>
                  </a:lnTo>
                  <a:lnTo>
                    <a:pt x="5004423" y="4950883"/>
                  </a:lnTo>
                  <a:lnTo>
                    <a:pt x="5001123" y="4955823"/>
                  </a:lnTo>
                  <a:lnTo>
                    <a:pt x="4997372" y="4960394"/>
                  </a:lnTo>
                  <a:lnTo>
                    <a:pt x="4993171" y="4964596"/>
                  </a:lnTo>
                  <a:lnTo>
                    <a:pt x="4988969" y="4968797"/>
                  </a:lnTo>
                  <a:lnTo>
                    <a:pt x="4952667" y="4988200"/>
                  </a:lnTo>
                  <a:lnTo>
                    <a:pt x="4935128" y="4991099"/>
                  </a:lnTo>
                  <a:lnTo>
                    <a:pt x="4929187" y="4991099"/>
                  </a:lnTo>
                  <a:lnTo>
                    <a:pt x="90487" y="4991099"/>
                  </a:lnTo>
                  <a:lnTo>
                    <a:pt x="84545" y="4991099"/>
                  </a:lnTo>
                  <a:lnTo>
                    <a:pt x="78661" y="4990520"/>
                  </a:lnTo>
                  <a:lnTo>
                    <a:pt x="72834" y="4989360"/>
                  </a:lnTo>
                  <a:lnTo>
                    <a:pt x="67006" y="4988200"/>
                  </a:lnTo>
                  <a:lnTo>
                    <a:pt x="61348" y="4986484"/>
                  </a:lnTo>
                  <a:lnTo>
                    <a:pt x="55859" y="4984211"/>
                  </a:lnTo>
                  <a:lnTo>
                    <a:pt x="50370" y="4981937"/>
                  </a:lnTo>
                  <a:lnTo>
                    <a:pt x="18550" y="4955823"/>
                  </a:lnTo>
                  <a:lnTo>
                    <a:pt x="15249" y="4950883"/>
                  </a:lnTo>
                  <a:lnTo>
                    <a:pt x="11948" y="4945943"/>
                  </a:lnTo>
                  <a:lnTo>
                    <a:pt x="9161" y="4940728"/>
                  </a:lnTo>
                  <a:lnTo>
                    <a:pt x="6887" y="4935239"/>
                  </a:lnTo>
                  <a:lnTo>
                    <a:pt x="4614" y="4929750"/>
                  </a:lnTo>
                  <a:lnTo>
                    <a:pt x="2897" y="4924092"/>
                  </a:lnTo>
                  <a:lnTo>
                    <a:pt x="1738" y="4918264"/>
                  </a:lnTo>
                  <a:lnTo>
                    <a:pt x="579" y="4912437"/>
                  </a:lnTo>
                  <a:lnTo>
                    <a:pt x="0" y="4906553"/>
                  </a:lnTo>
                  <a:lnTo>
                    <a:pt x="0" y="490061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0975" algn="ctr">
              <a:lnSpc>
                <a:spcPct val="100000"/>
              </a:lnSpc>
              <a:spcBef>
                <a:spcPts val="125"/>
              </a:spcBef>
            </a:pPr>
            <a:r>
              <a:rPr sz="2350" spc="-260" dirty="0"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2350" spc="-260" dirty="0">
                <a:latin typeface="宋体" panose="02010600030101010101" pitchFamily="2" charset="-122"/>
                <a:cs typeface="宋体" panose="02010600030101010101" pitchFamily="2" charset="-122"/>
              </a:rPr>
              <a:t>源标签</a:t>
            </a:r>
            <a:r>
              <a:rPr sz="2350" spc="-215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pc="-215" dirty="0"/>
              <a:t>Passive</a:t>
            </a:r>
            <a:r>
              <a:rPr spc="-5" dirty="0"/>
              <a:t> </a:t>
            </a:r>
            <a:r>
              <a:rPr spc="-290" dirty="0"/>
              <a:t>Tag</a:t>
            </a:r>
            <a:r>
              <a:rPr sz="2350" spc="-29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indent="256540">
              <a:lnSpc>
                <a:spcPct val="118000"/>
              </a:lnSpc>
              <a:spcBef>
                <a:spcPts val="2655"/>
              </a:spcBef>
              <a:buClr>
                <a:srgbClr val="333333"/>
              </a:buClr>
              <a:buChar char="·"/>
              <a:tabLst>
                <a:tab pos="269240" algn="l"/>
              </a:tabLst>
            </a:pP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⾃⾝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不含电源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，依靠读写器发射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的⽆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电</a:t>
            </a:r>
            <a:r>
              <a:rPr sz="1850" spc="-19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波供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电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激活。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333333"/>
              </a:buClr>
              <a:buChar char="·"/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indent="256540">
              <a:lnSpc>
                <a:spcPct val="122000"/>
              </a:lnSpc>
              <a:buClr>
                <a:srgbClr val="333333"/>
              </a:buClr>
              <a:buChar char="·"/>
              <a:tabLst>
                <a:tab pos="269240" algn="l"/>
              </a:tabLst>
            </a:pP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体积</a:t>
            </a: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⼩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、成本低、</a:t>
            </a: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寿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命</a:t>
            </a: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⻓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⽬前应⽤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⼴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泛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的</a:t>
            </a:r>
            <a:r>
              <a:rPr sz="1800" spc="-95" dirty="0">
                <a:solidFill>
                  <a:srgbClr val="333333"/>
                </a:solidFill>
              </a:rPr>
              <a:t>RFID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Clr>
                <a:srgbClr val="333333"/>
              </a:buClr>
              <a:buChar char="·"/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214630" indent="255905">
              <a:lnSpc>
                <a:spcPct val="118000"/>
              </a:lnSpc>
              <a:buChar char="·"/>
              <a:tabLst>
                <a:tab pos="268605" algn="l"/>
              </a:tabLst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常⻅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零售商品、图书、</a:t>
            </a: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⻔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禁卡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⽇常</a:t>
            </a:r>
            <a:r>
              <a:rPr sz="1850" spc="-19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场景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05548" y="1590674"/>
            <a:ext cx="5029200" cy="5000625"/>
            <a:chOff x="6305548" y="1590674"/>
            <a:chExt cx="5029200" cy="5000625"/>
          </a:xfrm>
        </p:grpSpPr>
        <p:sp>
          <p:nvSpPr>
            <p:cNvPr id="8" name="object 8"/>
            <p:cNvSpPr/>
            <p:nvPr/>
          </p:nvSpPr>
          <p:spPr>
            <a:xfrm>
              <a:off x="6310311" y="1595437"/>
              <a:ext cx="5019675" cy="4991100"/>
            </a:xfrm>
            <a:custGeom>
              <a:avLst/>
              <a:gdLst/>
              <a:ahLst/>
              <a:cxnLst/>
              <a:rect l="l" t="t" r="r" b="b"/>
              <a:pathLst>
                <a:path w="5019675" h="4991100">
                  <a:moveTo>
                    <a:pt x="4935129" y="4991099"/>
                  </a:moveTo>
                  <a:lnTo>
                    <a:pt x="84546" y="4991099"/>
                  </a:lnTo>
                  <a:lnTo>
                    <a:pt x="78662" y="4990520"/>
                  </a:lnTo>
                  <a:lnTo>
                    <a:pt x="35275" y="4972548"/>
                  </a:lnTo>
                  <a:lnTo>
                    <a:pt x="9161" y="4940728"/>
                  </a:lnTo>
                  <a:lnTo>
                    <a:pt x="0" y="4906553"/>
                  </a:lnTo>
                  <a:lnTo>
                    <a:pt x="0" y="490061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4" y="11948"/>
                  </a:lnTo>
                  <a:lnTo>
                    <a:pt x="84546" y="0"/>
                  </a:lnTo>
                  <a:lnTo>
                    <a:pt x="4935129" y="0"/>
                  </a:lnTo>
                  <a:lnTo>
                    <a:pt x="4974517" y="11948"/>
                  </a:lnTo>
                  <a:lnTo>
                    <a:pt x="5007723" y="45155"/>
                  </a:lnTo>
                  <a:lnTo>
                    <a:pt x="5019675" y="84545"/>
                  </a:lnTo>
                  <a:lnTo>
                    <a:pt x="5019675" y="4906553"/>
                  </a:lnTo>
                  <a:lnTo>
                    <a:pt x="5007723" y="4945943"/>
                  </a:lnTo>
                  <a:lnTo>
                    <a:pt x="4974517" y="4979150"/>
                  </a:lnTo>
                  <a:lnTo>
                    <a:pt x="4941013" y="4990520"/>
                  </a:lnTo>
                  <a:lnTo>
                    <a:pt x="4935129" y="499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10311" y="1595437"/>
              <a:ext cx="5019675" cy="4991100"/>
            </a:xfrm>
            <a:custGeom>
              <a:avLst/>
              <a:gdLst/>
              <a:ahLst/>
              <a:cxnLst/>
              <a:rect l="l" t="t" r="r" b="b"/>
              <a:pathLst>
                <a:path w="5019675" h="4991100">
                  <a:moveTo>
                    <a:pt x="0" y="49006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3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1" y="35274"/>
                  </a:lnTo>
                  <a:lnTo>
                    <a:pt x="22302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50369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2" y="579"/>
                  </a:lnTo>
                  <a:lnTo>
                    <a:pt x="84546" y="0"/>
                  </a:lnTo>
                  <a:lnTo>
                    <a:pt x="90488" y="0"/>
                  </a:lnTo>
                  <a:lnTo>
                    <a:pt x="4929187" y="0"/>
                  </a:lnTo>
                  <a:lnTo>
                    <a:pt x="4935129" y="0"/>
                  </a:lnTo>
                  <a:lnTo>
                    <a:pt x="4941013" y="579"/>
                  </a:lnTo>
                  <a:lnTo>
                    <a:pt x="4946840" y="1738"/>
                  </a:lnTo>
                  <a:lnTo>
                    <a:pt x="4952666" y="2897"/>
                  </a:lnTo>
                  <a:lnTo>
                    <a:pt x="4958324" y="4614"/>
                  </a:lnTo>
                  <a:lnTo>
                    <a:pt x="4963813" y="6887"/>
                  </a:lnTo>
                  <a:lnTo>
                    <a:pt x="4969302" y="9161"/>
                  </a:lnTo>
                  <a:lnTo>
                    <a:pt x="4974517" y="11948"/>
                  </a:lnTo>
                  <a:lnTo>
                    <a:pt x="4979457" y="15249"/>
                  </a:lnTo>
                  <a:lnTo>
                    <a:pt x="4984398" y="18550"/>
                  </a:lnTo>
                  <a:lnTo>
                    <a:pt x="4988970" y="22301"/>
                  </a:lnTo>
                  <a:lnTo>
                    <a:pt x="4993171" y="26503"/>
                  </a:lnTo>
                  <a:lnTo>
                    <a:pt x="4997371" y="30704"/>
                  </a:lnTo>
                  <a:lnTo>
                    <a:pt x="5001122" y="35274"/>
                  </a:lnTo>
                  <a:lnTo>
                    <a:pt x="5004422" y="40215"/>
                  </a:lnTo>
                  <a:lnTo>
                    <a:pt x="5007723" y="45155"/>
                  </a:lnTo>
                  <a:lnTo>
                    <a:pt x="5010510" y="50370"/>
                  </a:lnTo>
                  <a:lnTo>
                    <a:pt x="5012784" y="55859"/>
                  </a:lnTo>
                  <a:lnTo>
                    <a:pt x="5015059" y="61348"/>
                  </a:lnTo>
                  <a:lnTo>
                    <a:pt x="5016775" y="67006"/>
                  </a:lnTo>
                  <a:lnTo>
                    <a:pt x="5017934" y="72834"/>
                  </a:lnTo>
                  <a:lnTo>
                    <a:pt x="5019095" y="78661"/>
                  </a:lnTo>
                  <a:lnTo>
                    <a:pt x="5019675" y="84545"/>
                  </a:lnTo>
                  <a:lnTo>
                    <a:pt x="5019675" y="90487"/>
                  </a:lnTo>
                  <a:lnTo>
                    <a:pt x="5019675" y="4900612"/>
                  </a:lnTo>
                  <a:lnTo>
                    <a:pt x="5019675" y="4906553"/>
                  </a:lnTo>
                  <a:lnTo>
                    <a:pt x="5019095" y="4912437"/>
                  </a:lnTo>
                  <a:lnTo>
                    <a:pt x="5017934" y="4918264"/>
                  </a:lnTo>
                  <a:lnTo>
                    <a:pt x="5016775" y="4924092"/>
                  </a:lnTo>
                  <a:lnTo>
                    <a:pt x="4997371" y="4960394"/>
                  </a:lnTo>
                  <a:lnTo>
                    <a:pt x="4993171" y="4964596"/>
                  </a:lnTo>
                  <a:lnTo>
                    <a:pt x="4988970" y="4968797"/>
                  </a:lnTo>
                  <a:lnTo>
                    <a:pt x="4963813" y="4984211"/>
                  </a:lnTo>
                  <a:lnTo>
                    <a:pt x="4958324" y="4986484"/>
                  </a:lnTo>
                  <a:lnTo>
                    <a:pt x="4952666" y="4988200"/>
                  </a:lnTo>
                  <a:lnTo>
                    <a:pt x="4946840" y="4989360"/>
                  </a:lnTo>
                  <a:lnTo>
                    <a:pt x="4941013" y="4990520"/>
                  </a:lnTo>
                  <a:lnTo>
                    <a:pt x="4935129" y="4991099"/>
                  </a:lnTo>
                  <a:lnTo>
                    <a:pt x="4929187" y="4991099"/>
                  </a:lnTo>
                  <a:lnTo>
                    <a:pt x="90488" y="4991099"/>
                  </a:lnTo>
                  <a:lnTo>
                    <a:pt x="84546" y="4991099"/>
                  </a:lnTo>
                  <a:lnTo>
                    <a:pt x="78662" y="4990520"/>
                  </a:lnTo>
                  <a:lnTo>
                    <a:pt x="72834" y="4989360"/>
                  </a:lnTo>
                  <a:lnTo>
                    <a:pt x="67006" y="4988200"/>
                  </a:lnTo>
                  <a:lnTo>
                    <a:pt x="61348" y="4986484"/>
                  </a:lnTo>
                  <a:lnTo>
                    <a:pt x="55859" y="4984211"/>
                  </a:lnTo>
                  <a:lnTo>
                    <a:pt x="50369" y="4981937"/>
                  </a:lnTo>
                  <a:lnTo>
                    <a:pt x="26503" y="4964596"/>
                  </a:lnTo>
                  <a:lnTo>
                    <a:pt x="22302" y="4960394"/>
                  </a:lnTo>
                  <a:lnTo>
                    <a:pt x="6887" y="4935239"/>
                  </a:lnTo>
                  <a:lnTo>
                    <a:pt x="4613" y="4929750"/>
                  </a:lnTo>
                  <a:lnTo>
                    <a:pt x="2897" y="4924092"/>
                  </a:lnTo>
                  <a:lnTo>
                    <a:pt x="1738" y="4918264"/>
                  </a:lnTo>
                  <a:lnTo>
                    <a:pt x="579" y="4912437"/>
                  </a:lnTo>
                  <a:lnTo>
                    <a:pt x="0" y="4906553"/>
                  </a:lnTo>
                  <a:lnTo>
                    <a:pt x="0" y="490061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0975" algn="ctr">
              <a:lnSpc>
                <a:spcPct val="100000"/>
              </a:lnSpc>
              <a:spcBef>
                <a:spcPts val="125"/>
              </a:spcBef>
            </a:pPr>
            <a:r>
              <a:rPr sz="2350" spc="-260" dirty="0">
                <a:latin typeface="宋体" panose="02010600030101010101" pitchFamily="2" charset="-122"/>
                <a:cs typeface="宋体" panose="02010600030101010101" pitchFamily="2" charset="-122"/>
              </a:rPr>
              <a:t>有源标签</a:t>
            </a:r>
            <a:r>
              <a:rPr sz="2350" spc="-190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pc="-190" dirty="0"/>
              <a:t>Active</a:t>
            </a:r>
            <a:r>
              <a:rPr spc="-70" dirty="0"/>
              <a:t> </a:t>
            </a:r>
            <a:r>
              <a:rPr spc="-290" dirty="0"/>
              <a:t>Tag</a:t>
            </a:r>
            <a:r>
              <a:rPr sz="2350" spc="-29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indent="256540">
              <a:lnSpc>
                <a:spcPct val="118000"/>
              </a:lnSpc>
              <a:spcBef>
                <a:spcPts val="2655"/>
              </a:spcBef>
              <a:buClr>
                <a:srgbClr val="333333"/>
              </a:buClr>
              <a:buChar char="·"/>
              <a:tabLst>
                <a:tab pos="269240" algn="l"/>
              </a:tabLst>
            </a:pP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带电池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，可主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动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发射信号，具有更强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的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</a:t>
            </a:r>
            <a:r>
              <a:rPr sz="1850" spc="-175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别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⼒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Char char="·"/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9240" indent="-256540">
              <a:lnSpc>
                <a:spcPct val="100000"/>
              </a:lnSpc>
              <a:buClr>
                <a:srgbClr val="333333"/>
              </a:buClr>
              <a:buChar char="·"/>
              <a:tabLst>
                <a:tab pos="269240" algn="l"/>
              </a:tabLst>
            </a:pP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识别距离</a:t>
            </a: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远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、信号强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，但成本较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⾼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、体积较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⼤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indent="255905">
              <a:lnSpc>
                <a:spcPct val="118000"/>
              </a:lnSpc>
              <a:buChar char="·"/>
              <a:tabLst>
                <a:tab pos="268605" algn="l"/>
              </a:tabLst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多⽤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贵重资产跟</a:t>
            </a: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踪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850" spc="-210" dirty="0">
                <a:latin typeface="Adobe 黑体 Std R" panose="020B0400000000000000" charset="-122"/>
                <a:cs typeface="Adobe 黑体 Std R" panose="020B0400000000000000" charset="-122"/>
              </a:rPr>
              <a:t>⻋辆</a:t>
            </a:r>
            <a:r>
              <a:rPr sz="1850" spc="-210" dirty="0">
                <a:latin typeface="宋体" panose="02010600030101010101" pitchFamily="2" charset="-122"/>
                <a:cs typeface="宋体" panose="02010600030101010101" pitchFamily="2" charset="-122"/>
              </a:rPr>
              <a:t>管理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等需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要</a:t>
            </a:r>
            <a:r>
              <a:rPr sz="185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远程识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别的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场景。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56644" y="1905000"/>
            <a:ext cx="428625" cy="228600"/>
            <a:chOff x="3156644" y="1905000"/>
            <a:chExt cx="428625" cy="228600"/>
          </a:xfrm>
        </p:grpSpPr>
        <p:sp>
          <p:nvSpPr>
            <p:cNvPr id="12" name="object 12"/>
            <p:cNvSpPr/>
            <p:nvPr/>
          </p:nvSpPr>
          <p:spPr>
            <a:xfrm>
              <a:off x="3170931" y="1919287"/>
              <a:ext cx="357505" cy="200025"/>
            </a:xfrm>
            <a:custGeom>
              <a:avLst/>
              <a:gdLst/>
              <a:ahLst/>
              <a:cxnLst/>
              <a:rect l="l" t="t" r="r" b="b"/>
              <a:pathLst>
                <a:path w="357504" h="200025">
                  <a:moveTo>
                    <a:pt x="40808" y="0"/>
                  </a:moveTo>
                  <a:lnTo>
                    <a:pt x="316378" y="0"/>
                  </a:lnTo>
                  <a:lnTo>
                    <a:pt x="321790" y="0"/>
                  </a:lnTo>
                  <a:lnTo>
                    <a:pt x="326995" y="1035"/>
                  </a:lnTo>
                  <a:lnTo>
                    <a:pt x="331995" y="3106"/>
                  </a:lnTo>
                  <a:lnTo>
                    <a:pt x="336995" y="5177"/>
                  </a:lnTo>
                  <a:lnTo>
                    <a:pt x="341408" y="8126"/>
                  </a:lnTo>
                  <a:lnTo>
                    <a:pt x="345234" y="11952"/>
                  </a:lnTo>
                  <a:lnTo>
                    <a:pt x="349061" y="15779"/>
                  </a:lnTo>
                  <a:lnTo>
                    <a:pt x="352010" y="20192"/>
                  </a:lnTo>
                  <a:lnTo>
                    <a:pt x="354081" y="25191"/>
                  </a:lnTo>
                  <a:lnTo>
                    <a:pt x="356152" y="30191"/>
                  </a:lnTo>
                  <a:lnTo>
                    <a:pt x="357187" y="35397"/>
                  </a:lnTo>
                  <a:lnTo>
                    <a:pt x="357187" y="40808"/>
                  </a:lnTo>
                  <a:lnTo>
                    <a:pt x="357187" y="159216"/>
                  </a:lnTo>
                  <a:lnTo>
                    <a:pt x="357187" y="164627"/>
                  </a:lnTo>
                  <a:lnTo>
                    <a:pt x="356152" y="169833"/>
                  </a:lnTo>
                  <a:lnTo>
                    <a:pt x="354081" y="174833"/>
                  </a:lnTo>
                  <a:lnTo>
                    <a:pt x="352010" y="179832"/>
                  </a:lnTo>
                  <a:lnTo>
                    <a:pt x="316378" y="200025"/>
                  </a:lnTo>
                  <a:lnTo>
                    <a:pt x="40808" y="200025"/>
                  </a:lnTo>
                  <a:lnTo>
                    <a:pt x="5177" y="179832"/>
                  </a:lnTo>
                  <a:lnTo>
                    <a:pt x="3106" y="174833"/>
                  </a:lnTo>
                  <a:lnTo>
                    <a:pt x="1035" y="169833"/>
                  </a:lnTo>
                  <a:lnTo>
                    <a:pt x="0" y="164627"/>
                  </a:lnTo>
                  <a:lnTo>
                    <a:pt x="0" y="159216"/>
                  </a:lnTo>
                  <a:lnTo>
                    <a:pt x="0" y="40808"/>
                  </a:lnTo>
                  <a:lnTo>
                    <a:pt x="20192" y="5177"/>
                  </a:lnTo>
                  <a:lnTo>
                    <a:pt x="25191" y="3106"/>
                  </a:lnTo>
                  <a:lnTo>
                    <a:pt x="30191" y="1035"/>
                  </a:lnTo>
                  <a:lnTo>
                    <a:pt x="35397" y="0"/>
                  </a:lnTo>
                  <a:lnTo>
                    <a:pt x="40808" y="0"/>
                  </a:lnTo>
                  <a:close/>
                </a:path>
              </a:pathLst>
            </a:custGeom>
            <a:ln w="285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0981" y="1985965"/>
              <a:ext cx="0" cy="66675"/>
            </a:xfrm>
            <a:custGeom>
              <a:avLst/>
              <a:gdLst/>
              <a:ahLst/>
              <a:cxnLst/>
              <a:rect l="l" t="t" r="r" b="b"/>
              <a:pathLst>
                <a:path h="66675">
                  <a:moveTo>
                    <a:pt x="0" y="0"/>
                  </a:moveTo>
                  <a:lnTo>
                    <a:pt x="0" y="66669"/>
                  </a:lnTo>
                </a:path>
              </a:pathLst>
            </a:custGeom>
            <a:ln w="285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8605837" y="1905000"/>
            <a:ext cx="428625" cy="228600"/>
            <a:chOff x="8605837" y="1905000"/>
            <a:chExt cx="428625" cy="228600"/>
          </a:xfrm>
        </p:grpSpPr>
        <p:sp>
          <p:nvSpPr>
            <p:cNvPr id="15" name="object 15"/>
            <p:cNvSpPr/>
            <p:nvPr/>
          </p:nvSpPr>
          <p:spPr>
            <a:xfrm>
              <a:off x="8620125" y="1919287"/>
              <a:ext cx="357505" cy="200025"/>
            </a:xfrm>
            <a:custGeom>
              <a:avLst/>
              <a:gdLst/>
              <a:ahLst/>
              <a:cxnLst/>
              <a:rect l="l" t="t" r="r" b="b"/>
              <a:pathLst>
                <a:path w="357504" h="200025">
                  <a:moveTo>
                    <a:pt x="40808" y="0"/>
                  </a:moveTo>
                  <a:lnTo>
                    <a:pt x="316378" y="0"/>
                  </a:lnTo>
                  <a:lnTo>
                    <a:pt x="321790" y="0"/>
                  </a:lnTo>
                  <a:lnTo>
                    <a:pt x="326995" y="1035"/>
                  </a:lnTo>
                  <a:lnTo>
                    <a:pt x="354081" y="25191"/>
                  </a:lnTo>
                  <a:lnTo>
                    <a:pt x="356151" y="30191"/>
                  </a:lnTo>
                  <a:lnTo>
                    <a:pt x="357187" y="35397"/>
                  </a:lnTo>
                  <a:lnTo>
                    <a:pt x="357187" y="40808"/>
                  </a:lnTo>
                  <a:lnTo>
                    <a:pt x="357187" y="159216"/>
                  </a:lnTo>
                  <a:lnTo>
                    <a:pt x="357187" y="164627"/>
                  </a:lnTo>
                  <a:lnTo>
                    <a:pt x="356151" y="169833"/>
                  </a:lnTo>
                  <a:lnTo>
                    <a:pt x="354081" y="174833"/>
                  </a:lnTo>
                  <a:lnTo>
                    <a:pt x="352010" y="179832"/>
                  </a:lnTo>
                  <a:lnTo>
                    <a:pt x="316378" y="200025"/>
                  </a:lnTo>
                  <a:lnTo>
                    <a:pt x="40808" y="200025"/>
                  </a:lnTo>
                  <a:lnTo>
                    <a:pt x="5177" y="179832"/>
                  </a:lnTo>
                  <a:lnTo>
                    <a:pt x="3106" y="174833"/>
                  </a:lnTo>
                  <a:lnTo>
                    <a:pt x="1035" y="169833"/>
                  </a:lnTo>
                  <a:lnTo>
                    <a:pt x="0" y="164627"/>
                  </a:lnTo>
                  <a:lnTo>
                    <a:pt x="0" y="159216"/>
                  </a:lnTo>
                  <a:lnTo>
                    <a:pt x="0" y="40808"/>
                  </a:lnTo>
                  <a:lnTo>
                    <a:pt x="11952" y="11952"/>
                  </a:lnTo>
                  <a:lnTo>
                    <a:pt x="15779" y="8126"/>
                  </a:lnTo>
                  <a:lnTo>
                    <a:pt x="20192" y="5177"/>
                  </a:lnTo>
                  <a:lnTo>
                    <a:pt x="25191" y="3106"/>
                  </a:lnTo>
                  <a:lnTo>
                    <a:pt x="30191" y="1035"/>
                  </a:lnTo>
                  <a:lnTo>
                    <a:pt x="35397" y="0"/>
                  </a:lnTo>
                  <a:lnTo>
                    <a:pt x="40808" y="0"/>
                  </a:lnTo>
                  <a:close/>
                </a:path>
              </a:pathLst>
            </a:custGeom>
            <a:ln w="285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668068" y="1968338"/>
              <a:ext cx="261620" cy="102235"/>
            </a:xfrm>
            <a:custGeom>
              <a:avLst/>
              <a:gdLst/>
              <a:ahLst/>
              <a:cxnLst/>
              <a:rect l="l" t="t" r="r" b="b"/>
              <a:pathLst>
                <a:path w="261620" h="102235">
                  <a:moveTo>
                    <a:pt x="258723" y="101923"/>
                  </a:moveTo>
                  <a:lnTo>
                    <a:pt x="2585" y="101923"/>
                  </a:lnTo>
                  <a:lnTo>
                    <a:pt x="1743" y="101574"/>
                  </a:lnTo>
                  <a:lnTo>
                    <a:pt x="348" y="100179"/>
                  </a:lnTo>
                  <a:lnTo>
                    <a:pt x="0" y="99337"/>
                  </a:lnTo>
                  <a:lnTo>
                    <a:pt x="0" y="2585"/>
                  </a:lnTo>
                  <a:lnTo>
                    <a:pt x="348" y="1743"/>
                  </a:lnTo>
                  <a:lnTo>
                    <a:pt x="1743" y="348"/>
                  </a:lnTo>
                  <a:lnTo>
                    <a:pt x="2585" y="0"/>
                  </a:lnTo>
                  <a:lnTo>
                    <a:pt x="3571" y="0"/>
                  </a:lnTo>
                  <a:lnTo>
                    <a:pt x="258723" y="0"/>
                  </a:lnTo>
                  <a:lnTo>
                    <a:pt x="259565" y="348"/>
                  </a:lnTo>
                  <a:lnTo>
                    <a:pt x="260960" y="1743"/>
                  </a:lnTo>
                  <a:lnTo>
                    <a:pt x="261309" y="2585"/>
                  </a:lnTo>
                  <a:lnTo>
                    <a:pt x="261309" y="99337"/>
                  </a:lnTo>
                  <a:lnTo>
                    <a:pt x="260960" y="100179"/>
                  </a:lnTo>
                  <a:lnTo>
                    <a:pt x="259565" y="101574"/>
                  </a:lnTo>
                  <a:lnTo>
                    <a:pt x="258723" y="10192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668068" y="1968338"/>
              <a:ext cx="261620" cy="102235"/>
            </a:xfrm>
            <a:custGeom>
              <a:avLst/>
              <a:gdLst/>
              <a:ahLst/>
              <a:cxnLst/>
              <a:rect l="l" t="t" r="r" b="b"/>
              <a:pathLst>
                <a:path w="261620" h="102235">
                  <a:moveTo>
                    <a:pt x="3571" y="0"/>
                  </a:moveTo>
                  <a:lnTo>
                    <a:pt x="257737" y="0"/>
                  </a:lnTo>
                  <a:lnTo>
                    <a:pt x="258723" y="0"/>
                  </a:lnTo>
                  <a:lnTo>
                    <a:pt x="259565" y="348"/>
                  </a:lnTo>
                  <a:lnTo>
                    <a:pt x="260263" y="1046"/>
                  </a:lnTo>
                  <a:lnTo>
                    <a:pt x="260960" y="1743"/>
                  </a:lnTo>
                  <a:lnTo>
                    <a:pt x="261309" y="2585"/>
                  </a:lnTo>
                  <a:lnTo>
                    <a:pt x="261309" y="3571"/>
                  </a:lnTo>
                  <a:lnTo>
                    <a:pt x="261309" y="98351"/>
                  </a:lnTo>
                  <a:lnTo>
                    <a:pt x="257737" y="101923"/>
                  </a:lnTo>
                  <a:lnTo>
                    <a:pt x="3571" y="101923"/>
                  </a:lnTo>
                  <a:lnTo>
                    <a:pt x="0" y="99337"/>
                  </a:lnTo>
                  <a:lnTo>
                    <a:pt x="0" y="98351"/>
                  </a:lnTo>
                  <a:lnTo>
                    <a:pt x="0" y="3571"/>
                  </a:lnTo>
                  <a:lnTo>
                    <a:pt x="2585" y="0"/>
                  </a:lnTo>
                  <a:lnTo>
                    <a:pt x="3571" y="0"/>
                  </a:lnTo>
                  <a:close/>
                </a:path>
              </a:pathLst>
            </a:custGeom>
            <a:ln w="285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020175" y="1985965"/>
              <a:ext cx="0" cy="66675"/>
            </a:xfrm>
            <a:custGeom>
              <a:avLst/>
              <a:gdLst/>
              <a:ahLst/>
              <a:cxnLst/>
              <a:rect l="l" t="t" r="r" b="b"/>
              <a:pathLst>
                <a:path h="66675">
                  <a:moveTo>
                    <a:pt x="0" y="0"/>
                  </a:moveTo>
                  <a:lnTo>
                    <a:pt x="0" y="66669"/>
                  </a:lnTo>
                </a:path>
              </a:pathLst>
            </a:custGeom>
            <a:ln w="285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7250" y="1628775"/>
            <a:ext cx="3333750" cy="3286125"/>
            <a:chOff x="857249" y="638174"/>
            <a:chExt cx="3333750" cy="6224905"/>
          </a:xfrm>
        </p:grpSpPr>
        <p:sp>
          <p:nvSpPr>
            <p:cNvPr id="3" name="object 3"/>
            <p:cNvSpPr/>
            <p:nvPr/>
          </p:nvSpPr>
          <p:spPr>
            <a:xfrm>
              <a:off x="862012" y="642937"/>
              <a:ext cx="3324225" cy="6215380"/>
            </a:xfrm>
            <a:custGeom>
              <a:avLst/>
              <a:gdLst/>
              <a:ahLst/>
              <a:cxnLst/>
              <a:rect l="l" t="t" r="r" b="b"/>
              <a:pathLst>
                <a:path w="3324225" h="6215380">
                  <a:moveTo>
                    <a:pt x="3324224" y="6215062"/>
                  </a:moveTo>
                  <a:lnTo>
                    <a:pt x="0" y="62150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3239678" y="0"/>
                  </a:lnTo>
                  <a:lnTo>
                    <a:pt x="3279068" y="11948"/>
                  </a:lnTo>
                  <a:lnTo>
                    <a:pt x="3312275" y="45155"/>
                  </a:lnTo>
                  <a:lnTo>
                    <a:pt x="3324224" y="84545"/>
                  </a:lnTo>
                  <a:lnTo>
                    <a:pt x="3324224" y="62150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62012" y="642937"/>
              <a:ext cx="3324225" cy="6215380"/>
            </a:xfrm>
            <a:custGeom>
              <a:avLst/>
              <a:gdLst/>
              <a:ahLst/>
              <a:cxnLst/>
              <a:rect l="l" t="t" r="r" b="b"/>
              <a:pathLst>
                <a:path w="3324225" h="6215380">
                  <a:moveTo>
                    <a:pt x="0" y="62150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5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3233737" y="0"/>
                  </a:lnTo>
                  <a:lnTo>
                    <a:pt x="3239678" y="0"/>
                  </a:lnTo>
                  <a:lnTo>
                    <a:pt x="3245562" y="579"/>
                  </a:lnTo>
                  <a:lnTo>
                    <a:pt x="3284009" y="15249"/>
                  </a:lnTo>
                  <a:lnTo>
                    <a:pt x="3308974" y="40215"/>
                  </a:lnTo>
                  <a:lnTo>
                    <a:pt x="3312275" y="45155"/>
                  </a:lnTo>
                  <a:lnTo>
                    <a:pt x="3315062" y="50370"/>
                  </a:lnTo>
                  <a:lnTo>
                    <a:pt x="3317336" y="55859"/>
                  </a:lnTo>
                  <a:lnTo>
                    <a:pt x="3319610" y="61348"/>
                  </a:lnTo>
                  <a:lnTo>
                    <a:pt x="3324224" y="90487"/>
                  </a:lnTo>
                  <a:lnTo>
                    <a:pt x="3324224" y="6215062"/>
                  </a:lnTo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4575" y="2581528"/>
            <a:ext cx="13843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b="0" spc="-260" dirty="0">
                <a:latin typeface="宋体" panose="02010600030101010101" pitchFamily="2" charset="-122"/>
                <a:cs typeface="宋体" panose="02010600030101010101" pitchFamily="2" charset="-122"/>
              </a:rPr>
              <a:t>低频</a:t>
            </a:r>
            <a:r>
              <a:rPr sz="2350" b="0" spc="-170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300" b="0" spc="-170" dirty="0">
                <a:latin typeface="Noto Sans SC" panose="020B0500000000000000" charset="-122"/>
                <a:cs typeface="Noto Sans SC" panose="020B0500000000000000" charset="-122"/>
              </a:rPr>
              <a:t>LF</a:t>
            </a:r>
            <a:r>
              <a:rPr sz="2350" b="0" spc="-170" dirty="0"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4575" y="3256800"/>
            <a:ext cx="2837815" cy="12896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sz="1900" spc="-15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125kHz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。穿透性好（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可穿透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⽔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⾦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属外），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但距离短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281305">
              <a:lnSpc>
                <a:spcPts val="2480"/>
              </a:lnSpc>
              <a:spcBef>
                <a:spcPts val="90"/>
              </a:spcBef>
            </a:pP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900" spc="-17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&lt;10cm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。常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⽤于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动物识别、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⻔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禁卡。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29124" y="1628774"/>
            <a:ext cx="3333750" cy="3333750"/>
            <a:chOff x="4429124" y="638174"/>
            <a:chExt cx="3333750" cy="3333750"/>
          </a:xfrm>
        </p:grpSpPr>
        <p:sp>
          <p:nvSpPr>
            <p:cNvPr id="8" name="object 8"/>
            <p:cNvSpPr/>
            <p:nvPr/>
          </p:nvSpPr>
          <p:spPr>
            <a:xfrm>
              <a:off x="4433887" y="642937"/>
              <a:ext cx="3324225" cy="3324225"/>
            </a:xfrm>
            <a:custGeom>
              <a:avLst/>
              <a:gdLst/>
              <a:ahLst/>
              <a:cxnLst/>
              <a:rect l="l" t="t" r="r" b="b"/>
              <a:pathLst>
                <a:path w="3324225" h="3324225">
                  <a:moveTo>
                    <a:pt x="3239678" y="3324224"/>
                  </a:moveTo>
                  <a:lnTo>
                    <a:pt x="84545" y="3324224"/>
                  </a:lnTo>
                  <a:lnTo>
                    <a:pt x="78661" y="3323645"/>
                  </a:lnTo>
                  <a:lnTo>
                    <a:pt x="35274" y="3305673"/>
                  </a:lnTo>
                  <a:lnTo>
                    <a:pt x="9161" y="3273854"/>
                  </a:lnTo>
                  <a:lnTo>
                    <a:pt x="0" y="3239678"/>
                  </a:lnTo>
                  <a:lnTo>
                    <a:pt x="0" y="323373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3239678" y="0"/>
                  </a:lnTo>
                  <a:lnTo>
                    <a:pt x="3279068" y="11948"/>
                  </a:lnTo>
                  <a:lnTo>
                    <a:pt x="3312274" y="45155"/>
                  </a:lnTo>
                  <a:lnTo>
                    <a:pt x="3324224" y="84545"/>
                  </a:lnTo>
                  <a:lnTo>
                    <a:pt x="3324224" y="3239678"/>
                  </a:lnTo>
                  <a:lnTo>
                    <a:pt x="3312274" y="3279069"/>
                  </a:lnTo>
                  <a:lnTo>
                    <a:pt x="3279068" y="3312275"/>
                  </a:lnTo>
                  <a:lnTo>
                    <a:pt x="3245562" y="3323645"/>
                  </a:lnTo>
                  <a:lnTo>
                    <a:pt x="3239678" y="3324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433887" y="642937"/>
              <a:ext cx="3324225" cy="3324225"/>
            </a:xfrm>
            <a:custGeom>
              <a:avLst/>
              <a:gdLst/>
              <a:ahLst/>
              <a:cxnLst/>
              <a:rect l="l" t="t" r="r" b="b"/>
              <a:pathLst>
                <a:path w="3324225" h="3324225">
                  <a:moveTo>
                    <a:pt x="0" y="32337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70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5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69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3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3233737" y="0"/>
                  </a:lnTo>
                  <a:lnTo>
                    <a:pt x="3239678" y="0"/>
                  </a:lnTo>
                  <a:lnTo>
                    <a:pt x="3245563" y="579"/>
                  </a:lnTo>
                  <a:lnTo>
                    <a:pt x="3284008" y="15249"/>
                  </a:lnTo>
                  <a:lnTo>
                    <a:pt x="3312274" y="45155"/>
                  </a:lnTo>
                  <a:lnTo>
                    <a:pt x="3317336" y="55859"/>
                  </a:lnTo>
                  <a:lnTo>
                    <a:pt x="3319609" y="61348"/>
                  </a:lnTo>
                  <a:lnTo>
                    <a:pt x="3321326" y="67006"/>
                  </a:lnTo>
                  <a:lnTo>
                    <a:pt x="3322485" y="72834"/>
                  </a:lnTo>
                  <a:lnTo>
                    <a:pt x="3323645" y="78661"/>
                  </a:lnTo>
                  <a:lnTo>
                    <a:pt x="3324224" y="84545"/>
                  </a:lnTo>
                  <a:lnTo>
                    <a:pt x="3324224" y="90487"/>
                  </a:lnTo>
                  <a:lnTo>
                    <a:pt x="3324224" y="3233737"/>
                  </a:lnTo>
                  <a:lnTo>
                    <a:pt x="3324224" y="3239678"/>
                  </a:lnTo>
                  <a:lnTo>
                    <a:pt x="3323645" y="3245563"/>
                  </a:lnTo>
                  <a:lnTo>
                    <a:pt x="3322485" y="3251390"/>
                  </a:lnTo>
                  <a:lnTo>
                    <a:pt x="3321326" y="3257217"/>
                  </a:lnTo>
                  <a:lnTo>
                    <a:pt x="3319609" y="3262875"/>
                  </a:lnTo>
                  <a:lnTo>
                    <a:pt x="3317336" y="3268365"/>
                  </a:lnTo>
                  <a:lnTo>
                    <a:pt x="3315062" y="3273854"/>
                  </a:lnTo>
                  <a:lnTo>
                    <a:pt x="3288948" y="3305673"/>
                  </a:lnTo>
                  <a:lnTo>
                    <a:pt x="3251389" y="3322485"/>
                  </a:lnTo>
                  <a:lnTo>
                    <a:pt x="3245562" y="3323645"/>
                  </a:lnTo>
                  <a:lnTo>
                    <a:pt x="3239678" y="3324224"/>
                  </a:lnTo>
                  <a:lnTo>
                    <a:pt x="3233737" y="3324224"/>
                  </a:lnTo>
                  <a:lnTo>
                    <a:pt x="90487" y="3324224"/>
                  </a:lnTo>
                  <a:lnTo>
                    <a:pt x="84545" y="3324224"/>
                  </a:lnTo>
                  <a:lnTo>
                    <a:pt x="78661" y="3323645"/>
                  </a:lnTo>
                  <a:lnTo>
                    <a:pt x="72834" y="3322485"/>
                  </a:lnTo>
                  <a:lnTo>
                    <a:pt x="67006" y="3321326"/>
                  </a:lnTo>
                  <a:lnTo>
                    <a:pt x="30703" y="3301922"/>
                  </a:lnTo>
                  <a:lnTo>
                    <a:pt x="15249" y="3284009"/>
                  </a:lnTo>
                  <a:lnTo>
                    <a:pt x="11948" y="3279069"/>
                  </a:lnTo>
                  <a:lnTo>
                    <a:pt x="1738" y="3251390"/>
                  </a:lnTo>
                  <a:lnTo>
                    <a:pt x="579" y="3245563"/>
                  </a:lnTo>
                  <a:lnTo>
                    <a:pt x="0" y="3239678"/>
                  </a:lnTo>
                  <a:lnTo>
                    <a:pt x="0" y="32337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616450" y="2581528"/>
            <a:ext cx="143383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⾼</a:t>
            </a: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频</a:t>
            </a:r>
            <a:r>
              <a:rPr sz="2350" spc="-18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300" spc="-18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HF</a:t>
            </a:r>
            <a:r>
              <a:rPr sz="2350" spc="-18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6450" y="3256800"/>
            <a:ext cx="2836545" cy="1289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110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sz="1900" spc="-150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13.56MHz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。这是</a:t>
            </a:r>
            <a:r>
              <a:rPr sz="1900" spc="-18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NFC</a:t>
            </a:r>
            <a:r>
              <a:rPr sz="1850" spc="-18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50" spc="-19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近场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通信）的基础，距离适</a:t>
            </a:r>
            <a:r>
              <a:rPr sz="1850" spc="-5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中</a:t>
            </a:r>
            <a:endParaRPr sz="1850">
              <a:latin typeface="Adobe 黑体 Std R" panose="020B0400000000000000" charset="-122"/>
              <a:cs typeface="Adobe 黑体 Std R" panose="020B0400000000000000" charset="-122"/>
            </a:endParaRPr>
          </a:p>
          <a:p>
            <a:pPr marL="12700" marR="83820">
              <a:lnSpc>
                <a:spcPts val="2480"/>
              </a:lnSpc>
              <a:spcBef>
                <a:spcPts val="95"/>
              </a:spcBef>
            </a:pPr>
            <a:r>
              <a:rPr sz="1850" spc="-19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900" spc="-190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&lt;1m</a:t>
            </a:r>
            <a:r>
              <a:rPr sz="1850" spc="-19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。公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交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卡、饭卡、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⼆代⾝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都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是这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个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频段。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77554" y="1973579"/>
            <a:ext cx="3333750" cy="2653030"/>
            <a:chOff x="4429124" y="4210049"/>
            <a:chExt cx="3333750" cy="2653030"/>
          </a:xfrm>
        </p:grpSpPr>
        <p:sp>
          <p:nvSpPr>
            <p:cNvPr id="13" name="object 13"/>
            <p:cNvSpPr/>
            <p:nvPr/>
          </p:nvSpPr>
          <p:spPr>
            <a:xfrm>
              <a:off x="4433887" y="4214812"/>
              <a:ext cx="3324225" cy="2643505"/>
            </a:xfrm>
            <a:custGeom>
              <a:avLst/>
              <a:gdLst/>
              <a:ahLst/>
              <a:cxnLst/>
              <a:rect l="l" t="t" r="r" b="b"/>
              <a:pathLst>
                <a:path w="3324225" h="2643504">
                  <a:moveTo>
                    <a:pt x="3324224" y="2643187"/>
                  </a:moveTo>
                  <a:lnTo>
                    <a:pt x="0" y="264318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3239678" y="0"/>
                  </a:lnTo>
                  <a:lnTo>
                    <a:pt x="3279068" y="11948"/>
                  </a:lnTo>
                  <a:lnTo>
                    <a:pt x="3312274" y="45155"/>
                  </a:lnTo>
                  <a:lnTo>
                    <a:pt x="3324224" y="84545"/>
                  </a:lnTo>
                  <a:lnTo>
                    <a:pt x="3324224" y="2643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33887" y="4214812"/>
              <a:ext cx="3324225" cy="2643505"/>
            </a:xfrm>
            <a:custGeom>
              <a:avLst/>
              <a:gdLst/>
              <a:ahLst/>
              <a:cxnLst/>
              <a:rect l="l" t="t" r="r" b="b"/>
              <a:pathLst>
                <a:path w="3324225" h="2643504">
                  <a:moveTo>
                    <a:pt x="0" y="26431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2" y="26503"/>
                  </a:lnTo>
                  <a:lnTo>
                    <a:pt x="30703" y="22301"/>
                  </a:lnTo>
                  <a:lnTo>
                    <a:pt x="35274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69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3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3233737" y="0"/>
                  </a:lnTo>
                  <a:lnTo>
                    <a:pt x="3239678" y="0"/>
                  </a:lnTo>
                  <a:lnTo>
                    <a:pt x="3245563" y="579"/>
                  </a:lnTo>
                  <a:lnTo>
                    <a:pt x="3251390" y="1738"/>
                  </a:lnTo>
                  <a:lnTo>
                    <a:pt x="3257217" y="2897"/>
                  </a:lnTo>
                  <a:lnTo>
                    <a:pt x="3293519" y="22301"/>
                  </a:lnTo>
                  <a:lnTo>
                    <a:pt x="3317335" y="55859"/>
                  </a:lnTo>
                  <a:lnTo>
                    <a:pt x="3319609" y="61348"/>
                  </a:lnTo>
                  <a:lnTo>
                    <a:pt x="3321325" y="67006"/>
                  </a:lnTo>
                  <a:lnTo>
                    <a:pt x="3322485" y="72833"/>
                  </a:lnTo>
                  <a:lnTo>
                    <a:pt x="3323644" y="78661"/>
                  </a:lnTo>
                  <a:lnTo>
                    <a:pt x="3324224" y="84545"/>
                  </a:lnTo>
                  <a:lnTo>
                    <a:pt x="3324224" y="90487"/>
                  </a:lnTo>
                  <a:lnTo>
                    <a:pt x="3324224" y="2643187"/>
                  </a:lnTo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564880" y="2926333"/>
            <a:ext cx="2959100" cy="16510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超</a:t>
            </a: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⾼</a:t>
            </a: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频</a:t>
            </a:r>
            <a:r>
              <a:rPr sz="2350" spc="-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300" spc="-1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UHF</a:t>
            </a:r>
            <a:r>
              <a:rPr sz="2350" spc="-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21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sz="1900" spc="-13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860-</a:t>
            </a:r>
            <a:r>
              <a:rPr sz="1900" spc="-16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960MHz</a:t>
            </a:r>
            <a:r>
              <a:rPr sz="1850" spc="-19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。识别距离最远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ts val="2480"/>
              </a:lnSpc>
              <a:spcBef>
                <a:spcPts val="8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（可达</a:t>
            </a:r>
            <a:r>
              <a:rPr sz="1900" spc="-14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10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⽶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上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可快速读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取多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个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标签。是物流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仓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储、零售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93202" y="1898021"/>
            <a:ext cx="309245" cy="241300"/>
            <a:chOff x="1093202" y="907421"/>
            <a:chExt cx="309245" cy="241300"/>
          </a:xfrm>
        </p:grpSpPr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3579" y="971612"/>
              <a:ext cx="228391" cy="1096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05108" y="919328"/>
              <a:ext cx="285750" cy="54610"/>
            </a:xfrm>
            <a:custGeom>
              <a:avLst/>
              <a:gdLst/>
              <a:ahLst/>
              <a:cxnLst/>
              <a:rect l="l" t="t" r="r" b="b"/>
              <a:pathLst>
                <a:path w="285750" h="54609">
                  <a:moveTo>
                    <a:pt x="285333" y="54387"/>
                  </a:moveTo>
                  <a:lnTo>
                    <a:pt x="254011" y="31194"/>
                  </a:lnTo>
                  <a:lnTo>
                    <a:pt x="219007" y="14057"/>
                  </a:lnTo>
                  <a:lnTo>
                    <a:pt x="181478" y="3543"/>
                  </a:lnTo>
                  <a:lnTo>
                    <a:pt x="142666" y="0"/>
                  </a:lnTo>
                  <a:lnTo>
                    <a:pt x="132902" y="221"/>
                  </a:lnTo>
                  <a:lnTo>
                    <a:pt x="94292" y="5529"/>
                  </a:lnTo>
                  <a:lnTo>
                    <a:pt x="57281" y="17742"/>
                  </a:lnTo>
                  <a:lnTo>
                    <a:pt x="23094" y="36456"/>
                  </a:lnTo>
                  <a:lnTo>
                    <a:pt x="7433" y="48052"/>
                  </a:lnTo>
                  <a:lnTo>
                    <a:pt x="0" y="54387"/>
                  </a:lnTo>
                </a:path>
              </a:pathLst>
            </a:custGeom>
            <a:ln w="23812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23962" y="11001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24"/>
                  </a:moveTo>
                  <a:lnTo>
                    <a:pt x="23812" y="47625"/>
                  </a:lnTo>
                  <a:lnTo>
                    <a:pt x="20654" y="47624"/>
                  </a:lnTo>
                  <a:lnTo>
                    <a:pt x="17617" y="47020"/>
                  </a:lnTo>
                  <a:lnTo>
                    <a:pt x="0" y="26970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26970" y="0"/>
                  </a:lnTo>
                  <a:lnTo>
                    <a:pt x="47624" y="20654"/>
                  </a:lnTo>
                  <a:lnTo>
                    <a:pt x="47624" y="26970"/>
                  </a:lnTo>
                  <a:lnTo>
                    <a:pt x="26970" y="4762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23962" y="1100137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3812" y="47625"/>
                  </a:moveTo>
                  <a:lnTo>
                    <a:pt x="6974" y="40650"/>
                  </a:lnTo>
                  <a:lnTo>
                    <a:pt x="4741" y="38417"/>
                  </a:lnTo>
                  <a:lnTo>
                    <a:pt x="3021" y="35842"/>
                  </a:lnTo>
                  <a:lnTo>
                    <a:pt x="1812" y="32925"/>
                  </a:lnTo>
                  <a:lnTo>
                    <a:pt x="604" y="30007"/>
                  </a:lnTo>
                  <a:lnTo>
                    <a:pt x="0" y="26970"/>
                  </a:lnTo>
                  <a:lnTo>
                    <a:pt x="0" y="23812"/>
                  </a:lnTo>
                  <a:lnTo>
                    <a:pt x="0" y="20654"/>
                  </a:lnTo>
                  <a:lnTo>
                    <a:pt x="604" y="17617"/>
                  </a:lnTo>
                  <a:lnTo>
                    <a:pt x="1812" y="14699"/>
                  </a:lnTo>
                  <a:lnTo>
                    <a:pt x="3021" y="11782"/>
                  </a:lnTo>
                  <a:lnTo>
                    <a:pt x="4741" y="9207"/>
                  </a:lnTo>
                  <a:lnTo>
                    <a:pt x="6974" y="6974"/>
                  </a:lnTo>
                  <a:lnTo>
                    <a:pt x="9207" y="4741"/>
                  </a:lnTo>
                  <a:lnTo>
                    <a:pt x="11782" y="3021"/>
                  </a:lnTo>
                  <a:lnTo>
                    <a:pt x="14699" y="1812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26970" y="0"/>
                  </a:lnTo>
                  <a:lnTo>
                    <a:pt x="45812" y="14699"/>
                  </a:lnTo>
                  <a:lnTo>
                    <a:pt x="47020" y="17617"/>
                  </a:lnTo>
                  <a:lnTo>
                    <a:pt x="47624" y="20654"/>
                  </a:lnTo>
                  <a:lnTo>
                    <a:pt x="47625" y="23812"/>
                  </a:lnTo>
                  <a:lnTo>
                    <a:pt x="47624" y="26970"/>
                  </a:lnTo>
                  <a:lnTo>
                    <a:pt x="47020" y="30007"/>
                  </a:lnTo>
                  <a:lnTo>
                    <a:pt x="45812" y="32925"/>
                  </a:lnTo>
                  <a:lnTo>
                    <a:pt x="44603" y="35842"/>
                  </a:lnTo>
                  <a:lnTo>
                    <a:pt x="26970" y="47624"/>
                  </a:lnTo>
                  <a:lnTo>
                    <a:pt x="23812" y="47625"/>
                  </a:lnTo>
                  <a:close/>
                </a:path>
              </a:pathLst>
            </a:custGeom>
            <a:ln w="3175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4641055" y="1888331"/>
            <a:ext cx="357505" cy="262255"/>
            <a:chOff x="4641055" y="897731"/>
            <a:chExt cx="357505" cy="262255"/>
          </a:xfrm>
        </p:grpSpPr>
        <p:sp>
          <p:nvSpPr>
            <p:cNvPr id="22" name="object 22"/>
            <p:cNvSpPr/>
            <p:nvPr/>
          </p:nvSpPr>
          <p:spPr>
            <a:xfrm>
              <a:off x="4938712" y="909637"/>
              <a:ext cx="47625" cy="238125"/>
            </a:xfrm>
            <a:custGeom>
              <a:avLst/>
              <a:gdLst/>
              <a:ahLst/>
              <a:cxnLst/>
              <a:rect l="l" t="t" r="r" b="b"/>
              <a:pathLst>
                <a:path w="47625" h="238125">
                  <a:moveTo>
                    <a:pt x="5953" y="0"/>
                  </a:moveTo>
                  <a:lnTo>
                    <a:pt x="41671" y="0"/>
                  </a:lnTo>
                  <a:lnTo>
                    <a:pt x="43315" y="0"/>
                  </a:lnTo>
                  <a:lnTo>
                    <a:pt x="44718" y="581"/>
                  </a:lnTo>
                  <a:lnTo>
                    <a:pt x="45881" y="1743"/>
                  </a:lnTo>
                  <a:lnTo>
                    <a:pt x="47043" y="2906"/>
                  </a:lnTo>
                  <a:lnTo>
                    <a:pt x="47624" y="4309"/>
                  </a:lnTo>
                  <a:lnTo>
                    <a:pt x="47625" y="5953"/>
                  </a:lnTo>
                  <a:lnTo>
                    <a:pt x="47625" y="232171"/>
                  </a:lnTo>
                  <a:lnTo>
                    <a:pt x="47624" y="233815"/>
                  </a:lnTo>
                  <a:lnTo>
                    <a:pt x="47043" y="235218"/>
                  </a:lnTo>
                  <a:lnTo>
                    <a:pt x="45881" y="236381"/>
                  </a:lnTo>
                  <a:lnTo>
                    <a:pt x="44718" y="237543"/>
                  </a:lnTo>
                  <a:lnTo>
                    <a:pt x="43315" y="238124"/>
                  </a:lnTo>
                  <a:lnTo>
                    <a:pt x="41671" y="238125"/>
                  </a:lnTo>
                  <a:lnTo>
                    <a:pt x="5953" y="238125"/>
                  </a:lnTo>
                  <a:lnTo>
                    <a:pt x="4309" y="238124"/>
                  </a:lnTo>
                  <a:lnTo>
                    <a:pt x="2906" y="237543"/>
                  </a:lnTo>
                  <a:lnTo>
                    <a:pt x="1743" y="236381"/>
                  </a:lnTo>
                  <a:lnTo>
                    <a:pt x="581" y="235218"/>
                  </a:lnTo>
                  <a:lnTo>
                    <a:pt x="0" y="233815"/>
                  </a:lnTo>
                  <a:lnTo>
                    <a:pt x="0" y="232171"/>
                  </a:lnTo>
                  <a:lnTo>
                    <a:pt x="0" y="5953"/>
                  </a:lnTo>
                  <a:lnTo>
                    <a:pt x="0" y="4309"/>
                  </a:lnTo>
                  <a:lnTo>
                    <a:pt x="581" y="2906"/>
                  </a:lnTo>
                  <a:lnTo>
                    <a:pt x="1743" y="1743"/>
                  </a:lnTo>
                  <a:lnTo>
                    <a:pt x="2906" y="581"/>
                  </a:lnTo>
                  <a:lnTo>
                    <a:pt x="4309" y="0"/>
                  </a:lnTo>
                  <a:lnTo>
                    <a:pt x="5953" y="0"/>
                  </a:lnTo>
                  <a:close/>
                </a:path>
              </a:pathLst>
            </a:custGeom>
            <a:ln w="23812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1555" y="957262"/>
              <a:ext cx="71437" cy="2024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6305" y="1004887"/>
              <a:ext cx="71437" cy="15478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1055" y="1052512"/>
              <a:ext cx="71437" cy="10715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8577580" y="2233136"/>
            <a:ext cx="381000" cy="262255"/>
            <a:chOff x="4629150" y="4469606"/>
            <a:chExt cx="381000" cy="262255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2737" y="4503300"/>
              <a:ext cx="273824" cy="1945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641057" y="4481512"/>
              <a:ext cx="357505" cy="238125"/>
            </a:xfrm>
            <a:custGeom>
              <a:avLst/>
              <a:gdLst/>
              <a:ahLst/>
              <a:cxnLst/>
              <a:rect l="l" t="t" r="r" b="b"/>
              <a:pathLst>
                <a:path w="357504" h="238125">
                  <a:moveTo>
                    <a:pt x="311793" y="238125"/>
                  </a:moveTo>
                  <a:lnTo>
                    <a:pt x="335226" y="204927"/>
                  </a:lnTo>
                  <a:lnTo>
                    <a:pt x="350555" y="167313"/>
                  </a:lnTo>
                  <a:lnTo>
                    <a:pt x="357000" y="127210"/>
                  </a:lnTo>
                  <a:lnTo>
                    <a:pt x="357185" y="119062"/>
                  </a:lnTo>
                  <a:lnTo>
                    <a:pt x="357000" y="110914"/>
                  </a:lnTo>
                  <a:lnTo>
                    <a:pt x="350555" y="70811"/>
                  </a:lnTo>
                  <a:lnTo>
                    <a:pt x="335226" y="33197"/>
                  </a:lnTo>
                  <a:lnTo>
                    <a:pt x="317080" y="6203"/>
                  </a:lnTo>
                  <a:lnTo>
                    <a:pt x="311793" y="0"/>
                  </a:lnTo>
                </a:path>
                <a:path w="357504" h="238125">
                  <a:moveTo>
                    <a:pt x="45391" y="0"/>
                  </a:moveTo>
                  <a:lnTo>
                    <a:pt x="21959" y="33197"/>
                  </a:lnTo>
                  <a:lnTo>
                    <a:pt x="6630" y="70811"/>
                  </a:lnTo>
                  <a:lnTo>
                    <a:pt x="184" y="110914"/>
                  </a:lnTo>
                  <a:lnTo>
                    <a:pt x="0" y="119062"/>
                  </a:lnTo>
                  <a:lnTo>
                    <a:pt x="184" y="127210"/>
                  </a:lnTo>
                  <a:lnTo>
                    <a:pt x="6630" y="167313"/>
                  </a:lnTo>
                  <a:lnTo>
                    <a:pt x="21959" y="204927"/>
                  </a:lnTo>
                  <a:lnTo>
                    <a:pt x="40104" y="231921"/>
                  </a:lnTo>
                  <a:lnTo>
                    <a:pt x="45391" y="238125"/>
                  </a:lnTo>
                </a:path>
              </a:pathLst>
            </a:custGeom>
            <a:ln w="23812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0100" y="1709039"/>
            <a:ext cx="551180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490" dirty="0"/>
              <a:t>智慧零售：提升效率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与</a:t>
            </a:r>
            <a:r>
              <a:rPr spc="-490" dirty="0"/>
              <a:t>体</a:t>
            </a:r>
            <a:r>
              <a:rPr spc="-540" dirty="0">
                <a:latin typeface="Microsoft JhengHei" panose="020B0604030504040204" charset="-120"/>
                <a:cs typeface="Microsoft JhengHei" panose="020B0604030504040204" charset="-120"/>
              </a:rPr>
              <a:t>验</a:t>
            </a:r>
            <a:endParaRPr spc="-54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1499" y="2752724"/>
            <a:ext cx="3495675" cy="2705100"/>
            <a:chOff x="571499" y="2752724"/>
            <a:chExt cx="3495675" cy="2705100"/>
          </a:xfrm>
        </p:grpSpPr>
        <p:sp>
          <p:nvSpPr>
            <p:cNvPr id="4" name="object 4"/>
            <p:cNvSpPr/>
            <p:nvPr/>
          </p:nvSpPr>
          <p:spPr>
            <a:xfrm>
              <a:off x="576262" y="2757487"/>
              <a:ext cx="3486150" cy="2695575"/>
            </a:xfrm>
            <a:custGeom>
              <a:avLst/>
              <a:gdLst/>
              <a:ahLst/>
              <a:cxnLst/>
              <a:rect l="l" t="t" r="r" b="b"/>
              <a:pathLst>
                <a:path w="3486150" h="2695575">
                  <a:moveTo>
                    <a:pt x="3383804" y="2695574"/>
                  </a:moveTo>
                  <a:lnTo>
                    <a:pt x="102345" y="2695574"/>
                  </a:lnTo>
                  <a:lnTo>
                    <a:pt x="95221" y="2694872"/>
                  </a:lnTo>
                  <a:lnTo>
                    <a:pt x="54661" y="2681108"/>
                  </a:lnTo>
                  <a:lnTo>
                    <a:pt x="22456" y="2652872"/>
                  </a:lnTo>
                  <a:lnTo>
                    <a:pt x="3507" y="2614459"/>
                  </a:lnTo>
                  <a:lnTo>
                    <a:pt x="0" y="2593229"/>
                  </a:lnTo>
                  <a:lnTo>
                    <a:pt x="0" y="25860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383804" y="0"/>
                  </a:lnTo>
                  <a:lnTo>
                    <a:pt x="3425174" y="11090"/>
                  </a:lnTo>
                  <a:lnTo>
                    <a:pt x="3459152" y="37168"/>
                  </a:lnTo>
                  <a:lnTo>
                    <a:pt x="3480563" y="74263"/>
                  </a:lnTo>
                  <a:lnTo>
                    <a:pt x="3486149" y="102345"/>
                  </a:lnTo>
                  <a:lnTo>
                    <a:pt x="3486149" y="2593229"/>
                  </a:lnTo>
                  <a:lnTo>
                    <a:pt x="3475058" y="2634599"/>
                  </a:lnTo>
                  <a:lnTo>
                    <a:pt x="3448980" y="2668577"/>
                  </a:lnTo>
                  <a:lnTo>
                    <a:pt x="3411885" y="2689988"/>
                  </a:lnTo>
                  <a:lnTo>
                    <a:pt x="3390927" y="2694872"/>
                  </a:lnTo>
                  <a:lnTo>
                    <a:pt x="3383804" y="269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6262" y="2757487"/>
              <a:ext cx="3486150" cy="2695575"/>
            </a:xfrm>
            <a:custGeom>
              <a:avLst/>
              <a:gdLst/>
              <a:ahLst/>
              <a:cxnLst/>
              <a:rect l="l" t="t" r="r" b="b"/>
              <a:pathLst>
                <a:path w="3486150" h="2695575">
                  <a:moveTo>
                    <a:pt x="0" y="25860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8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376612" y="0"/>
                  </a:lnTo>
                  <a:lnTo>
                    <a:pt x="3383804" y="0"/>
                  </a:lnTo>
                  <a:lnTo>
                    <a:pt x="3390927" y="701"/>
                  </a:lnTo>
                  <a:lnTo>
                    <a:pt x="3431487" y="14464"/>
                  </a:lnTo>
                  <a:lnTo>
                    <a:pt x="3437467" y="18460"/>
                  </a:lnTo>
                  <a:lnTo>
                    <a:pt x="3443448" y="22456"/>
                  </a:lnTo>
                  <a:lnTo>
                    <a:pt x="3467688" y="48681"/>
                  </a:lnTo>
                  <a:lnTo>
                    <a:pt x="3471684" y="54661"/>
                  </a:lnTo>
                  <a:lnTo>
                    <a:pt x="3484044" y="88167"/>
                  </a:lnTo>
                  <a:lnTo>
                    <a:pt x="3485448" y="95221"/>
                  </a:lnTo>
                  <a:lnTo>
                    <a:pt x="3486149" y="102345"/>
                  </a:lnTo>
                  <a:lnTo>
                    <a:pt x="3486149" y="109537"/>
                  </a:lnTo>
                  <a:lnTo>
                    <a:pt x="3486149" y="2586037"/>
                  </a:lnTo>
                  <a:lnTo>
                    <a:pt x="3486149" y="2593229"/>
                  </a:lnTo>
                  <a:lnTo>
                    <a:pt x="3485448" y="2600352"/>
                  </a:lnTo>
                  <a:lnTo>
                    <a:pt x="3484044" y="2607406"/>
                  </a:lnTo>
                  <a:lnTo>
                    <a:pt x="3482641" y="2614459"/>
                  </a:lnTo>
                  <a:lnTo>
                    <a:pt x="3463693" y="2652872"/>
                  </a:lnTo>
                  <a:lnTo>
                    <a:pt x="3431487" y="2681108"/>
                  </a:lnTo>
                  <a:lnTo>
                    <a:pt x="3418530" y="2687235"/>
                  </a:lnTo>
                  <a:lnTo>
                    <a:pt x="3411885" y="2689988"/>
                  </a:lnTo>
                  <a:lnTo>
                    <a:pt x="3376612" y="2695574"/>
                  </a:lnTo>
                  <a:lnTo>
                    <a:pt x="109537" y="2695574"/>
                  </a:lnTo>
                  <a:lnTo>
                    <a:pt x="67619" y="2687235"/>
                  </a:lnTo>
                  <a:lnTo>
                    <a:pt x="60974" y="2684483"/>
                  </a:lnTo>
                  <a:lnTo>
                    <a:pt x="32082" y="2663491"/>
                  </a:lnTo>
                  <a:lnTo>
                    <a:pt x="26996" y="2658405"/>
                  </a:lnTo>
                  <a:lnTo>
                    <a:pt x="22456" y="2652872"/>
                  </a:lnTo>
                  <a:lnTo>
                    <a:pt x="18460" y="2646892"/>
                  </a:lnTo>
                  <a:lnTo>
                    <a:pt x="14464" y="2640911"/>
                  </a:lnTo>
                  <a:lnTo>
                    <a:pt x="701" y="2600352"/>
                  </a:lnTo>
                  <a:lnTo>
                    <a:pt x="0" y="2593229"/>
                  </a:lnTo>
                  <a:lnTo>
                    <a:pt x="0" y="25860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58874" y="324827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智能货架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924" y="3958957"/>
            <a:ext cx="2959100" cy="10350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实时监控商品库存，当商品被拿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ts val="2700"/>
              </a:lnSpc>
              <a:spcBef>
                <a:spcPts val="30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⾛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或补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货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动更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新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系统，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防</a:t>
            </a:r>
            <a:r>
              <a:rPr sz="1850" spc="-20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⽌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缺货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52924" y="2752724"/>
            <a:ext cx="3486150" cy="2705100"/>
            <a:chOff x="4352924" y="2752724"/>
            <a:chExt cx="3486150" cy="2705100"/>
          </a:xfrm>
        </p:grpSpPr>
        <p:sp>
          <p:nvSpPr>
            <p:cNvPr id="9" name="object 9"/>
            <p:cNvSpPr/>
            <p:nvPr/>
          </p:nvSpPr>
          <p:spPr>
            <a:xfrm>
              <a:off x="4357686" y="2757487"/>
              <a:ext cx="3476625" cy="2695575"/>
            </a:xfrm>
            <a:custGeom>
              <a:avLst/>
              <a:gdLst/>
              <a:ahLst/>
              <a:cxnLst/>
              <a:rect l="l" t="t" r="r" b="b"/>
              <a:pathLst>
                <a:path w="3476625" h="2695575">
                  <a:moveTo>
                    <a:pt x="3374279" y="2695574"/>
                  </a:moveTo>
                  <a:lnTo>
                    <a:pt x="102345" y="2695574"/>
                  </a:lnTo>
                  <a:lnTo>
                    <a:pt x="95222" y="2694872"/>
                  </a:lnTo>
                  <a:lnTo>
                    <a:pt x="54661" y="2681108"/>
                  </a:lnTo>
                  <a:lnTo>
                    <a:pt x="22455" y="2652872"/>
                  </a:lnTo>
                  <a:lnTo>
                    <a:pt x="3507" y="2614459"/>
                  </a:lnTo>
                  <a:lnTo>
                    <a:pt x="0" y="2593229"/>
                  </a:lnTo>
                  <a:lnTo>
                    <a:pt x="0" y="25860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3374279" y="0"/>
                  </a:lnTo>
                  <a:lnTo>
                    <a:pt x="3415650" y="11090"/>
                  </a:lnTo>
                  <a:lnTo>
                    <a:pt x="3449627" y="37168"/>
                  </a:lnTo>
                  <a:lnTo>
                    <a:pt x="3471038" y="74263"/>
                  </a:lnTo>
                  <a:lnTo>
                    <a:pt x="3476624" y="102345"/>
                  </a:lnTo>
                  <a:lnTo>
                    <a:pt x="3476624" y="2593229"/>
                  </a:lnTo>
                  <a:lnTo>
                    <a:pt x="3465533" y="2634599"/>
                  </a:lnTo>
                  <a:lnTo>
                    <a:pt x="3439455" y="2668577"/>
                  </a:lnTo>
                  <a:lnTo>
                    <a:pt x="3402360" y="2689988"/>
                  </a:lnTo>
                  <a:lnTo>
                    <a:pt x="3381402" y="2694872"/>
                  </a:lnTo>
                  <a:lnTo>
                    <a:pt x="3374279" y="269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57686" y="2757487"/>
              <a:ext cx="3476625" cy="2695575"/>
            </a:xfrm>
            <a:custGeom>
              <a:avLst/>
              <a:gdLst/>
              <a:ahLst/>
              <a:cxnLst/>
              <a:rect l="l" t="t" r="r" b="b"/>
              <a:pathLst>
                <a:path w="3476625" h="2695575">
                  <a:moveTo>
                    <a:pt x="0" y="25860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367087" y="0"/>
                  </a:lnTo>
                  <a:lnTo>
                    <a:pt x="3374279" y="0"/>
                  </a:lnTo>
                  <a:lnTo>
                    <a:pt x="3381402" y="701"/>
                  </a:lnTo>
                  <a:lnTo>
                    <a:pt x="3421962" y="14464"/>
                  </a:lnTo>
                  <a:lnTo>
                    <a:pt x="3454168" y="42701"/>
                  </a:lnTo>
                  <a:lnTo>
                    <a:pt x="3473115" y="81113"/>
                  </a:lnTo>
                  <a:lnTo>
                    <a:pt x="3474519" y="88167"/>
                  </a:lnTo>
                  <a:lnTo>
                    <a:pt x="3475922" y="95221"/>
                  </a:lnTo>
                  <a:lnTo>
                    <a:pt x="3476624" y="102345"/>
                  </a:lnTo>
                  <a:lnTo>
                    <a:pt x="3476625" y="109537"/>
                  </a:lnTo>
                  <a:lnTo>
                    <a:pt x="3476625" y="2586037"/>
                  </a:lnTo>
                  <a:lnTo>
                    <a:pt x="3476624" y="2593229"/>
                  </a:lnTo>
                  <a:lnTo>
                    <a:pt x="3475922" y="2600352"/>
                  </a:lnTo>
                  <a:lnTo>
                    <a:pt x="3474519" y="2607406"/>
                  </a:lnTo>
                  <a:lnTo>
                    <a:pt x="3473115" y="2614459"/>
                  </a:lnTo>
                  <a:lnTo>
                    <a:pt x="3454168" y="2652872"/>
                  </a:lnTo>
                  <a:lnTo>
                    <a:pt x="3421962" y="2681108"/>
                  </a:lnTo>
                  <a:lnTo>
                    <a:pt x="3409005" y="2687235"/>
                  </a:lnTo>
                  <a:lnTo>
                    <a:pt x="3402360" y="2689988"/>
                  </a:lnTo>
                  <a:lnTo>
                    <a:pt x="3367087" y="2695574"/>
                  </a:lnTo>
                  <a:lnTo>
                    <a:pt x="109537" y="2695574"/>
                  </a:lnTo>
                  <a:lnTo>
                    <a:pt x="67619" y="2687235"/>
                  </a:lnTo>
                  <a:lnTo>
                    <a:pt x="60974" y="2684483"/>
                  </a:lnTo>
                  <a:lnTo>
                    <a:pt x="32082" y="2663491"/>
                  </a:lnTo>
                  <a:lnTo>
                    <a:pt x="26996" y="2658405"/>
                  </a:lnTo>
                  <a:lnTo>
                    <a:pt x="22455" y="2652872"/>
                  </a:lnTo>
                  <a:lnTo>
                    <a:pt x="18460" y="2646892"/>
                  </a:lnTo>
                  <a:lnTo>
                    <a:pt x="14464" y="2640911"/>
                  </a:lnTo>
                  <a:lnTo>
                    <a:pt x="11090" y="2634599"/>
                  </a:lnTo>
                  <a:lnTo>
                    <a:pt x="8337" y="2627954"/>
                  </a:lnTo>
                  <a:lnTo>
                    <a:pt x="5585" y="2621309"/>
                  </a:lnTo>
                  <a:lnTo>
                    <a:pt x="3507" y="2614459"/>
                  </a:lnTo>
                  <a:lnTo>
                    <a:pt x="2104" y="2607406"/>
                  </a:lnTo>
                  <a:lnTo>
                    <a:pt x="701" y="2600352"/>
                  </a:lnTo>
                  <a:lnTo>
                    <a:pt x="0" y="2593229"/>
                  </a:lnTo>
                  <a:lnTo>
                    <a:pt x="0" y="25860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937025" y="324827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快速结算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5075" y="3958957"/>
            <a:ext cx="2959100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如开篇提到的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感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⽀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付</a:t>
            </a:r>
            <a:r>
              <a:rPr sz="1850" spc="40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1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，顾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需排队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，提升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购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物体验。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24823" y="2752724"/>
            <a:ext cx="3495675" cy="2705100"/>
            <a:chOff x="8124823" y="2752724"/>
            <a:chExt cx="3495675" cy="2705100"/>
          </a:xfrm>
        </p:grpSpPr>
        <p:sp>
          <p:nvSpPr>
            <p:cNvPr id="14" name="object 14"/>
            <p:cNvSpPr/>
            <p:nvPr/>
          </p:nvSpPr>
          <p:spPr>
            <a:xfrm>
              <a:off x="8129585" y="2757487"/>
              <a:ext cx="3486150" cy="2695575"/>
            </a:xfrm>
            <a:custGeom>
              <a:avLst/>
              <a:gdLst/>
              <a:ahLst/>
              <a:cxnLst/>
              <a:rect l="l" t="t" r="r" b="b"/>
              <a:pathLst>
                <a:path w="3486150" h="2695575">
                  <a:moveTo>
                    <a:pt x="3383805" y="2695574"/>
                  </a:moveTo>
                  <a:lnTo>
                    <a:pt x="102345" y="2695574"/>
                  </a:lnTo>
                  <a:lnTo>
                    <a:pt x="95222" y="2694872"/>
                  </a:lnTo>
                  <a:lnTo>
                    <a:pt x="54661" y="2681108"/>
                  </a:lnTo>
                  <a:lnTo>
                    <a:pt x="22456" y="2652872"/>
                  </a:lnTo>
                  <a:lnTo>
                    <a:pt x="3507" y="2614459"/>
                  </a:lnTo>
                  <a:lnTo>
                    <a:pt x="0" y="2593229"/>
                  </a:lnTo>
                  <a:lnTo>
                    <a:pt x="0" y="25860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383805" y="0"/>
                  </a:lnTo>
                  <a:lnTo>
                    <a:pt x="3425173" y="11090"/>
                  </a:lnTo>
                  <a:lnTo>
                    <a:pt x="3459151" y="37168"/>
                  </a:lnTo>
                  <a:lnTo>
                    <a:pt x="3480562" y="74263"/>
                  </a:lnTo>
                  <a:lnTo>
                    <a:pt x="3486149" y="102345"/>
                  </a:lnTo>
                  <a:lnTo>
                    <a:pt x="3486149" y="2593229"/>
                  </a:lnTo>
                  <a:lnTo>
                    <a:pt x="3475057" y="2634599"/>
                  </a:lnTo>
                  <a:lnTo>
                    <a:pt x="3448980" y="2668577"/>
                  </a:lnTo>
                  <a:lnTo>
                    <a:pt x="3411885" y="2689988"/>
                  </a:lnTo>
                  <a:lnTo>
                    <a:pt x="3390928" y="2694872"/>
                  </a:lnTo>
                  <a:lnTo>
                    <a:pt x="3383805" y="269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129585" y="2757487"/>
              <a:ext cx="3486150" cy="2695575"/>
            </a:xfrm>
            <a:custGeom>
              <a:avLst/>
              <a:gdLst/>
              <a:ahLst/>
              <a:cxnLst/>
              <a:rect l="l" t="t" r="r" b="b"/>
              <a:pathLst>
                <a:path w="3486150" h="2695575">
                  <a:moveTo>
                    <a:pt x="0" y="25860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3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3376612" y="0"/>
                  </a:lnTo>
                  <a:lnTo>
                    <a:pt x="3383805" y="0"/>
                  </a:lnTo>
                  <a:lnTo>
                    <a:pt x="3390928" y="701"/>
                  </a:lnTo>
                  <a:lnTo>
                    <a:pt x="3431486" y="14464"/>
                  </a:lnTo>
                  <a:lnTo>
                    <a:pt x="3454066" y="32082"/>
                  </a:lnTo>
                  <a:lnTo>
                    <a:pt x="3459151" y="37168"/>
                  </a:lnTo>
                  <a:lnTo>
                    <a:pt x="3463692" y="42701"/>
                  </a:lnTo>
                  <a:lnTo>
                    <a:pt x="3467687" y="48681"/>
                  </a:lnTo>
                  <a:lnTo>
                    <a:pt x="3471683" y="54661"/>
                  </a:lnTo>
                  <a:lnTo>
                    <a:pt x="3484043" y="88167"/>
                  </a:lnTo>
                  <a:lnTo>
                    <a:pt x="3485446" y="95221"/>
                  </a:lnTo>
                  <a:lnTo>
                    <a:pt x="3486149" y="102345"/>
                  </a:lnTo>
                  <a:lnTo>
                    <a:pt x="3486150" y="109537"/>
                  </a:lnTo>
                  <a:lnTo>
                    <a:pt x="3486150" y="2586037"/>
                  </a:lnTo>
                  <a:lnTo>
                    <a:pt x="3477810" y="2627954"/>
                  </a:lnTo>
                  <a:lnTo>
                    <a:pt x="3475057" y="2634599"/>
                  </a:lnTo>
                  <a:lnTo>
                    <a:pt x="3454066" y="2663491"/>
                  </a:lnTo>
                  <a:lnTo>
                    <a:pt x="3448980" y="2668577"/>
                  </a:lnTo>
                  <a:lnTo>
                    <a:pt x="3443447" y="2673117"/>
                  </a:lnTo>
                  <a:lnTo>
                    <a:pt x="3437466" y="2677113"/>
                  </a:lnTo>
                  <a:lnTo>
                    <a:pt x="3431486" y="2681108"/>
                  </a:lnTo>
                  <a:lnTo>
                    <a:pt x="3390928" y="2694872"/>
                  </a:lnTo>
                  <a:lnTo>
                    <a:pt x="3376612" y="2695574"/>
                  </a:lnTo>
                  <a:lnTo>
                    <a:pt x="109538" y="2695574"/>
                  </a:lnTo>
                  <a:lnTo>
                    <a:pt x="67618" y="2687235"/>
                  </a:lnTo>
                  <a:lnTo>
                    <a:pt x="60973" y="2684483"/>
                  </a:lnTo>
                  <a:lnTo>
                    <a:pt x="32082" y="2663491"/>
                  </a:lnTo>
                  <a:lnTo>
                    <a:pt x="26997" y="2658405"/>
                  </a:lnTo>
                  <a:lnTo>
                    <a:pt x="22456" y="2652872"/>
                  </a:lnTo>
                  <a:lnTo>
                    <a:pt x="18460" y="2646892"/>
                  </a:lnTo>
                  <a:lnTo>
                    <a:pt x="14464" y="2640911"/>
                  </a:lnTo>
                  <a:lnTo>
                    <a:pt x="2104" y="2607406"/>
                  </a:lnTo>
                  <a:lnTo>
                    <a:pt x="701" y="2600352"/>
                  </a:lnTo>
                  <a:lnTo>
                    <a:pt x="0" y="2593229"/>
                  </a:lnTo>
                  <a:lnTo>
                    <a:pt x="0" y="25860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715325" y="324827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库存管理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3375" y="3958957"/>
            <a:ext cx="2959100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仓库盘点从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数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天缩短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⾄数⼩</a:t>
            </a: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时，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数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据准确率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⾼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达</a:t>
            </a:r>
            <a:r>
              <a:rPr sz="1800" spc="-114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99%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以上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4628" y="3348037"/>
            <a:ext cx="216693" cy="2000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721" y="3323030"/>
            <a:ext cx="183356" cy="25003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7953" y="3331368"/>
            <a:ext cx="216693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8700" y="1518538"/>
            <a:ext cx="505460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490" dirty="0"/>
              <a:t>智能交通：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让</a:t>
            </a:r>
            <a:r>
              <a:rPr spc="-490" dirty="0"/>
              <a:t>出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⾏</a:t>
            </a:r>
            <a:r>
              <a:rPr spc="-490" dirty="0"/>
              <a:t>更</a:t>
            </a:r>
            <a:r>
              <a:rPr spc="-515" dirty="0">
                <a:latin typeface="Microsoft JhengHei" panose="020B0604030504040204" charset="-120"/>
                <a:cs typeface="Microsoft JhengHei" panose="020B0604030504040204" charset="-120"/>
              </a:rPr>
              <a:t>顺畅</a:t>
            </a:r>
            <a:endParaRPr spc="-515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71499" y="2562224"/>
            <a:ext cx="3495675" cy="3086100"/>
            <a:chOff x="571499" y="2562224"/>
            <a:chExt cx="3495675" cy="3086100"/>
          </a:xfrm>
        </p:grpSpPr>
        <p:sp>
          <p:nvSpPr>
            <p:cNvPr id="4" name="object 4"/>
            <p:cNvSpPr/>
            <p:nvPr/>
          </p:nvSpPr>
          <p:spPr>
            <a:xfrm>
              <a:off x="576262" y="2566987"/>
              <a:ext cx="3486150" cy="3076575"/>
            </a:xfrm>
            <a:custGeom>
              <a:avLst/>
              <a:gdLst/>
              <a:ahLst/>
              <a:cxnLst/>
              <a:rect l="l" t="t" r="r" b="b"/>
              <a:pathLst>
                <a:path w="3486150" h="3076575">
                  <a:moveTo>
                    <a:pt x="3383804" y="3076574"/>
                  </a:moveTo>
                  <a:lnTo>
                    <a:pt x="102345" y="3076574"/>
                  </a:lnTo>
                  <a:lnTo>
                    <a:pt x="95221" y="3075872"/>
                  </a:lnTo>
                  <a:lnTo>
                    <a:pt x="54661" y="3062108"/>
                  </a:lnTo>
                  <a:lnTo>
                    <a:pt x="22456" y="3033873"/>
                  </a:lnTo>
                  <a:lnTo>
                    <a:pt x="3507" y="2995459"/>
                  </a:lnTo>
                  <a:lnTo>
                    <a:pt x="0" y="2974229"/>
                  </a:lnTo>
                  <a:lnTo>
                    <a:pt x="0" y="29670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383804" y="0"/>
                  </a:lnTo>
                  <a:lnTo>
                    <a:pt x="3425174" y="11090"/>
                  </a:lnTo>
                  <a:lnTo>
                    <a:pt x="3459152" y="37168"/>
                  </a:lnTo>
                  <a:lnTo>
                    <a:pt x="3480563" y="74264"/>
                  </a:lnTo>
                  <a:lnTo>
                    <a:pt x="3486149" y="102345"/>
                  </a:lnTo>
                  <a:lnTo>
                    <a:pt x="3486149" y="2974229"/>
                  </a:lnTo>
                  <a:lnTo>
                    <a:pt x="3475058" y="3015600"/>
                  </a:lnTo>
                  <a:lnTo>
                    <a:pt x="3448980" y="3049577"/>
                  </a:lnTo>
                  <a:lnTo>
                    <a:pt x="3411885" y="3070988"/>
                  </a:lnTo>
                  <a:lnTo>
                    <a:pt x="3390927" y="3075872"/>
                  </a:lnTo>
                  <a:lnTo>
                    <a:pt x="3383804" y="3076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6262" y="2566987"/>
              <a:ext cx="3486150" cy="3076575"/>
            </a:xfrm>
            <a:custGeom>
              <a:avLst/>
              <a:gdLst/>
              <a:ahLst/>
              <a:cxnLst/>
              <a:rect l="l" t="t" r="r" b="b"/>
              <a:pathLst>
                <a:path w="3486150" h="3076575">
                  <a:moveTo>
                    <a:pt x="0" y="29670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376612" y="0"/>
                  </a:lnTo>
                  <a:lnTo>
                    <a:pt x="3383804" y="0"/>
                  </a:lnTo>
                  <a:lnTo>
                    <a:pt x="3390927" y="701"/>
                  </a:lnTo>
                  <a:lnTo>
                    <a:pt x="3431487" y="14464"/>
                  </a:lnTo>
                  <a:lnTo>
                    <a:pt x="3437467" y="18460"/>
                  </a:lnTo>
                  <a:lnTo>
                    <a:pt x="3443448" y="22455"/>
                  </a:lnTo>
                  <a:lnTo>
                    <a:pt x="3448980" y="26996"/>
                  </a:lnTo>
                  <a:lnTo>
                    <a:pt x="3454066" y="32082"/>
                  </a:lnTo>
                  <a:lnTo>
                    <a:pt x="3459152" y="37168"/>
                  </a:lnTo>
                  <a:lnTo>
                    <a:pt x="3463693" y="42701"/>
                  </a:lnTo>
                  <a:lnTo>
                    <a:pt x="3467688" y="48681"/>
                  </a:lnTo>
                  <a:lnTo>
                    <a:pt x="3471684" y="54661"/>
                  </a:lnTo>
                  <a:lnTo>
                    <a:pt x="3484044" y="88167"/>
                  </a:lnTo>
                  <a:lnTo>
                    <a:pt x="3485448" y="95221"/>
                  </a:lnTo>
                  <a:lnTo>
                    <a:pt x="3486149" y="102345"/>
                  </a:lnTo>
                  <a:lnTo>
                    <a:pt x="3486149" y="109537"/>
                  </a:lnTo>
                  <a:lnTo>
                    <a:pt x="3486149" y="2967037"/>
                  </a:lnTo>
                  <a:lnTo>
                    <a:pt x="3486149" y="2974229"/>
                  </a:lnTo>
                  <a:lnTo>
                    <a:pt x="3485448" y="2981352"/>
                  </a:lnTo>
                  <a:lnTo>
                    <a:pt x="3484044" y="2988406"/>
                  </a:lnTo>
                  <a:lnTo>
                    <a:pt x="3482641" y="2995459"/>
                  </a:lnTo>
                  <a:lnTo>
                    <a:pt x="3463693" y="3033873"/>
                  </a:lnTo>
                  <a:lnTo>
                    <a:pt x="3431487" y="3062108"/>
                  </a:lnTo>
                  <a:lnTo>
                    <a:pt x="3418530" y="3068235"/>
                  </a:lnTo>
                  <a:lnTo>
                    <a:pt x="3411885" y="3070988"/>
                  </a:lnTo>
                  <a:lnTo>
                    <a:pt x="3376612" y="3076574"/>
                  </a:lnTo>
                  <a:lnTo>
                    <a:pt x="109537" y="3076574"/>
                  </a:lnTo>
                  <a:lnTo>
                    <a:pt x="67619" y="3068235"/>
                  </a:lnTo>
                  <a:lnTo>
                    <a:pt x="60974" y="3065482"/>
                  </a:lnTo>
                  <a:lnTo>
                    <a:pt x="26996" y="3039406"/>
                  </a:lnTo>
                  <a:lnTo>
                    <a:pt x="18460" y="3027892"/>
                  </a:lnTo>
                  <a:lnTo>
                    <a:pt x="14464" y="3021912"/>
                  </a:lnTo>
                  <a:lnTo>
                    <a:pt x="701" y="2981352"/>
                  </a:lnTo>
                  <a:lnTo>
                    <a:pt x="0" y="2974229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39676" y="3038424"/>
            <a:ext cx="237236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95"/>
              </a:spcBef>
            </a:pPr>
            <a:r>
              <a:rPr sz="2300" spc="-18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ETC</a:t>
            </a:r>
            <a:r>
              <a:rPr sz="2350" spc="-18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不停</a:t>
            </a: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⻋</a:t>
            </a:r>
            <a:r>
              <a:rPr sz="2350" spc="-28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收费系</a:t>
            </a: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统</a:t>
            </a:r>
            <a:r>
              <a:rPr sz="2350" spc="-3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924" y="4149457"/>
            <a:ext cx="3031490" cy="10350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60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⻋辆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挡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⻛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玻璃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上</a:t>
            </a:r>
            <a:r>
              <a:rPr sz="1850" spc="-38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800" spc="-14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OBU</a:t>
            </a:r>
            <a:r>
              <a:rPr sz="1850" spc="-14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⻋载</a:t>
            </a:r>
            <a:r>
              <a:rPr sz="1850" spc="-19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元）就是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1850" spc="-29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种有源 </a:t>
            </a:r>
            <a:r>
              <a:rPr sz="1800" spc="-9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800" spc="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标签，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⾼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速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收</a:t>
            </a:r>
            <a:r>
              <a:rPr sz="1850" spc="-30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费站 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动扣费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52924" y="2562224"/>
            <a:ext cx="3486150" cy="3086100"/>
            <a:chOff x="4352924" y="2562224"/>
            <a:chExt cx="3486150" cy="3086100"/>
          </a:xfrm>
        </p:grpSpPr>
        <p:sp>
          <p:nvSpPr>
            <p:cNvPr id="9" name="object 9"/>
            <p:cNvSpPr/>
            <p:nvPr/>
          </p:nvSpPr>
          <p:spPr>
            <a:xfrm>
              <a:off x="4357686" y="2566987"/>
              <a:ext cx="3476625" cy="3076575"/>
            </a:xfrm>
            <a:custGeom>
              <a:avLst/>
              <a:gdLst/>
              <a:ahLst/>
              <a:cxnLst/>
              <a:rect l="l" t="t" r="r" b="b"/>
              <a:pathLst>
                <a:path w="3476625" h="3076575">
                  <a:moveTo>
                    <a:pt x="3374279" y="3076574"/>
                  </a:moveTo>
                  <a:lnTo>
                    <a:pt x="102345" y="3076574"/>
                  </a:lnTo>
                  <a:lnTo>
                    <a:pt x="95222" y="3075872"/>
                  </a:lnTo>
                  <a:lnTo>
                    <a:pt x="54661" y="3062108"/>
                  </a:lnTo>
                  <a:lnTo>
                    <a:pt x="22455" y="3033873"/>
                  </a:lnTo>
                  <a:lnTo>
                    <a:pt x="3507" y="2995459"/>
                  </a:lnTo>
                  <a:lnTo>
                    <a:pt x="0" y="2974229"/>
                  </a:lnTo>
                  <a:lnTo>
                    <a:pt x="0" y="29670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3374279" y="0"/>
                  </a:lnTo>
                  <a:lnTo>
                    <a:pt x="3415650" y="11090"/>
                  </a:lnTo>
                  <a:lnTo>
                    <a:pt x="3449627" y="37168"/>
                  </a:lnTo>
                  <a:lnTo>
                    <a:pt x="3471038" y="74264"/>
                  </a:lnTo>
                  <a:lnTo>
                    <a:pt x="3476624" y="102345"/>
                  </a:lnTo>
                  <a:lnTo>
                    <a:pt x="3476624" y="2974229"/>
                  </a:lnTo>
                  <a:lnTo>
                    <a:pt x="3465533" y="3015600"/>
                  </a:lnTo>
                  <a:lnTo>
                    <a:pt x="3439455" y="3049577"/>
                  </a:lnTo>
                  <a:lnTo>
                    <a:pt x="3402360" y="3070988"/>
                  </a:lnTo>
                  <a:lnTo>
                    <a:pt x="3381402" y="3075872"/>
                  </a:lnTo>
                  <a:lnTo>
                    <a:pt x="3374279" y="3076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57686" y="2566987"/>
              <a:ext cx="3476625" cy="3076575"/>
            </a:xfrm>
            <a:custGeom>
              <a:avLst/>
              <a:gdLst/>
              <a:ahLst/>
              <a:cxnLst/>
              <a:rect l="l" t="t" r="r" b="b"/>
              <a:pathLst>
                <a:path w="3476625" h="3076575">
                  <a:moveTo>
                    <a:pt x="0" y="29670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367087" y="0"/>
                  </a:lnTo>
                  <a:lnTo>
                    <a:pt x="3374279" y="0"/>
                  </a:lnTo>
                  <a:lnTo>
                    <a:pt x="3381402" y="701"/>
                  </a:lnTo>
                  <a:lnTo>
                    <a:pt x="3388457" y="2104"/>
                  </a:lnTo>
                  <a:lnTo>
                    <a:pt x="3395511" y="3507"/>
                  </a:lnTo>
                  <a:lnTo>
                    <a:pt x="3433923" y="22455"/>
                  </a:lnTo>
                  <a:lnTo>
                    <a:pt x="3462159" y="54661"/>
                  </a:lnTo>
                  <a:lnTo>
                    <a:pt x="3475922" y="95221"/>
                  </a:lnTo>
                  <a:lnTo>
                    <a:pt x="3476625" y="109537"/>
                  </a:lnTo>
                  <a:lnTo>
                    <a:pt x="3476625" y="2967037"/>
                  </a:lnTo>
                  <a:lnTo>
                    <a:pt x="3476624" y="2974229"/>
                  </a:lnTo>
                  <a:lnTo>
                    <a:pt x="3475922" y="2981352"/>
                  </a:lnTo>
                  <a:lnTo>
                    <a:pt x="3474519" y="2988406"/>
                  </a:lnTo>
                  <a:lnTo>
                    <a:pt x="3473115" y="2995459"/>
                  </a:lnTo>
                  <a:lnTo>
                    <a:pt x="3454168" y="3033873"/>
                  </a:lnTo>
                  <a:lnTo>
                    <a:pt x="3421962" y="3062108"/>
                  </a:lnTo>
                  <a:lnTo>
                    <a:pt x="3409005" y="3068235"/>
                  </a:lnTo>
                  <a:lnTo>
                    <a:pt x="3402360" y="3070988"/>
                  </a:lnTo>
                  <a:lnTo>
                    <a:pt x="3367087" y="3076574"/>
                  </a:lnTo>
                  <a:lnTo>
                    <a:pt x="109537" y="3076574"/>
                  </a:lnTo>
                  <a:lnTo>
                    <a:pt x="67619" y="3068235"/>
                  </a:lnTo>
                  <a:lnTo>
                    <a:pt x="60974" y="3065482"/>
                  </a:lnTo>
                  <a:lnTo>
                    <a:pt x="26996" y="3039406"/>
                  </a:lnTo>
                  <a:lnTo>
                    <a:pt x="18460" y="3027892"/>
                  </a:lnTo>
                  <a:lnTo>
                    <a:pt x="14464" y="3021912"/>
                  </a:lnTo>
                  <a:lnTo>
                    <a:pt x="11090" y="3015600"/>
                  </a:lnTo>
                  <a:lnTo>
                    <a:pt x="8337" y="3008955"/>
                  </a:lnTo>
                  <a:lnTo>
                    <a:pt x="5585" y="3002309"/>
                  </a:lnTo>
                  <a:lnTo>
                    <a:pt x="3507" y="2995459"/>
                  </a:lnTo>
                  <a:lnTo>
                    <a:pt x="2104" y="2988406"/>
                  </a:lnTo>
                  <a:lnTo>
                    <a:pt x="701" y="2981352"/>
                  </a:lnTo>
                  <a:lnTo>
                    <a:pt x="0" y="2974229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937025" y="3057779"/>
            <a:ext cx="173037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公交卡</a:t>
            </a:r>
            <a:r>
              <a:rPr sz="2300" spc="-9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/</a:t>
            </a:r>
            <a:r>
              <a:rPr sz="2350" spc="-28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地铁卡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5075" y="3768457"/>
            <a:ext cx="2926080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850" spc="-155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⾼频 </a:t>
            </a:r>
            <a:r>
              <a:rPr sz="1800" spc="-9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800" spc="-3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850" spc="-27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技术，实现 </a:t>
            </a:r>
            <a:r>
              <a:rPr sz="1850" spc="-20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快速刷卡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进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站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18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需接触设备。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24823" y="2562224"/>
            <a:ext cx="3495675" cy="3086100"/>
            <a:chOff x="8124823" y="2562224"/>
            <a:chExt cx="3495675" cy="3086100"/>
          </a:xfrm>
        </p:grpSpPr>
        <p:sp>
          <p:nvSpPr>
            <p:cNvPr id="14" name="object 14"/>
            <p:cNvSpPr/>
            <p:nvPr/>
          </p:nvSpPr>
          <p:spPr>
            <a:xfrm>
              <a:off x="8129585" y="2566987"/>
              <a:ext cx="3486150" cy="3076575"/>
            </a:xfrm>
            <a:custGeom>
              <a:avLst/>
              <a:gdLst/>
              <a:ahLst/>
              <a:cxnLst/>
              <a:rect l="l" t="t" r="r" b="b"/>
              <a:pathLst>
                <a:path w="3486150" h="3076575">
                  <a:moveTo>
                    <a:pt x="3383805" y="3076574"/>
                  </a:moveTo>
                  <a:lnTo>
                    <a:pt x="102345" y="3076574"/>
                  </a:lnTo>
                  <a:lnTo>
                    <a:pt x="95222" y="3075872"/>
                  </a:lnTo>
                  <a:lnTo>
                    <a:pt x="54661" y="3062108"/>
                  </a:lnTo>
                  <a:lnTo>
                    <a:pt x="22456" y="3033873"/>
                  </a:lnTo>
                  <a:lnTo>
                    <a:pt x="3507" y="2995459"/>
                  </a:lnTo>
                  <a:lnTo>
                    <a:pt x="0" y="2974229"/>
                  </a:lnTo>
                  <a:lnTo>
                    <a:pt x="0" y="29670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383805" y="0"/>
                  </a:lnTo>
                  <a:lnTo>
                    <a:pt x="3425173" y="11090"/>
                  </a:lnTo>
                  <a:lnTo>
                    <a:pt x="3459151" y="37168"/>
                  </a:lnTo>
                  <a:lnTo>
                    <a:pt x="3480562" y="74264"/>
                  </a:lnTo>
                  <a:lnTo>
                    <a:pt x="3486149" y="102345"/>
                  </a:lnTo>
                  <a:lnTo>
                    <a:pt x="3486149" y="2974229"/>
                  </a:lnTo>
                  <a:lnTo>
                    <a:pt x="3475057" y="3015600"/>
                  </a:lnTo>
                  <a:lnTo>
                    <a:pt x="3448980" y="3049577"/>
                  </a:lnTo>
                  <a:lnTo>
                    <a:pt x="3411885" y="3070988"/>
                  </a:lnTo>
                  <a:lnTo>
                    <a:pt x="3390928" y="3075872"/>
                  </a:lnTo>
                  <a:lnTo>
                    <a:pt x="3383805" y="3076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129585" y="2566987"/>
              <a:ext cx="3486150" cy="3076575"/>
            </a:xfrm>
            <a:custGeom>
              <a:avLst/>
              <a:gdLst/>
              <a:ahLst/>
              <a:cxnLst/>
              <a:rect l="l" t="t" r="r" b="b"/>
              <a:pathLst>
                <a:path w="3486150" h="3076575">
                  <a:moveTo>
                    <a:pt x="0" y="29670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4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3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3376612" y="0"/>
                  </a:lnTo>
                  <a:lnTo>
                    <a:pt x="3383805" y="0"/>
                  </a:lnTo>
                  <a:lnTo>
                    <a:pt x="3390928" y="701"/>
                  </a:lnTo>
                  <a:lnTo>
                    <a:pt x="3397981" y="2104"/>
                  </a:lnTo>
                  <a:lnTo>
                    <a:pt x="3405035" y="3507"/>
                  </a:lnTo>
                  <a:lnTo>
                    <a:pt x="3443447" y="22455"/>
                  </a:lnTo>
                  <a:lnTo>
                    <a:pt x="3454066" y="32082"/>
                  </a:lnTo>
                  <a:lnTo>
                    <a:pt x="3459151" y="37168"/>
                  </a:lnTo>
                  <a:lnTo>
                    <a:pt x="3463692" y="42701"/>
                  </a:lnTo>
                  <a:lnTo>
                    <a:pt x="3467687" y="48681"/>
                  </a:lnTo>
                  <a:lnTo>
                    <a:pt x="3471683" y="54661"/>
                  </a:lnTo>
                  <a:lnTo>
                    <a:pt x="3475057" y="60974"/>
                  </a:lnTo>
                  <a:lnTo>
                    <a:pt x="3477810" y="67619"/>
                  </a:lnTo>
                  <a:lnTo>
                    <a:pt x="3480562" y="74264"/>
                  </a:lnTo>
                  <a:lnTo>
                    <a:pt x="3486150" y="109537"/>
                  </a:lnTo>
                  <a:lnTo>
                    <a:pt x="3486150" y="2967037"/>
                  </a:lnTo>
                  <a:lnTo>
                    <a:pt x="3477810" y="3008955"/>
                  </a:lnTo>
                  <a:lnTo>
                    <a:pt x="3475057" y="3015600"/>
                  </a:lnTo>
                  <a:lnTo>
                    <a:pt x="3448980" y="3049577"/>
                  </a:lnTo>
                  <a:lnTo>
                    <a:pt x="3437466" y="3058113"/>
                  </a:lnTo>
                  <a:lnTo>
                    <a:pt x="3431486" y="3062108"/>
                  </a:lnTo>
                  <a:lnTo>
                    <a:pt x="3390928" y="3075872"/>
                  </a:lnTo>
                  <a:lnTo>
                    <a:pt x="3376612" y="3076574"/>
                  </a:lnTo>
                  <a:lnTo>
                    <a:pt x="109538" y="3076574"/>
                  </a:lnTo>
                  <a:lnTo>
                    <a:pt x="67618" y="3068235"/>
                  </a:lnTo>
                  <a:lnTo>
                    <a:pt x="60973" y="3065482"/>
                  </a:lnTo>
                  <a:lnTo>
                    <a:pt x="26997" y="3039406"/>
                  </a:lnTo>
                  <a:lnTo>
                    <a:pt x="18460" y="3027892"/>
                  </a:lnTo>
                  <a:lnTo>
                    <a:pt x="14464" y="3021912"/>
                  </a:lnTo>
                  <a:lnTo>
                    <a:pt x="2104" y="2988406"/>
                  </a:lnTo>
                  <a:lnTo>
                    <a:pt x="701" y="2981352"/>
                  </a:lnTo>
                  <a:lnTo>
                    <a:pt x="0" y="2974229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715325" y="305777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电</a:t>
            </a: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⼦⻋</a:t>
            </a:r>
            <a:r>
              <a:rPr sz="2350" spc="-3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牌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3375" y="3768457"/>
            <a:ext cx="2959100" cy="10350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60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在汽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⻋上</a:t>
            </a:r>
            <a:r>
              <a:rPr sz="1850" spc="-31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安装 </a:t>
            </a:r>
            <a:r>
              <a:rPr sz="1800" spc="-9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800" spc="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标签，</a:t>
            </a:r>
            <a:r>
              <a:rPr sz="1850" spc="-13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⽤于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交通流量监控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不停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⻋违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章管理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25093" y="3362971"/>
            <a:ext cx="216563" cy="17015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4387" y="3140868"/>
            <a:ext cx="200025" cy="23336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6287" y="3174206"/>
            <a:ext cx="200025" cy="166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490" dirty="0"/>
              <a:t>物流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与</a:t>
            </a:r>
            <a:r>
              <a:rPr spc="-490" dirty="0"/>
              <a:t>供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应链</a:t>
            </a:r>
            <a:r>
              <a:rPr spc="-490" dirty="0"/>
              <a:t>：可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视</a:t>
            </a:r>
            <a:r>
              <a:rPr spc="50" dirty="0"/>
              <a:t>化的“流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动⾎</a:t>
            </a:r>
            <a:r>
              <a:rPr spc="570" dirty="0"/>
              <a:t>脉”</a:t>
            </a:r>
            <a:endParaRPr spc="570" dirty="0"/>
          </a:p>
        </p:txBody>
      </p:sp>
      <p:grpSp>
        <p:nvGrpSpPr>
          <p:cNvPr id="3" name="object 3"/>
          <p:cNvGrpSpPr/>
          <p:nvPr/>
        </p:nvGrpSpPr>
        <p:grpSpPr>
          <a:xfrm>
            <a:off x="571499" y="2590799"/>
            <a:ext cx="3495675" cy="3028950"/>
            <a:chOff x="571499" y="2590799"/>
            <a:chExt cx="3495675" cy="3028950"/>
          </a:xfrm>
        </p:grpSpPr>
        <p:sp>
          <p:nvSpPr>
            <p:cNvPr id="4" name="object 4"/>
            <p:cNvSpPr/>
            <p:nvPr/>
          </p:nvSpPr>
          <p:spPr>
            <a:xfrm>
              <a:off x="576262" y="2595562"/>
              <a:ext cx="3486150" cy="3019425"/>
            </a:xfrm>
            <a:custGeom>
              <a:avLst/>
              <a:gdLst/>
              <a:ahLst/>
              <a:cxnLst/>
              <a:rect l="l" t="t" r="r" b="b"/>
              <a:pathLst>
                <a:path w="3486150" h="3019425">
                  <a:moveTo>
                    <a:pt x="3383804" y="3019423"/>
                  </a:moveTo>
                  <a:lnTo>
                    <a:pt x="102345" y="3019423"/>
                  </a:lnTo>
                  <a:lnTo>
                    <a:pt x="95221" y="3018722"/>
                  </a:lnTo>
                  <a:lnTo>
                    <a:pt x="54661" y="3004959"/>
                  </a:lnTo>
                  <a:lnTo>
                    <a:pt x="22456" y="2976722"/>
                  </a:lnTo>
                  <a:lnTo>
                    <a:pt x="3507" y="2938309"/>
                  </a:lnTo>
                  <a:lnTo>
                    <a:pt x="0" y="2917079"/>
                  </a:lnTo>
                  <a:lnTo>
                    <a:pt x="0" y="2909886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383804" y="0"/>
                  </a:lnTo>
                  <a:lnTo>
                    <a:pt x="3425174" y="11090"/>
                  </a:lnTo>
                  <a:lnTo>
                    <a:pt x="3459152" y="37168"/>
                  </a:lnTo>
                  <a:lnTo>
                    <a:pt x="3480563" y="74263"/>
                  </a:lnTo>
                  <a:lnTo>
                    <a:pt x="3486149" y="102344"/>
                  </a:lnTo>
                  <a:lnTo>
                    <a:pt x="3486149" y="2917079"/>
                  </a:lnTo>
                  <a:lnTo>
                    <a:pt x="3475058" y="2958448"/>
                  </a:lnTo>
                  <a:lnTo>
                    <a:pt x="3448980" y="2992427"/>
                  </a:lnTo>
                  <a:lnTo>
                    <a:pt x="3411885" y="3013838"/>
                  </a:lnTo>
                  <a:lnTo>
                    <a:pt x="3390927" y="3018722"/>
                  </a:lnTo>
                  <a:lnTo>
                    <a:pt x="3383804" y="3019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6262" y="2595562"/>
              <a:ext cx="3486150" cy="3019425"/>
            </a:xfrm>
            <a:custGeom>
              <a:avLst/>
              <a:gdLst/>
              <a:ahLst/>
              <a:cxnLst/>
              <a:rect l="l" t="t" r="r" b="b"/>
              <a:pathLst>
                <a:path w="3486150" h="3019425">
                  <a:moveTo>
                    <a:pt x="0" y="29098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8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1" y="701"/>
                  </a:lnTo>
                  <a:lnTo>
                    <a:pt x="109537" y="0"/>
                  </a:lnTo>
                  <a:lnTo>
                    <a:pt x="3376612" y="0"/>
                  </a:lnTo>
                  <a:lnTo>
                    <a:pt x="3418530" y="8337"/>
                  </a:lnTo>
                  <a:lnTo>
                    <a:pt x="3454066" y="32082"/>
                  </a:lnTo>
                  <a:lnTo>
                    <a:pt x="3467688" y="48681"/>
                  </a:lnTo>
                  <a:lnTo>
                    <a:pt x="3471684" y="54661"/>
                  </a:lnTo>
                  <a:lnTo>
                    <a:pt x="3484044" y="88167"/>
                  </a:lnTo>
                  <a:lnTo>
                    <a:pt x="3485448" y="95221"/>
                  </a:lnTo>
                  <a:lnTo>
                    <a:pt x="3486149" y="102344"/>
                  </a:lnTo>
                  <a:lnTo>
                    <a:pt x="3486149" y="109537"/>
                  </a:lnTo>
                  <a:lnTo>
                    <a:pt x="3486149" y="2909887"/>
                  </a:lnTo>
                  <a:lnTo>
                    <a:pt x="3486149" y="2917079"/>
                  </a:lnTo>
                  <a:lnTo>
                    <a:pt x="3485448" y="2924202"/>
                  </a:lnTo>
                  <a:lnTo>
                    <a:pt x="3484044" y="2931256"/>
                  </a:lnTo>
                  <a:lnTo>
                    <a:pt x="3482641" y="2938309"/>
                  </a:lnTo>
                  <a:lnTo>
                    <a:pt x="3463693" y="2976722"/>
                  </a:lnTo>
                  <a:lnTo>
                    <a:pt x="3431487" y="3004959"/>
                  </a:lnTo>
                  <a:lnTo>
                    <a:pt x="3397981" y="3017319"/>
                  </a:lnTo>
                  <a:lnTo>
                    <a:pt x="3390927" y="3018722"/>
                  </a:lnTo>
                  <a:lnTo>
                    <a:pt x="3383804" y="3019424"/>
                  </a:lnTo>
                  <a:lnTo>
                    <a:pt x="3376612" y="3019424"/>
                  </a:lnTo>
                  <a:lnTo>
                    <a:pt x="109537" y="3019424"/>
                  </a:lnTo>
                  <a:lnTo>
                    <a:pt x="102345" y="3019424"/>
                  </a:lnTo>
                  <a:lnTo>
                    <a:pt x="95221" y="3018722"/>
                  </a:lnTo>
                  <a:lnTo>
                    <a:pt x="88167" y="3017319"/>
                  </a:lnTo>
                  <a:lnTo>
                    <a:pt x="81113" y="3015916"/>
                  </a:lnTo>
                  <a:lnTo>
                    <a:pt x="42701" y="2996968"/>
                  </a:lnTo>
                  <a:lnTo>
                    <a:pt x="18460" y="2970742"/>
                  </a:lnTo>
                  <a:lnTo>
                    <a:pt x="14464" y="2964761"/>
                  </a:lnTo>
                  <a:lnTo>
                    <a:pt x="701" y="2924202"/>
                  </a:lnTo>
                  <a:lnTo>
                    <a:pt x="0" y="2917079"/>
                  </a:lnTo>
                  <a:lnTo>
                    <a:pt x="0" y="290988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58874" y="3086354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包裹追踪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924" y="3797032"/>
            <a:ext cx="2959100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从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出库、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中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转到最终签收，包裹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上</a:t>
            </a:r>
            <a:r>
              <a:rPr sz="1850" spc="-37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800" spc="-9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800" spc="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标签记录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了</a:t>
            </a:r>
            <a:r>
              <a:rPr sz="1850" spc="-17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全程的物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流信息，实现端到端的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可视化追踪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52924" y="2590799"/>
            <a:ext cx="3486150" cy="3028950"/>
            <a:chOff x="4352924" y="2590799"/>
            <a:chExt cx="3486150" cy="3028950"/>
          </a:xfrm>
        </p:grpSpPr>
        <p:sp>
          <p:nvSpPr>
            <p:cNvPr id="9" name="object 9"/>
            <p:cNvSpPr/>
            <p:nvPr/>
          </p:nvSpPr>
          <p:spPr>
            <a:xfrm>
              <a:off x="4357686" y="2595562"/>
              <a:ext cx="3476625" cy="3019425"/>
            </a:xfrm>
            <a:custGeom>
              <a:avLst/>
              <a:gdLst/>
              <a:ahLst/>
              <a:cxnLst/>
              <a:rect l="l" t="t" r="r" b="b"/>
              <a:pathLst>
                <a:path w="3476625" h="3019425">
                  <a:moveTo>
                    <a:pt x="3374279" y="3019423"/>
                  </a:moveTo>
                  <a:lnTo>
                    <a:pt x="102345" y="3019423"/>
                  </a:lnTo>
                  <a:lnTo>
                    <a:pt x="95222" y="3018722"/>
                  </a:lnTo>
                  <a:lnTo>
                    <a:pt x="54661" y="3004959"/>
                  </a:lnTo>
                  <a:lnTo>
                    <a:pt x="22455" y="2976722"/>
                  </a:lnTo>
                  <a:lnTo>
                    <a:pt x="3507" y="2938309"/>
                  </a:lnTo>
                  <a:lnTo>
                    <a:pt x="0" y="2917079"/>
                  </a:lnTo>
                  <a:lnTo>
                    <a:pt x="0" y="2909886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3374279" y="0"/>
                  </a:lnTo>
                  <a:lnTo>
                    <a:pt x="3415650" y="11090"/>
                  </a:lnTo>
                  <a:lnTo>
                    <a:pt x="3449627" y="37168"/>
                  </a:lnTo>
                  <a:lnTo>
                    <a:pt x="3471038" y="74263"/>
                  </a:lnTo>
                  <a:lnTo>
                    <a:pt x="3476624" y="102344"/>
                  </a:lnTo>
                  <a:lnTo>
                    <a:pt x="3476624" y="2917079"/>
                  </a:lnTo>
                  <a:lnTo>
                    <a:pt x="3465533" y="2958448"/>
                  </a:lnTo>
                  <a:lnTo>
                    <a:pt x="3439455" y="2992427"/>
                  </a:lnTo>
                  <a:lnTo>
                    <a:pt x="3402360" y="3013838"/>
                  </a:lnTo>
                  <a:lnTo>
                    <a:pt x="3381402" y="3018722"/>
                  </a:lnTo>
                  <a:lnTo>
                    <a:pt x="3374279" y="3019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57686" y="2595562"/>
              <a:ext cx="3476625" cy="3019425"/>
            </a:xfrm>
            <a:custGeom>
              <a:avLst/>
              <a:gdLst/>
              <a:ahLst/>
              <a:cxnLst/>
              <a:rect l="l" t="t" r="r" b="b"/>
              <a:pathLst>
                <a:path w="3476625" h="3019425">
                  <a:moveTo>
                    <a:pt x="0" y="29098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367087" y="0"/>
                  </a:lnTo>
                  <a:lnTo>
                    <a:pt x="3409005" y="8337"/>
                  </a:lnTo>
                  <a:lnTo>
                    <a:pt x="3444542" y="32082"/>
                  </a:lnTo>
                  <a:lnTo>
                    <a:pt x="3468286" y="67618"/>
                  </a:lnTo>
                  <a:lnTo>
                    <a:pt x="3474519" y="88167"/>
                  </a:lnTo>
                  <a:lnTo>
                    <a:pt x="3475922" y="95221"/>
                  </a:lnTo>
                  <a:lnTo>
                    <a:pt x="3476624" y="102344"/>
                  </a:lnTo>
                  <a:lnTo>
                    <a:pt x="3476625" y="109537"/>
                  </a:lnTo>
                  <a:lnTo>
                    <a:pt x="3476625" y="2909887"/>
                  </a:lnTo>
                  <a:lnTo>
                    <a:pt x="3476624" y="2917079"/>
                  </a:lnTo>
                  <a:lnTo>
                    <a:pt x="3475922" y="2924202"/>
                  </a:lnTo>
                  <a:lnTo>
                    <a:pt x="3474519" y="2931256"/>
                  </a:lnTo>
                  <a:lnTo>
                    <a:pt x="3473115" y="2938309"/>
                  </a:lnTo>
                  <a:lnTo>
                    <a:pt x="3454168" y="2976722"/>
                  </a:lnTo>
                  <a:lnTo>
                    <a:pt x="3427942" y="3000964"/>
                  </a:lnTo>
                  <a:lnTo>
                    <a:pt x="3421962" y="3004959"/>
                  </a:lnTo>
                  <a:lnTo>
                    <a:pt x="3388457" y="3017319"/>
                  </a:lnTo>
                  <a:lnTo>
                    <a:pt x="3381402" y="3018722"/>
                  </a:lnTo>
                  <a:lnTo>
                    <a:pt x="3374279" y="3019424"/>
                  </a:lnTo>
                  <a:lnTo>
                    <a:pt x="3367087" y="3019424"/>
                  </a:lnTo>
                  <a:lnTo>
                    <a:pt x="109537" y="3019424"/>
                  </a:lnTo>
                  <a:lnTo>
                    <a:pt x="102345" y="3019424"/>
                  </a:lnTo>
                  <a:lnTo>
                    <a:pt x="95222" y="3018722"/>
                  </a:lnTo>
                  <a:lnTo>
                    <a:pt x="88167" y="3017319"/>
                  </a:lnTo>
                  <a:lnTo>
                    <a:pt x="81113" y="3015916"/>
                  </a:lnTo>
                  <a:lnTo>
                    <a:pt x="42701" y="2996968"/>
                  </a:lnTo>
                  <a:lnTo>
                    <a:pt x="18460" y="2970742"/>
                  </a:lnTo>
                  <a:lnTo>
                    <a:pt x="14464" y="2964761"/>
                  </a:lnTo>
                  <a:lnTo>
                    <a:pt x="11090" y="2958448"/>
                  </a:lnTo>
                  <a:lnTo>
                    <a:pt x="8337" y="2951804"/>
                  </a:lnTo>
                  <a:lnTo>
                    <a:pt x="5585" y="2945159"/>
                  </a:lnTo>
                  <a:lnTo>
                    <a:pt x="3507" y="2938309"/>
                  </a:lnTo>
                  <a:lnTo>
                    <a:pt x="2104" y="2931256"/>
                  </a:lnTo>
                  <a:lnTo>
                    <a:pt x="701" y="2924202"/>
                  </a:lnTo>
                  <a:lnTo>
                    <a:pt x="0" y="2917079"/>
                  </a:lnTo>
                  <a:lnTo>
                    <a:pt x="0" y="290988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937025" y="3086354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仓储管理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5075" y="3797032"/>
            <a:ext cx="2959100" cy="1025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8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通过固定式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或⼿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持式读写器，快速完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成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出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⼊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库和盘点操作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⼤</a:t>
            </a:r>
            <a:r>
              <a:rPr sz="1850" spc="-20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幅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提升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仓</a:t>
            </a:r>
            <a:r>
              <a:rPr sz="1850" spc="-17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储效率。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24823" y="2590799"/>
            <a:ext cx="3495675" cy="3028950"/>
            <a:chOff x="8124823" y="2590799"/>
            <a:chExt cx="3495675" cy="3028950"/>
          </a:xfrm>
        </p:grpSpPr>
        <p:sp>
          <p:nvSpPr>
            <p:cNvPr id="14" name="object 14"/>
            <p:cNvSpPr/>
            <p:nvPr/>
          </p:nvSpPr>
          <p:spPr>
            <a:xfrm>
              <a:off x="8129585" y="2595562"/>
              <a:ext cx="3486150" cy="3019425"/>
            </a:xfrm>
            <a:custGeom>
              <a:avLst/>
              <a:gdLst/>
              <a:ahLst/>
              <a:cxnLst/>
              <a:rect l="l" t="t" r="r" b="b"/>
              <a:pathLst>
                <a:path w="3486150" h="3019425">
                  <a:moveTo>
                    <a:pt x="3383805" y="3019423"/>
                  </a:moveTo>
                  <a:lnTo>
                    <a:pt x="102345" y="3019423"/>
                  </a:lnTo>
                  <a:lnTo>
                    <a:pt x="95222" y="3018722"/>
                  </a:lnTo>
                  <a:lnTo>
                    <a:pt x="54661" y="3004959"/>
                  </a:lnTo>
                  <a:lnTo>
                    <a:pt x="22456" y="2976722"/>
                  </a:lnTo>
                  <a:lnTo>
                    <a:pt x="3507" y="2938309"/>
                  </a:lnTo>
                  <a:lnTo>
                    <a:pt x="0" y="2917079"/>
                  </a:lnTo>
                  <a:lnTo>
                    <a:pt x="0" y="2909886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383805" y="0"/>
                  </a:lnTo>
                  <a:lnTo>
                    <a:pt x="3425173" y="11090"/>
                  </a:lnTo>
                  <a:lnTo>
                    <a:pt x="3459151" y="37168"/>
                  </a:lnTo>
                  <a:lnTo>
                    <a:pt x="3480562" y="74263"/>
                  </a:lnTo>
                  <a:lnTo>
                    <a:pt x="3486149" y="102344"/>
                  </a:lnTo>
                  <a:lnTo>
                    <a:pt x="3486149" y="2917079"/>
                  </a:lnTo>
                  <a:lnTo>
                    <a:pt x="3475057" y="2958448"/>
                  </a:lnTo>
                  <a:lnTo>
                    <a:pt x="3448980" y="2992427"/>
                  </a:lnTo>
                  <a:lnTo>
                    <a:pt x="3411885" y="3013838"/>
                  </a:lnTo>
                  <a:lnTo>
                    <a:pt x="3390928" y="3018722"/>
                  </a:lnTo>
                  <a:lnTo>
                    <a:pt x="3383805" y="3019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129585" y="2595562"/>
              <a:ext cx="3486150" cy="3019425"/>
            </a:xfrm>
            <a:custGeom>
              <a:avLst/>
              <a:gdLst/>
              <a:ahLst/>
              <a:cxnLst/>
              <a:rect l="l" t="t" r="r" b="b"/>
              <a:pathLst>
                <a:path w="3486150" h="3019425">
                  <a:moveTo>
                    <a:pt x="0" y="29098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3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2" y="701"/>
                  </a:lnTo>
                  <a:lnTo>
                    <a:pt x="109538" y="0"/>
                  </a:lnTo>
                  <a:lnTo>
                    <a:pt x="3376612" y="0"/>
                  </a:lnTo>
                  <a:lnTo>
                    <a:pt x="3418530" y="8337"/>
                  </a:lnTo>
                  <a:lnTo>
                    <a:pt x="3454066" y="32082"/>
                  </a:lnTo>
                  <a:lnTo>
                    <a:pt x="3459151" y="37168"/>
                  </a:lnTo>
                  <a:lnTo>
                    <a:pt x="3463692" y="42701"/>
                  </a:lnTo>
                  <a:lnTo>
                    <a:pt x="3467687" y="48681"/>
                  </a:lnTo>
                  <a:lnTo>
                    <a:pt x="3471683" y="54661"/>
                  </a:lnTo>
                  <a:lnTo>
                    <a:pt x="3484043" y="88167"/>
                  </a:lnTo>
                  <a:lnTo>
                    <a:pt x="3485446" y="95221"/>
                  </a:lnTo>
                  <a:lnTo>
                    <a:pt x="3486149" y="102344"/>
                  </a:lnTo>
                  <a:lnTo>
                    <a:pt x="3486150" y="109537"/>
                  </a:lnTo>
                  <a:lnTo>
                    <a:pt x="3486150" y="2909887"/>
                  </a:lnTo>
                  <a:lnTo>
                    <a:pt x="3477810" y="2951804"/>
                  </a:lnTo>
                  <a:lnTo>
                    <a:pt x="3454066" y="2987341"/>
                  </a:lnTo>
                  <a:lnTo>
                    <a:pt x="3437466" y="3000964"/>
                  </a:lnTo>
                  <a:lnTo>
                    <a:pt x="3431486" y="3004959"/>
                  </a:lnTo>
                  <a:lnTo>
                    <a:pt x="3397981" y="3017319"/>
                  </a:lnTo>
                  <a:lnTo>
                    <a:pt x="3390928" y="3018722"/>
                  </a:lnTo>
                  <a:lnTo>
                    <a:pt x="3383805" y="3019424"/>
                  </a:lnTo>
                  <a:lnTo>
                    <a:pt x="3376612" y="3019424"/>
                  </a:lnTo>
                  <a:lnTo>
                    <a:pt x="109538" y="3019424"/>
                  </a:lnTo>
                  <a:lnTo>
                    <a:pt x="102345" y="3019424"/>
                  </a:lnTo>
                  <a:lnTo>
                    <a:pt x="95222" y="3018722"/>
                  </a:lnTo>
                  <a:lnTo>
                    <a:pt x="88168" y="3017319"/>
                  </a:lnTo>
                  <a:lnTo>
                    <a:pt x="81113" y="3015916"/>
                  </a:lnTo>
                  <a:lnTo>
                    <a:pt x="42701" y="2996968"/>
                  </a:lnTo>
                  <a:lnTo>
                    <a:pt x="18460" y="2970742"/>
                  </a:lnTo>
                  <a:lnTo>
                    <a:pt x="14464" y="2964761"/>
                  </a:lnTo>
                  <a:lnTo>
                    <a:pt x="2104" y="2931256"/>
                  </a:lnTo>
                  <a:lnTo>
                    <a:pt x="701" y="2924202"/>
                  </a:lnTo>
                  <a:lnTo>
                    <a:pt x="0" y="2917079"/>
                  </a:lnTo>
                  <a:lnTo>
                    <a:pt x="0" y="290988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715325" y="3086354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防伪溯源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3375" y="3797032"/>
            <a:ext cx="2968625" cy="1025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8000"/>
              </a:lnSpc>
              <a:spcBef>
                <a:spcPts val="95"/>
              </a:spcBef>
            </a:pPr>
            <a:r>
              <a:rPr sz="1850" spc="-204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为</a:t>
            </a: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酒类、药品等</a:t>
            </a:r>
            <a:r>
              <a:rPr sz="1850" spc="-204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⾼</a:t>
            </a: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价值商品贴</a:t>
            </a:r>
            <a:r>
              <a:rPr sz="1850" spc="-204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上</a:t>
            </a: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唯</a:t>
            </a:r>
            <a:r>
              <a:rPr sz="1850" spc="-125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 </a:t>
            </a:r>
            <a:r>
              <a:rPr sz="1800" spc="-8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ID</a:t>
            </a:r>
            <a:r>
              <a:rPr sz="1800" spc="-3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850" spc="-38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800" spc="-90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800" spc="-35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标签，消费者可以轻松</a:t>
            </a:r>
            <a:r>
              <a:rPr sz="1850" spc="-204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验证真伪、追溯来源</a:t>
            </a:r>
            <a:r>
              <a:rPr sz="1850" spc="-204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8795" y="3181945"/>
            <a:ext cx="208359" cy="20835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6053" y="3169459"/>
            <a:ext cx="216693" cy="23332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0086" y="3169443"/>
            <a:ext cx="232424" cy="233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899" y="680338"/>
            <a:ext cx="642620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490" dirty="0"/>
              <a:t>更多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应⽤</a:t>
            </a:r>
            <a:r>
              <a:rPr spc="-490" dirty="0"/>
              <a:t>：融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⼊⽣</a:t>
            </a:r>
            <a:r>
              <a:rPr spc="-490" dirty="0"/>
              <a:t>活的</a:t>
            </a:r>
            <a:r>
              <a:rPr spc="-505" dirty="0">
                <a:latin typeface="Microsoft JhengHei" panose="020B0604030504040204" charset="-120"/>
                <a:cs typeface="Microsoft JhengHei" panose="020B0604030504040204" charset="-120"/>
              </a:rPr>
              <a:t>⽅⽅⾯⾯</a:t>
            </a:r>
            <a:endParaRPr spc="-505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33749" y="1724024"/>
            <a:ext cx="5524499" cy="47624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73699" y="3637584"/>
            <a:ext cx="1244600" cy="901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305"/>
              </a:spcBef>
            </a:pPr>
            <a:r>
              <a:rPr sz="2600" spc="-114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2600" spc="-40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 </a:t>
            </a:r>
            <a:r>
              <a:rPr sz="2700" spc="-3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endParaRPr sz="2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2700" spc="-32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多元应</a:t>
            </a:r>
            <a:r>
              <a:rPr sz="2700" spc="-375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⽤</a:t>
            </a:r>
            <a:endParaRPr sz="2700">
              <a:latin typeface="Adobe 黑体 Std R" panose="020B0400000000000000" charset="-122"/>
              <a:cs typeface="Adobe 黑体 Std R" panose="020B0400000000000000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3025" y="218147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图书管理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1075" y="2863583"/>
            <a:ext cx="1701800" cy="96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快速借还、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z="1850" spc="-22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动盘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点</a:t>
            </a:r>
            <a:r>
              <a:rPr sz="1850" spc="-18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、定位查找图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书。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2025" y="2181479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⾝</a:t>
            </a:r>
            <a:r>
              <a:rPr sz="2350" spc="-28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份识别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0075" y="2863583"/>
            <a:ext cx="1701800" cy="65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份证、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⻔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禁卡</a:t>
            </a:r>
            <a:r>
              <a:rPr sz="1850" spc="-22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电⼦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护照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3025" y="4105528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动物管理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1075" y="4787632"/>
            <a:ext cx="1701800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为宠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物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植</a:t>
            </a:r>
            <a:r>
              <a:rPr sz="1850" spc="-12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⼊ </a:t>
            </a:r>
            <a:r>
              <a:rPr sz="1800" spc="-20" dirty="0">
                <a:solidFill>
                  <a:srgbClr val="333333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⽚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建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⽴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⾝</a:t>
            </a:r>
            <a:r>
              <a:rPr sz="1850" spc="-13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份档</a:t>
            </a:r>
            <a:r>
              <a:rPr sz="1850" spc="-5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案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⽤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畜牧</a:t>
            </a:r>
            <a:r>
              <a:rPr sz="1850" spc="-22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业管</a:t>
            </a:r>
            <a:r>
              <a:rPr sz="1850" spc="-13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2025" y="4419853"/>
            <a:ext cx="109220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26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⼯</a:t>
            </a:r>
            <a:r>
              <a:rPr sz="2350" spc="-28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业制造</a:t>
            </a:r>
            <a:endParaRPr sz="23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50075" y="5101957"/>
            <a:ext cx="1701800" cy="96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2000"/>
              </a:lnSpc>
              <a:spcBef>
                <a:spcPts val="95"/>
              </a:spcBef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⽣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产线上追</a:t>
            </a:r>
            <a:r>
              <a:rPr sz="1850" spc="-22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踪⼯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件，实现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动化</a:t>
            </a:r>
            <a:r>
              <a:rPr sz="1850" spc="-225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质量控制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1699" y="1604263"/>
            <a:ext cx="2768600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490" dirty="0"/>
              <a:t>核</a:t>
            </a:r>
            <a:r>
              <a:rPr spc="-490" dirty="0">
                <a:latin typeface="Microsoft JhengHei" panose="020B0604030504040204" charset="-120"/>
                <a:cs typeface="Microsoft JhengHei" panose="020B0604030504040204" charset="-120"/>
              </a:rPr>
              <a:t>⼼</a:t>
            </a:r>
            <a:r>
              <a:rPr spc="-490" dirty="0"/>
              <a:t>要点回</a:t>
            </a:r>
            <a:r>
              <a:rPr spc="-540" dirty="0">
                <a:latin typeface="Microsoft JhengHei" panose="020B0604030504040204" charset="-120"/>
                <a:cs typeface="Microsoft JhengHei" panose="020B0604030504040204" charset="-120"/>
              </a:rPr>
              <a:t>顾</a:t>
            </a:r>
            <a:endParaRPr spc="-540" dirty="0">
              <a:latin typeface="Microsoft JhengHei" panose="020B0604030504040204" charset="-120"/>
              <a:cs typeface="Microsoft JhengHei" panose="020B0604030504040204" charset="-12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1999" y="2647949"/>
            <a:ext cx="5143500" cy="1343025"/>
            <a:chOff x="761999" y="2647949"/>
            <a:chExt cx="5143500" cy="1343025"/>
          </a:xfrm>
        </p:grpSpPr>
        <p:sp>
          <p:nvSpPr>
            <p:cNvPr id="4" name="object 4"/>
            <p:cNvSpPr/>
            <p:nvPr/>
          </p:nvSpPr>
          <p:spPr>
            <a:xfrm>
              <a:off x="766762" y="2652712"/>
              <a:ext cx="5133975" cy="1333500"/>
            </a:xfrm>
            <a:custGeom>
              <a:avLst/>
              <a:gdLst/>
              <a:ahLst/>
              <a:cxnLst/>
              <a:rect l="l" t="t" r="r" b="b"/>
              <a:pathLst>
                <a:path w="5133975" h="1333500">
                  <a:moveTo>
                    <a:pt x="5067228" y="1333499"/>
                  </a:moveTo>
                  <a:lnTo>
                    <a:pt x="66746" y="1333499"/>
                  </a:lnTo>
                  <a:lnTo>
                    <a:pt x="62101" y="1333042"/>
                  </a:lnTo>
                  <a:lnTo>
                    <a:pt x="24240" y="1315892"/>
                  </a:lnTo>
                  <a:lnTo>
                    <a:pt x="2287" y="1280599"/>
                  </a:lnTo>
                  <a:lnTo>
                    <a:pt x="0" y="1266753"/>
                  </a:lnTo>
                  <a:lnTo>
                    <a:pt x="0" y="12620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067228" y="0"/>
                  </a:lnTo>
                  <a:lnTo>
                    <a:pt x="5106125" y="14645"/>
                  </a:lnTo>
                  <a:lnTo>
                    <a:pt x="5130330" y="48433"/>
                  </a:lnTo>
                  <a:lnTo>
                    <a:pt x="5133974" y="66746"/>
                  </a:lnTo>
                  <a:lnTo>
                    <a:pt x="5133974" y="1266753"/>
                  </a:lnTo>
                  <a:lnTo>
                    <a:pt x="5119328" y="1305650"/>
                  </a:lnTo>
                  <a:lnTo>
                    <a:pt x="5085540" y="1329856"/>
                  </a:lnTo>
                  <a:lnTo>
                    <a:pt x="5071873" y="1333042"/>
                  </a:lnTo>
                  <a:lnTo>
                    <a:pt x="5067228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2652712"/>
              <a:ext cx="5133975" cy="1333500"/>
            </a:xfrm>
            <a:custGeom>
              <a:avLst/>
              <a:gdLst/>
              <a:ahLst/>
              <a:cxnLst/>
              <a:rect l="l" t="t" r="r" b="b"/>
              <a:pathLst>
                <a:path w="5133975" h="1333500">
                  <a:moveTo>
                    <a:pt x="0" y="12620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062537" y="0"/>
                  </a:lnTo>
                  <a:lnTo>
                    <a:pt x="5067228" y="0"/>
                  </a:lnTo>
                  <a:lnTo>
                    <a:pt x="5071873" y="457"/>
                  </a:lnTo>
                  <a:lnTo>
                    <a:pt x="5076473" y="1372"/>
                  </a:lnTo>
                  <a:lnTo>
                    <a:pt x="5081073" y="2287"/>
                  </a:lnTo>
                  <a:lnTo>
                    <a:pt x="5113050" y="20923"/>
                  </a:lnTo>
                  <a:lnTo>
                    <a:pt x="5116366" y="24240"/>
                  </a:lnTo>
                  <a:lnTo>
                    <a:pt x="5119328" y="27848"/>
                  </a:lnTo>
                  <a:lnTo>
                    <a:pt x="5121933" y="31748"/>
                  </a:lnTo>
                  <a:lnTo>
                    <a:pt x="5124539" y="35649"/>
                  </a:lnTo>
                  <a:lnTo>
                    <a:pt x="5126740" y="39765"/>
                  </a:lnTo>
                  <a:lnTo>
                    <a:pt x="5128535" y="44099"/>
                  </a:lnTo>
                  <a:lnTo>
                    <a:pt x="5130330" y="48433"/>
                  </a:lnTo>
                  <a:lnTo>
                    <a:pt x="5131685" y="52899"/>
                  </a:lnTo>
                  <a:lnTo>
                    <a:pt x="5132600" y="57500"/>
                  </a:lnTo>
                  <a:lnTo>
                    <a:pt x="5133516" y="62101"/>
                  </a:lnTo>
                  <a:lnTo>
                    <a:pt x="5133974" y="66746"/>
                  </a:lnTo>
                  <a:lnTo>
                    <a:pt x="5133974" y="71437"/>
                  </a:lnTo>
                  <a:lnTo>
                    <a:pt x="5133974" y="1262062"/>
                  </a:lnTo>
                  <a:lnTo>
                    <a:pt x="5133974" y="1266753"/>
                  </a:lnTo>
                  <a:lnTo>
                    <a:pt x="5133516" y="1271398"/>
                  </a:lnTo>
                  <a:lnTo>
                    <a:pt x="5132600" y="1275999"/>
                  </a:lnTo>
                  <a:lnTo>
                    <a:pt x="5131685" y="1280599"/>
                  </a:lnTo>
                  <a:lnTo>
                    <a:pt x="5130330" y="1285065"/>
                  </a:lnTo>
                  <a:lnTo>
                    <a:pt x="5128535" y="1289399"/>
                  </a:lnTo>
                  <a:lnTo>
                    <a:pt x="5126740" y="1293733"/>
                  </a:lnTo>
                  <a:lnTo>
                    <a:pt x="5124539" y="1297850"/>
                  </a:lnTo>
                  <a:lnTo>
                    <a:pt x="5121933" y="1301750"/>
                  </a:lnTo>
                  <a:lnTo>
                    <a:pt x="5119328" y="1305650"/>
                  </a:lnTo>
                  <a:lnTo>
                    <a:pt x="5085540" y="1329856"/>
                  </a:lnTo>
                  <a:lnTo>
                    <a:pt x="5076473" y="1332126"/>
                  </a:lnTo>
                  <a:lnTo>
                    <a:pt x="5071873" y="1333042"/>
                  </a:lnTo>
                  <a:lnTo>
                    <a:pt x="5067228" y="1333499"/>
                  </a:lnTo>
                  <a:lnTo>
                    <a:pt x="5062537" y="1333499"/>
                  </a:lnTo>
                  <a:lnTo>
                    <a:pt x="71437" y="1333499"/>
                  </a:lnTo>
                  <a:lnTo>
                    <a:pt x="66746" y="1333499"/>
                  </a:lnTo>
                  <a:lnTo>
                    <a:pt x="62101" y="1333042"/>
                  </a:lnTo>
                  <a:lnTo>
                    <a:pt x="57500" y="1332126"/>
                  </a:lnTo>
                  <a:lnTo>
                    <a:pt x="52900" y="1331211"/>
                  </a:lnTo>
                  <a:lnTo>
                    <a:pt x="17606" y="1309259"/>
                  </a:lnTo>
                  <a:lnTo>
                    <a:pt x="457" y="1271398"/>
                  </a:lnTo>
                  <a:lnTo>
                    <a:pt x="0" y="1266753"/>
                  </a:lnTo>
                  <a:lnTo>
                    <a:pt x="0" y="126206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61999" y="4219574"/>
            <a:ext cx="5143500" cy="1343025"/>
            <a:chOff x="761999" y="4219574"/>
            <a:chExt cx="5143500" cy="1343025"/>
          </a:xfrm>
        </p:grpSpPr>
        <p:sp>
          <p:nvSpPr>
            <p:cNvPr id="7" name="object 7"/>
            <p:cNvSpPr/>
            <p:nvPr/>
          </p:nvSpPr>
          <p:spPr>
            <a:xfrm>
              <a:off x="766762" y="4224337"/>
              <a:ext cx="5133975" cy="1333500"/>
            </a:xfrm>
            <a:custGeom>
              <a:avLst/>
              <a:gdLst/>
              <a:ahLst/>
              <a:cxnLst/>
              <a:rect l="l" t="t" r="r" b="b"/>
              <a:pathLst>
                <a:path w="5133975" h="1333500">
                  <a:moveTo>
                    <a:pt x="5067228" y="1333499"/>
                  </a:moveTo>
                  <a:lnTo>
                    <a:pt x="66746" y="1333499"/>
                  </a:lnTo>
                  <a:lnTo>
                    <a:pt x="62101" y="1333041"/>
                  </a:lnTo>
                  <a:lnTo>
                    <a:pt x="24240" y="1315892"/>
                  </a:lnTo>
                  <a:lnTo>
                    <a:pt x="2287" y="1280599"/>
                  </a:lnTo>
                  <a:lnTo>
                    <a:pt x="0" y="1266753"/>
                  </a:lnTo>
                  <a:lnTo>
                    <a:pt x="0" y="12620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067228" y="0"/>
                  </a:lnTo>
                  <a:lnTo>
                    <a:pt x="5106125" y="14645"/>
                  </a:lnTo>
                  <a:lnTo>
                    <a:pt x="5130330" y="48432"/>
                  </a:lnTo>
                  <a:lnTo>
                    <a:pt x="5133974" y="66746"/>
                  </a:lnTo>
                  <a:lnTo>
                    <a:pt x="5133974" y="1266753"/>
                  </a:lnTo>
                  <a:lnTo>
                    <a:pt x="5119328" y="1305650"/>
                  </a:lnTo>
                  <a:lnTo>
                    <a:pt x="5085540" y="1329855"/>
                  </a:lnTo>
                  <a:lnTo>
                    <a:pt x="5071873" y="1333041"/>
                  </a:lnTo>
                  <a:lnTo>
                    <a:pt x="5067228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6762" y="4224337"/>
              <a:ext cx="5133975" cy="1333500"/>
            </a:xfrm>
            <a:custGeom>
              <a:avLst/>
              <a:gdLst/>
              <a:ahLst/>
              <a:cxnLst/>
              <a:rect l="l" t="t" r="r" b="b"/>
              <a:pathLst>
                <a:path w="5133975" h="1333500">
                  <a:moveTo>
                    <a:pt x="0" y="12620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062537" y="0"/>
                  </a:lnTo>
                  <a:lnTo>
                    <a:pt x="5067228" y="0"/>
                  </a:lnTo>
                  <a:lnTo>
                    <a:pt x="5071873" y="457"/>
                  </a:lnTo>
                  <a:lnTo>
                    <a:pt x="5109733" y="17606"/>
                  </a:lnTo>
                  <a:lnTo>
                    <a:pt x="5113050" y="20923"/>
                  </a:lnTo>
                  <a:lnTo>
                    <a:pt x="5116366" y="24239"/>
                  </a:lnTo>
                  <a:lnTo>
                    <a:pt x="5119328" y="27848"/>
                  </a:lnTo>
                  <a:lnTo>
                    <a:pt x="5121933" y="31748"/>
                  </a:lnTo>
                  <a:lnTo>
                    <a:pt x="5124539" y="35648"/>
                  </a:lnTo>
                  <a:lnTo>
                    <a:pt x="5126740" y="39764"/>
                  </a:lnTo>
                  <a:lnTo>
                    <a:pt x="5128535" y="44098"/>
                  </a:lnTo>
                  <a:lnTo>
                    <a:pt x="5130330" y="48432"/>
                  </a:lnTo>
                  <a:lnTo>
                    <a:pt x="5131685" y="52899"/>
                  </a:lnTo>
                  <a:lnTo>
                    <a:pt x="5132600" y="57500"/>
                  </a:lnTo>
                  <a:lnTo>
                    <a:pt x="5133516" y="62100"/>
                  </a:lnTo>
                  <a:lnTo>
                    <a:pt x="5133974" y="66746"/>
                  </a:lnTo>
                  <a:lnTo>
                    <a:pt x="5133974" y="71437"/>
                  </a:lnTo>
                  <a:lnTo>
                    <a:pt x="5133974" y="1262062"/>
                  </a:lnTo>
                  <a:lnTo>
                    <a:pt x="5133974" y="1266753"/>
                  </a:lnTo>
                  <a:lnTo>
                    <a:pt x="5133516" y="1271398"/>
                  </a:lnTo>
                  <a:lnTo>
                    <a:pt x="5132600" y="1275998"/>
                  </a:lnTo>
                  <a:lnTo>
                    <a:pt x="5131685" y="1280599"/>
                  </a:lnTo>
                  <a:lnTo>
                    <a:pt x="5130330" y="1285066"/>
                  </a:lnTo>
                  <a:lnTo>
                    <a:pt x="5128535" y="1289399"/>
                  </a:lnTo>
                  <a:lnTo>
                    <a:pt x="5126740" y="1293733"/>
                  </a:lnTo>
                  <a:lnTo>
                    <a:pt x="5124539" y="1297849"/>
                  </a:lnTo>
                  <a:lnTo>
                    <a:pt x="5121933" y="1301750"/>
                  </a:lnTo>
                  <a:lnTo>
                    <a:pt x="5119328" y="1305650"/>
                  </a:lnTo>
                  <a:lnTo>
                    <a:pt x="5116366" y="1309259"/>
                  </a:lnTo>
                  <a:lnTo>
                    <a:pt x="5113050" y="1312576"/>
                  </a:lnTo>
                  <a:lnTo>
                    <a:pt x="5109733" y="1315892"/>
                  </a:lnTo>
                  <a:lnTo>
                    <a:pt x="5071873" y="1333041"/>
                  </a:lnTo>
                  <a:lnTo>
                    <a:pt x="5062537" y="1333499"/>
                  </a:lnTo>
                  <a:lnTo>
                    <a:pt x="71437" y="1333499"/>
                  </a:lnTo>
                  <a:lnTo>
                    <a:pt x="31748" y="1321459"/>
                  </a:lnTo>
                  <a:lnTo>
                    <a:pt x="20923" y="1312576"/>
                  </a:lnTo>
                  <a:lnTo>
                    <a:pt x="17606" y="1309259"/>
                  </a:lnTo>
                  <a:lnTo>
                    <a:pt x="457" y="1271398"/>
                  </a:lnTo>
                  <a:lnTo>
                    <a:pt x="0" y="1266753"/>
                  </a:lnTo>
                  <a:lnTo>
                    <a:pt x="0" y="1262062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49325" y="2815958"/>
            <a:ext cx="4635500" cy="25400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00" spc="-95" dirty="0">
                <a:solidFill>
                  <a:srgbClr val="1A1A1A"/>
                </a:solidFill>
                <a:latin typeface="Noto Sans SC" panose="020B0500000000000000" charset="-122"/>
                <a:cs typeface="Noto Sans SC" panose="020B0500000000000000" charset="-122"/>
              </a:rPr>
              <a:t>RFID</a:t>
            </a:r>
            <a:r>
              <a:rPr sz="1850" spc="-175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是什么？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它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种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线识别技术，让物体拥有可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被</a:t>
            </a:r>
            <a:r>
              <a:rPr sz="1850" spc="-18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远距离、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⾮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接触、批量读取的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电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⼦⾝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份证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</a:pPr>
            <a:r>
              <a:rPr sz="1850" spc="-21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它如何</a:t>
            </a:r>
            <a:r>
              <a:rPr sz="1850" spc="-210" dirty="0">
                <a:solidFill>
                  <a:srgbClr val="1A1A1A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⼯</a:t>
            </a:r>
            <a:r>
              <a:rPr sz="1850" spc="-13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作？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2000"/>
              </a:lnSpc>
            </a:pP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通过读写器、标签和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天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之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间的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线电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对话</a:t>
            </a:r>
            <a:r>
              <a:rPr sz="1850" spc="1019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850" spc="-1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来</a:t>
            </a:r>
            <a:r>
              <a:rPr sz="1850" spc="-18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传递信息。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86498" y="2647949"/>
            <a:ext cx="5143500" cy="1657350"/>
            <a:chOff x="6286498" y="2647949"/>
            <a:chExt cx="5143500" cy="1657350"/>
          </a:xfrm>
        </p:grpSpPr>
        <p:sp>
          <p:nvSpPr>
            <p:cNvPr id="11" name="object 11"/>
            <p:cNvSpPr/>
            <p:nvPr/>
          </p:nvSpPr>
          <p:spPr>
            <a:xfrm>
              <a:off x="6291261" y="2652712"/>
              <a:ext cx="5133975" cy="1647825"/>
            </a:xfrm>
            <a:custGeom>
              <a:avLst/>
              <a:gdLst/>
              <a:ahLst/>
              <a:cxnLst/>
              <a:rect l="l" t="t" r="r" b="b"/>
              <a:pathLst>
                <a:path w="5133975" h="1647825">
                  <a:moveTo>
                    <a:pt x="5067228" y="1647824"/>
                  </a:moveTo>
                  <a:lnTo>
                    <a:pt x="66747" y="1647824"/>
                  </a:lnTo>
                  <a:lnTo>
                    <a:pt x="62100" y="1647366"/>
                  </a:lnTo>
                  <a:lnTo>
                    <a:pt x="24239" y="1630217"/>
                  </a:lnTo>
                  <a:lnTo>
                    <a:pt x="2287" y="1594924"/>
                  </a:lnTo>
                  <a:lnTo>
                    <a:pt x="0" y="1581077"/>
                  </a:lnTo>
                  <a:lnTo>
                    <a:pt x="0" y="15763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5067228" y="0"/>
                  </a:lnTo>
                  <a:lnTo>
                    <a:pt x="5106125" y="14645"/>
                  </a:lnTo>
                  <a:lnTo>
                    <a:pt x="5130331" y="48433"/>
                  </a:lnTo>
                  <a:lnTo>
                    <a:pt x="5133975" y="66746"/>
                  </a:lnTo>
                  <a:lnTo>
                    <a:pt x="5133975" y="1581077"/>
                  </a:lnTo>
                  <a:lnTo>
                    <a:pt x="5119328" y="1619975"/>
                  </a:lnTo>
                  <a:lnTo>
                    <a:pt x="5085540" y="1644181"/>
                  </a:lnTo>
                  <a:lnTo>
                    <a:pt x="5071873" y="1647366"/>
                  </a:lnTo>
                  <a:lnTo>
                    <a:pt x="5067228" y="1647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291261" y="2652712"/>
              <a:ext cx="5133975" cy="1647825"/>
            </a:xfrm>
            <a:custGeom>
              <a:avLst/>
              <a:gdLst/>
              <a:ahLst/>
              <a:cxnLst/>
              <a:rect l="l" t="t" r="r" b="b"/>
              <a:pathLst>
                <a:path w="5133975" h="1647825">
                  <a:moveTo>
                    <a:pt x="0" y="1576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062537" y="0"/>
                  </a:lnTo>
                  <a:lnTo>
                    <a:pt x="5067228" y="0"/>
                  </a:lnTo>
                  <a:lnTo>
                    <a:pt x="5071873" y="457"/>
                  </a:lnTo>
                  <a:lnTo>
                    <a:pt x="5076473" y="1372"/>
                  </a:lnTo>
                  <a:lnTo>
                    <a:pt x="5081074" y="2287"/>
                  </a:lnTo>
                  <a:lnTo>
                    <a:pt x="5102224" y="12039"/>
                  </a:lnTo>
                  <a:lnTo>
                    <a:pt x="5106125" y="14645"/>
                  </a:lnTo>
                  <a:lnTo>
                    <a:pt x="5109733" y="17606"/>
                  </a:lnTo>
                  <a:lnTo>
                    <a:pt x="5113050" y="20923"/>
                  </a:lnTo>
                  <a:lnTo>
                    <a:pt x="5116368" y="24240"/>
                  </a:lnTo>
                  <a:lnTo>
                    <a:pt x="5119328" y="27848"/>
                  </a:lnTo>
                  <a:lnTo>
                    <a:pt x="5121934" y="31748"/>
                  </a:lnTo>
                  <a:lnTo>
                    <a:pt x="5124539" y="35649"/>
                  </a:lnTo>
                  <a:lnTo>
                    <a:pt x="5132601" y="57500"/>
                  </a:lnTo>
                  <a:lnTo>
                    <a:pt x="5133517" y="62101"/>
                  </a:lnTo>
                  <a:lnTo>
                    <a:pt x="5133975" y="66746"/>
                  </a:lnTo>
                  <a:lnTo>
                    <a:pt x="5133975" y="71437"/>
                  </a:lnTo>
                  <a:lnTo>
                    <a:pt x="5133975" y="1576387"/>
                  </a:lnTo>
                  <a:lnTo>
                    <a:pt x="5133975" y="1581077"/>
                  </a:lnTo>
                  <a:lnTo>
                    <a:pt x="5133517" y="1585723"/>
                  </a:lnTo>
                  <a:lnTo>
                    <a:pt x="5132601" y="1590323"/>
                  </a:lnTo>
                  <a:lnTo>
                    <a:pt x="5131686" y="1594924"/>
                  </a:lnTo>
                  <a:lnTo>
                    <a:pt x="5109733" y="1630217"/>
                  </a:lnTo>
                  <a:lnTo>
                    <a:pt x="5102224" y="1635784"/>
                  </a:lnTo>
                  <a:lnTo>
                    <a:pt x="5098324" y="1638390"/>
                  </a:lnTo>
                  <a:lnTo>
                    <a:pt x="5062537" y="1647824"/>
                  </a:lnTo>
                  <a:lnTo>
                    <a:pt x="71438" y="1647824"/>
                  </a:lnTo>
                  <a:lnTo>
                    <a:pt x="66747" y="1647824"/>
                  </a:lnTo>
                  <a:lnTo>
                    <a:pt x="62100" y="1647366"/>
                  </a:lnTo>
                  <a:lnTo>
                    <a:pt x="57499" y="1646451"/>
                  </a:lnTo>
                  <a:lnTo>
                    <a:pt x="52899" y="1645536"/>
                  </a:lnTo>
                  <a:lnTo>
                    <a:pt x="31748" y="1635784"/>
                  </a:lnTo>
                  <a:lnTo>
                    <a:pt x="27848" y="1633178"/>
                  </a:lnTo>
                  <a:lnTo>
                    <a:pt x="5437" y="1603724"/>
                  </a:lnTo>
                  <a:lnTo>
                    <a:pt x="3642" y="1599391"/>
                  </a:lnTo>
                  <a:lnTo>
                    <a:pt x="2287" y="1594924"/>
                  </a:lnTo>
                  <a:lnTo>
                    <a:pt x="1372" y="1590323"/>
                  </a:lnTo>
                  <a:lnTo>
                    <a:pt x="457" y="1585723"/>
                  </a:lnTo>
                  <a:lnTo>
                    <a:pt x="0" y="1581077"/>
                  </a:lnTo>
                  <a:lnTo>
                    <a:pt x="0" y="1576387"/>
                  </a:lnTo>
                  <a:close/>
                </a:path>
              </a:pathLst>
            </a:custGeom>
            <a:ln w="9524">
              <a:solidFill>
                <a:srgbClr val="D0D6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473824" y="2815958"/>
            <a:ext cx="4726940" cy="12827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50" spc="-190" dirty="0">
                <a:solidFill>
                  <a:srgbClr val="1A1A1A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它的价值在哪？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2000"/>
              </a:lnSpc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它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极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⼤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地提升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了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⾏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业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⾃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动化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⽔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平、管理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效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率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数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据准确性，是构建物联</a:t>
            </a: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⽹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1800" spc="-160" dirty="0">
                <a:solidFill>
                  <a:srgbClr val="333333"/>
                </a:solidFill>
                <a:latin typeface="Maiandra GD" panose="020E0502030308020204"/>
                <a:cs typeface="Maiandra GD" panose="020E0502030308020204"/>
              </a:rPr>
              <a:t>IoT</a:t>
            </a:r>
            <a:r>
              <a:rPr sz="1850" spc="-16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50" spc="-21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的关键技术</a:t>
            </a:r>
            <a:r>
              <a:rPr sz="1850" spc="-135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之</a:t>
            </a:r>
            <a:endParaRPr sz="1850">
              <a:latin typeface="Adobe 黑体 Std R" panose="020B0400000000000000" charset="-122"/>
              <a:cs typeface="Adobe 黑体 Std R" panose="020B0400000000000000" charset="-122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1850" spc="-210" dirty="0">
                <a:solidFill>
                  <a:srgbClr val="333333"/>
                </a:solidFill>
                <a:latin typeface="Adobe 黑体 Std R" panose="020B0400000000000000" charset="-122"/>
                <a:cs typeface="Adobe 黑体 Std R" panose="020B0400000000000000" charset="-122"/>
              </a:rPr>
              <a:t>⼀</a:t>
            </a:r>
            <a:r>
              <a:rPr sz="1850" spc="-50" dirty="0">
                <a:solidFill>
                  <a:srgbClr val="3333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8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1914</Words>
  <Application>WPS 演示</Application>
  <PresentationFormat>On-screen Show (4:3)</PresentationFormat>
  <Paragraphs>200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Malgun Gothic</vt:lpstr>
      <vt:lpstr>Noto Sans SC</vt:lpstr>
      <vt:lpstr>Microsoft JhengHei</vt:lpstr>
      <vt:lpstr>Adobe 黑体 Std R</vt:lpstr>
      <vt:lpstr>Gill Sans MT</vt:lpstr>
      <vt:lpstr>Arial</vt:lpstr>
      <vt:lpstr>Trebuchet MS</vt:lpstr>
      <vt:lpstr>Maiandra GD</vt:lpstr>
      <vt:lpstr>Calibri</vt:lpstr>
      <vt:lpstr>微软雅黑</vt:lpstr>
      <vt:lpstr>Arial Unicode MS</vt:lpstr>
      <vt:lpstr>Office Theme</vt:lpstr>
      <vt:lpstr>RFID：万物互联的隐形基⽯</vt:lpstr>
      <vt:lpstr>议程 | 本次分享将带你了解</vt:lpstr>
      <vt:lpstr>⼀个你每天都在经历的场景</vt:lpstr>
      <vt:lpstr>RFID：射频识别技术</vt:lpstr>
      <vt:lpstr>RFID vs. 条形码：不⽌于“看⻅”</vt:lpstr>
      <vt:lpstr>RFID系统的三个核⼼组件</vt:lpstr>
      <vt:lpstr>⼯作的基本原理：⼀场⽆线电“对话”</vt:lpstr>
      <vt:lpstr>RFID标签的主要分类</vt:lpstr>
      <vt:lpstr>低频（LF）</vt:lpstr>
      <vt:lpstr>智慧零售：提升效率与体验</vt:lpstr>
      <vt:lpstr>智能交通：让出⾏更顺畅</vt:lpstr>
      <vt:lpstr>物流与供应链：可视化的“流动⾎脉”</vt:lpstr>
      <vt:lpstr>更多应⽤：融⼊⽣活的⽅⽅⾯⾯</vt:lpstr>
      <vt:lpstr>核⼼要点回顾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RFID：万物互联的隐形基⽯</dc:title>
  <dc:creator/>
  <cp:lastModifiedBy>青，出于蓝而胜于蓝</cp:lastModifiedBy>
  <cp:revision>2</cp:revision>
  <dcterms:created xsi:type="dcterms:W3CDTF">2025-10-30T11:05:00Z</dcterms:created>
  <dcterms:modified xsi:type="dcterms:W3CDTF">2025-11-03T15:54:33Z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2025-10-30T16:00:00Z</vt:filetime>
  </property>
  <property fmtid="{D5CDD505-2E9C-101B-9397-08002B2CF9AE}" pid="3" name="Producer">
    <vt:lpwstr>pypdf</vt:lpwstr>
  </property>
  <property fmtid="{D5CDD505-2E9C-101B-9397-08002B2CF9AE}" pid="4" name="LastSaved">
    <vt:filetime>2025-10-30T16:00:00Z</vt:filetime>
  </property>
  <property fmtid="{D5CDD505-2E9C-101B-9397-08002B2CF9AE}" pid="5" name="ICV">
    <vt:lpwstr>4766E328DE15458EB9274D59758EF636_12</vt:lpwstr>
  </property>
  <property fmtid="{D5CDD505-2E9C-101B-9397-08002B2CF9AE}" pid="6" name="KSOProductBuildVer">
    <vt:lpwstr>2052-12.1.0.23125</vt:lpwstr>
  </property>
</Properties>
</file>